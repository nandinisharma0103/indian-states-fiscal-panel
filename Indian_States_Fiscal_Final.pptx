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305" r:id="rId4"/>
    <p:sldId id="259" r:id="rId5"/>
    <p:sldId id="282" r:id="rId6"/>
    <p:sldId id="306" r:id="rId7"/>
    <p:sldId id="287" r:id="rId8"/>
    <p:sldId id="288" r:id="rId9"/>
    <p:sldId id="261" r:id="rId10"/>
    <p:sldId id="264" r:id="rId11"/>
    <p:sldId id="290" r:id="rId12"/>
    <p:sldId id="258" r:id="rId13"/>
    <p:sldId id="263" r:id="rId14"/>
    <p:sldId id="283" r:id="rId15"/>
    <p:sldId id="292" r:id="rId16"/>
    <p:sldId id="293" r:id="rId17"/>
    <p:sldId id="266" r:id="rId18"/>
    <p:sldId id="267" r:id="rId19"/>
    <p:sldId id="295" r:id="rId20"/>
    <p:sldId id="296" r:id="rId21"/>
    <p:sldId id="270" r:id="rId22"/>
    <p:sldId id="271" r:id="rId23"/>
    <p:sldId id="284" r:id="rId24"/>
    <p:sldId id="297" r:id="rId25"/>
    <p:sldId id="274" r:id="rId26"/>
    <p:sldId id="275" r:id="rId27"/>
    <p:sldId id="276" r:id="rId28"/>
    <p:sldId id="277" r:id="rId29"/>
    <p:sldId id="285" r:id="rId30"/>
    <p:sldId id="278" r:id="rId31"/>
    <p:sldId id="298" r:id="rId32"/>
    <p:sldId id="286" r:id="rId33"/>
    <p:sldId id="299" r:id="rId34"/>
    <p:sldId id="300" r:id="rId35"/>
    <p:sldId id="301" r:id="rId36"/>
    <p:sldId id="280" r:id="rId37"/>
    <p:sldId id="302" r:id="rId38"/>
    <p:sldId id="281" r:id="rId39"/>
    <p:sldId id="303" r:id="rId40"/>
    <p:sldId id="304" r:id="rId4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3" d="100"/>
          <a:sy n="83" d="100"/>
        </p:scale>
        <p:origin x="728"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Revenue exp.</c:v>
                </c:pt>
              </c:strCache>
            </c:strRef>
          </c:tx>
          <c:spPr>
            <a:ln w="31750" cap="flat">
              <a:solidFill>
                <a:srgbClr val="F5B83D"/>
              </a:solidFill>
              <a:prstDash val="solid"/>
              <a:round/>
            </a:ln>
            <a:effectLst/>
          </c:spPr>
          <c:marker>
            <c:symbol val="circle"/>
            <c:size val="6"/>
            <c:spPr>
              <a:solidFill>
                <a:srgbClr val="F5B83D"/>
              </a:solidFill>
              <a:ln w="9525" cap="flat">
                <a:solidFill>
                  <a:srgbClr val="F5B83D"/>
                </a:solidFill>
                <a:prstDash val="solid"/>
                <a:round/>
              </a:ln>
              <a:effectLst/>
            </c:spPr>
          </c:marker>
          <c:cat>
            <c:strRef>
              <c:f>Sheet1!$A$2:$A$12</c:f>
              <c:strCache>
                <c:ptCount val="11"/>
                <c:pt idx="0">
                  <c:v>2011-12</c:v>
                </c:pt>
                <c:pt idx="1">
                  <c:v>2012-13</c:v>
                </c:pt>
                <c:pt idx="2">
                  <c:v>2013-14</c:v>
                </c:pt>
                <c:pt idx="3">
                  <c:v>2014-15</c:v>
                </c:pt>
                <c:pt idx="4">
                  <c:v>2015-16</c:v>
                </c:pt>
                <c:pt idx="5">
                  <c:v>2016-17</c:v>
                </c:pt>
                <c:pt idx="6">
                  <c:v>2017-18</c:v>
                </c:pt>
                <c:pt idx="7">
                  <c:v>2018-19</c:v>
                </c:pt>
                <c:pt idx="8">
                  <c:v>2019-20</c:v>
                </c:pt>
                <c:pt idx="9">
                  <c:v>2020-21</c:v>
                </c:pt>
                <c:pt idx="10">
                  <c:v>2021-22</c:v>
                </c:pt>
              </c:strCache>
            </c:strRef>
          </c:cat>
          <c:val>
            <c:numRef>
              <c:f>Sheet1!$B$2:$B$12</c:f>
              <c:numCache>
                <c:formatCode>General</c:formatCode>
                <c:ptCount val="11"/>
                <c:pt idx="0">
                  <c:v>15.01</c:v>
                </c:pt>
                <c:pt idx="1">
                  <c:v>15.9</c:v>
                </c:pt>
                <c:pt idx="2">
                  <c:v>15.9</c:v>
                </c:pt>
                <c:pt idx="3">
                  <c:v>16.38</c:v>
                </c:pt>
                <c:pt idx="4">
                  <c:v>17.8</c:v>
                </c:pt>
                <c:pt idx="5">
                  <c:v>17.38</c:v>
                </c:pt>
                <c:pt idx="6">
                  <c:v>16.91</c:v>
                </c:pt>
                <c:pt idx="7">
                  <c:v>17.09</c:v>
                </c:pt>
                <c:pt idx="8">
                  <c:v>17.39</c:v>
                </c:pt>
                <c:pt idx="9">
                  <c:v>17.579999999999998</c:v>
                </c:pt>
                <c:pt idx="10">
                  <c:v>16.670000000000002</c:v>
                </c:pt>
              </c:numCache>
            </c:numRef>
          </c:val>
          <c:smooth val="0"/>
          <c:extLst>
            <c:ext xmlns:c16="http://schemas.microsoft.com/office/drawing/2014/chart" uri="{C3380CC4-5D6E-409C-BE32-E72D297353CC}">
              <c16:uniqueId val="{00000000-0731-4ED8-88E2-7714C740652B}"/>
            </c:ext>
          </c:extLst>
        </c:ser>
        <c:ser>
          <c:idx val="1"/>
          <c:order val="1"/>
          <c:tx>
            <c:strRef>
              <c:f>Sheet1!$C$1</c:f>
              <c:strCache>
                <c:ptCount val="1"/>
                <c:pt idx="0">
                  <c:v>Social sector</c:v>
                </c:pt>
              </c:strCache>
            </c:strRef>
          </c:tx>
          <c:spPr>
            <a:ln w="31750" cap="flat">
              <a:solidFill>
                <a:srgbClr val="2DD4A7"/>
              </a:solidFill>
              <a:prstDash val="solid"/>
              <a:round/>
            </a:ln>
            <a:effectLst/>
          </c:spPr>
          <c:marker>
            <c:symbol val="circle"/>
            <c:size val="6"/>
            <c:spPr>
              <a:solidFill>
                <a:srgbClr val="2DD4A7"/>
              </a:solidFill>
              <a:ln w="9525" cap="flat">
                <a:solidFill>
                  <a:srgbClr val="2DD4A7"/>
                </a:solidFill>
                <a:prstDash val="solid"/>
                <a:round/>
              </a:ln>
              <a:effectLst/>
            </c:spPr>
          </c:marker>
          <c:cat>
            <c:strRef>
              <c:f>Sheet1!$A$2:$A$12</c:f>
              <c:strCache>
                <c:ptCount val="11"/>
                <c:pt idx="0">
                  <c:v>2011-12</c:v>
                </c:pt>
                <c:pt idx="1">
                  <c:v>2012-13</c:v>
                </c:pt>
                <c:pt idx="2">
                  <c:v>2013-14</c:v>
                </c:pt>
                <c:pt idx="3">
                  <c:v>2014-15</c:v>
                </c:pt>
                <c:pt idx="4">
                  <c:v>2015-16</c:v>
                </c:pt>
                <c:pt idx="5">
                  <c:v>2016-17</c:v>
                </c:pt>
                <c:pt idx="6">
                  <c:v>2017-18</c:v>
                </c:pt>
                <c:pt idx="7">
                  <c:v>2018-19</c:v>
                </c:pt>
                <c:pt idx="8">
                  <c:v>2019-20</c:v>
                </c:pt>
                <c:pt idx="9">
                  <c:v>2020-21</c:v>
                </c:pt>
                <c:pt idx="10">
                  <c:v>2021-22</c:v>
                </c:pt>
              </c:strCache>
            </c:strRef>
          </c:cat>
          <c:val>
            <c:numRef>
              <c:f>Sheet1!$C$2:$C$12</c:f>
              <c:numCache>
                <c:formatCode>General</c:formatCode>
                <c:ptCount val="11"/>
                <c:pt idx="0">
                  <c:v>8.1</c:v>
                </c:pt>
                <c:pt idx="1">
                  <c:v>7.51</c:v>
                </c:pt>
                <c:pt idx="2">
                  <c:v>8.1300000000000008</c:v>
                </c:pt>
                <c:pt idx="3">
                  <c:v>8.82</c:v>
                </c:pt>
                <c:pt idx="4">
                  <c:v>9.18</c:v>
                </c:pt>
                <c:pt idx="5">
                  <c:v>9.3699999999999992</c:v>
                </c:pt>
                <c:pt idx="6">
                  <c:v>9.07</c:v>
                </c:pt>
                <c:pt idx="7">
                  <c:v>8.9700000000000006</c:v>
                </c:pt>
                <c:pt idx="8">
                  <c:v>8.58</c:v>
                </c:pt>
                <c:pt idx="9">
                  <c:v>9.18</c:v>
                </c:pt>
                <c:pt idx="10">
                  <c:v>8.7799999999999994</c:v>
                </c:pt>
              </c:numCache>
            </c:numRef>
          </c:val>
          <c:smooth val="0"/>
          <c:extLst>
            <c:ext xmlns:c16="http://schemas.microsoft.com/office/drawing/2014/chart" uri="{C3380CC4-5D6E-409C-BE32-E72D297353CC}">
              <c16:uniqueId val="{00000001-0731-4ED8-88E2-7714C740652B}"/>
            </c:ext>
          </c:extLst>
        </c:ser>
        <c:ser>
          <c:idx val="2"/>
          <c:order val="2"/>
          <c:tx>
            <c:strRef>
              <c:f>Sheet1!$D$1</c:f>
              <c:strCache>
                <c:ptCount val="1"/>
                <c:pt idx="0">
                  <c:v>Capital exp.</c:v>
                </c:pt>
              </c:strCache>
            </c:strRef>
          </c:tx>
          <c:spPr>
            <a:ln w="31750" cap="flat">
              <a:solidFill>
                <a:srgbClr val="B79CFF"/>
              </a:solidFill>
              <a:prstDash val="solid"/>
              <a:round/>
            </a:ln>
            <a:effectLst/>
          </c:spPr>
          <c:marker>
            <c:symbol val="circle"/>
            <c:size val="6"/>
            <c:spPr>
              <a:solidFill>
                <a:srgbClr val="B79CFF"/>
              </a:solidFill>
              <a:ln w="9525" cap="flat">
                <a:solidFill>
                  <a:srgbClr val="B79CFF"/>
                </a:solidFill>
                <a:prstDash val="solid"/>
                <a:round/>
              </a:ln>
              <a:effectLst/>
            </c:spPr>
          </c:marker>
          <c:cat>
            <c:strRef>
              <c:f>Sheet1!$A$2:$A$12</c:f>
              <c:strCache>
                <c:ptCount val="11"/>
                <c:pt idx="0">
                  <c:v>2011-12</c:v>
                </c:pt>
                <c:pt idx="1">
                  <c:v>2012-13</c:v>
                </c:pt>
                <c:pt idx="2">
                  <c:v>2013-14</c:v>
                </c:pt>
                <c:pt idx="3">
                  <c:v>2014-15</c:v>
                </c:pt>
                <c:pt idx="4">
                  <c:v>2015-16</c:v>
                </c:pt>
                <c:pt idx="5">
                  <c:v>2016-17</c:v>
                </c:pt>
                <c:pt idx="6">
                  <c:v>2017-18</c:v>
                </c:pt>
                <c:pt idx="7">
                  <c:v>2018-19</c:v>
                </c:pt>
                <c:pt idx="8">
                  <c:v>2019-20</c:v>
                </c:pt>
                <c:pt idx="9">
                  <c:v>2020-21</c:v>
                </c:pt>
                <c:pt idx="10">
                  <c:v>2021-22</c:v>
                </c:pt>
              </c:strCache>
            </c:strRef>
          </c:cat>
          <c:val>
            <c:numRef>
              <c:f>Sheet1!$D$2:$D$12</c:f>
              <c:numCache>
                <c:formatCode>General</c:formatCode>
                <c:ptCount val="11"/>
                <c:pt idx="0">
                  <c:v>3.47</c:v>
                </c:pt>
                <c:pt idx="1">
                  <c:v>3.99</c:v>
                </c:pt>
                <c:pt idx="2">
                  <c:v>3.65</c:v>
                </c:pt>
                <c:pt idx="3">
                  <c:v>3.62</c:v>
                </c:pt>
                <c:pt idx="4">
                  <c:v>4.16</c:v>
                </c:pt>
                <c:pt idx="5">
                  <c:v>5.16</c:v>
                </c:pt>
                <c:pt idx="6">
                  <c:v>4.12</c:v>
                </c:pt>
                <c:pt idx="7">
                  <c:v>4.21</c:v>
                </c:pt>
                <c:pt idx="8">
                  <c:v>3.63</c:v>
                </c:pt>
                <c:pt idx="9">
                  <c:v>3.94</c:v>
                </c:pt>
                <c:pt idx="10">
                  <c:v>4.26</c:v>
                </c:pt>
              </c:numCache>
            </c:numRef>
          </c:val>
          <c:smooth val="0"/>
          <c:extLst>
            <c:ext xmlns:c16="http://schemas.microsoft.com/office/drawing/2014/chart" uri="{C3380CC4-5D6E-409C-BE32-E72D297353CC}">
              <c16:uniqueId val="{00000002-0731-4ED8-88E2-7714C740652B}"/>
            </c:ext>
          </c:extLst>
        </c:ser>
        <c:ser>
          <c:idx val="3"/>
          <c:order val="3"/>
          <c:tx>
            <c:strRef>
              <c:f>Sheet1!$E$1</c:f>
              <c:strCache>
                <c:ptCount val="1"/>
                <c:pt idx="0">
                  <c:v>Fiscal deficit</c:v>
                </c:pt>
              </c:strCache>
            </c:strRef>
          </c:tx>
          <c:spPr>
            <a:ln w="31750" cap="flat">
              <a:solidFill>
                <a:srgbClr val="F2665B"/>
              </a:solidFill>
              <a:prstDash val="solid"/>
              <a:round/>
            </a:ln>
            <a:effectLst/>
          </c:spPr>
          <c:marker>
            <c:symbol val="circle"/>
            <c:size val="6"/>
            <c:spPr>
              <a:solidFill>
                <a:srgbClr val="F2665B"/>
              </a:solidFill>
              <a:ln w="9525" cap="flat">
                <a:solidFill>
                  <a:srgbClr val="F2665B"/>
                </a:solidFill>
                <a:prstDash val="solid"/>
                <a:round/>
              </a:ln>
              <a:effectLst/>
            </c:spPr>
          </c:marker>
          <c:cat>
            <c:strRef>
              <c:f>Sheet1!$A$2:$A$12</c:f>
              <c:strCache>
                <c:ptCount val="11"/>
                <c:pt idx="0">
                  <c:v>2011-12</c:v>
                </c:pt>
                <c:pt idx="1">
                  <c:v>2012-13</c:v>
                </c:pt>
                <c:pt idx="2">
                  <c:v>2013-14</c:v>
                </c:pt>
                <c:pt idx="3">
                  <c:v>2014-15</c:v>
                </c:pt>
                <c:pt idx="4">
                  <c:v>2015-16</c:v>
                </c:pt>
                <c:pt idx="5">
                  <c:v>2016-17</c:v>
                </c:pt>
                <c:pt idx="6">
                  <c:v>2017-18</c:v>
                </c:pt>
                <c:pt idx="7">
                  <c:v>2018-19</c:v>
                </c:pt>
                <c:pt idx="8">
                  <c:v>2019-20</c:v>
                </c:pt>
                <c:pt idx="9">
                  <c:v>2020-21</c:v>
                </c:pt>
                <c:pt idx="10">
                  <c:v>2021-22</c:v>
                </c:pt>
              </c:strCache>
            </c:strRef>
          </c:cat>
          <c:val>
            <c:numRef>
              <c:f>Sheet1!$E$2:$E$12</c:f>
              <c:numCache>
                <c:formatCode>General</c:formatCode>
                <c:ptCount val="11"/>
                <c:pt idx="0">
                  <c:v>2.09</c:v>
                </c:pt>
                <c:pt idx="1">
                  <c:v>1.95</c:v>
                </c:pt>
                <c:pt idx="2">
                  <c:v>2.44</c:v>
                </c:pt>
                <c:pt idx="3">
                  <c:v>3.07</c:v>
                </c:pt>
                <c:pt idx="4">
                  <c:v>2.66</c:v>
                </c:pt>
                <c:pt idx="5">
                  <c:v>2.86</c:v>
                </c:pt>
                <c:pt idx="6">
                  <c:v>2.37</c:v>
                </c:pt>
                <c:pt idx="7">
                  <c:v>2.61</c:v>
                </c:pt>
                <c:pt idx="8">
                  <c:v>3.19</c:v>
                </c:pt>
                <c:pt idx="9">
                  <c:v>4.33</c:v>
                </c:pt>
                <c:pt idx="10">
                  <c:v>3.15</c:v>
                </c:pt>
              </c:numCache>
            </c:numRef>
          </c:val>
          <c:smooth val="0"/>
          <c:extLst>
            <c:ext xmlns:c16="http://schemas.microsoft.com/office/drawing/2014/chart" uri="{C3380CC4-5D6E-409C-BE32-E72D297353CC}">
              <c16:uniqueId val="{00000003-0731-4ED8-88E2-7714C740652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9DB5AE"/>
                </a:solidFill>
                <a:latin typeface="Calibri"/>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6350" cap="flat">
              <a:solidFill>
                <a:srgbClr val="2A4540"/>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9DB5AE"/>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9DB5AE"/>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147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estimate the model in three ways. Pooled OLS treats every state-year as one big sample, which ignores the fact that states differ. Fixed effects compares each state only with itself over time, so fixed traits such as geography drop out. Random effects uses both the changes within states and the differences between them; it is our main model.</a:t>
            </a:r>
          </a:p>
          <a:p>
            <a:endParaRPr/>
          </a:p>
          <a:p>
            <a:r>
              <a:t>To choose, we ask two questions. First, do states differ from each other? The F-test and the LM test both say yes, with p below 0.001, so pooled OLS is rejected. Second, fixed or random effects? The Mundlak test gives p = 0.055, so random effects is kept, and fixed effects gives almost the same coefficient anyway.</a:t>
            </a:r>
          </a:p>
          <a:p>
            <a:endParaRPr/>
          </a:p>
          <a:p>
            <a:r>
              <a:t>Every model also includes year effects, which absorb shocks common to all states such as COVID, and standard errors are clustered by state.</a:t>
            </a:r>
          </a:p>
          <a:p>
            <a:endParaRPr/>
          </a:p>
          <a:p>
            <a:r>
              <a:t>If asked why Mundlak and not Hausman: the classical Hausman test assumes random effects is fully efficient, which fails with clustered errors; Mundlak is the robust version. If asked about p-values: with 28 states we use a t-distribution with 27 degrees of freedom, which is more conservative.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pipeline left to right. The key design choices: fiscal ratios use current-price GSDP so numerator and denominator are both nominal; the outcome is real (constant 2011–12) per-capita NSDP in logs. We audited liabilities before modelling, compared pooled OLS, fixed and random effects across five specifications, and then tried six ways to break the main result. Assam, Haryana and Nagaland lack a verified current-price GSDP denominator, so their fiscal ratios are left missing rather than imputed — that is why the model sample is 304 rows across 28 states.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panel shows one state's liabilities-to-GSDP series; orange points are more than twice or less than half the state's own median. Delhi, Puducherry, Tripura and Uttarakhand show one-year spikes in 2014–15 of up to 10× the median; Uttar Pradesh and West Bengal show one-year collapses in the same year; Delhi also has a level break from 2017–18. The 2014–15 clustering points to a reporting or unit issue rather than real fiscal events.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Pooled Pearson correlations. Revenue and social spending ratios correlate at 0.94, capital and social at 0.80, giving variance inflation factors near 10 for revenue and social spending in the main specification. All spending ratios correlate negatively with ln GSDP — revenue at −0.75 — because bigger economies spend a smaller share of output. This is why we estimate five specifications, including one without revenue spending and one with total spending plus composition shares.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2692106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Real per-capita NSDP for selected states against the all-state median. Goa and Delhi are far above everyone else; Gujarat and Tamil Nadu pull steadily away from the median; Bihar is flat near the bottom. The 2020–21 COVID dip is visible in every line. This is descriptive and unweighted by population.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Goa is the richest state, but its income was volatile early in the decade — it fell sharply in 2012–13 and 2013–14, the period of the iron-ore mining ban, then rebounded to above ₹3 lakh. Bihar grew steadily, 27% in real terms over the decade, but from such a low base that its gap with the median widened in rupee terms from about ₹47,000 to about ₹91,000 per person.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averages over 2011–12 to 2021–22. Jammu &amp; Kashmir runs the largest average deficit at 5.5% of GSDP; Delhi the smallest at 0.3%. Tripura carries the most debt relative to output at 52.7%, including the flagged 2014–15 spike; Delhi the least at 8.7%. Assam appears empty because its current-price GSDP denominator is missing.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line is the median state and the band the middle 50% of states. The deficit ratio roughly doubled from 2.1% in 2011–12 to 4.3% in 2020–21, then fell back to 3.2%. Liabilities rose slowly from 26% to 31% before COVID and jumped to about 36% in 2020–21. Part of the jump is the denominator: nominal GSDP shrank in the pandemic year. The chart does not identify a causal mechanism.</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in slideshow mode. Bubbles follow state-year changes.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Racing bars; values interpolated between years.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Coefficients with 95% confidence intervals from random-effects models; filled points are significant at 5%. In Spec B, only revenue expenditure/GSDP is significant (−1.223). In Spec D, total expenditure/GSDP is significant (−1.318) while composition shares are not at 5%. In Spec E, ln revenue expenditure is significant (−0.318) and ln liabilities small but significant (+0.014). Social and capital spending never reach 5% significance in these specs.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dot is a state-year, with growth measured relative to that year's cross-state average. Left: per-capita income growth against revenue spending growth — essentially flat (slope +0.05, p = 0.21). Right: against current-price GSDP growth — a tight positive relationship (slope +0.87, p &lt; 0.001). In the joint regression, spending growth drops to +0.002 (p = 0.95). So the negative coefficient on the revenue ratio is a denominator effect: when GSDP grows faster than spending, the ratio falls while income rises. It is not evidence that revenue spending harms growth.</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sigma dispersion, the standard deviation of log per-capita NSDP across states, falls to its low in 2013–14 and then rises through 2019–20. Right: average annual growth to 2019–20 plotted against starting income. The fitted slope is flat to slightly positive (+0.14, p = 0.81), so there is no beta convergence: poorer states did not grow faster. Mizoram, Gujarat, Tripura and Karnataka grew fastest; Goa slowest.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Orange is 2020–21 growth in real per-capita NSDP; blue is the 2021–22 level relative to 2019–20. Only Assam and Andhra Pradesh avoided a fall. Uttarakhand fell 15.3% and was still 12.6% below pre-COVID; Delhi and Maharashtra fell 12.4%. Manipur fell 9.8% yet ended 10.8% above its pre-COVID level; Odisha ended 11.9% above. Sixteen of thirty-one states were above their 2019–20 level by 2021–22.</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States coloured by their 2021–22 income relative to 2019–20: green is above pre-COVID, red still below. Strong recoveries appear in the east (Odisha), north-east (Manipur) and south (Tamil Nadu, Andhra Pradesh); laggards include Uttarakhand, Puducherry, Delhi and Bihar. We tested whether pre-COVID social share, capital share or initial income predicted the shock or recovery: none is significant after Holm correction (all adjusted p = 1.0).</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Lead with the headline. Revenue expenditure as a share of GSDP is the only spending ratio with a stable, significant relationship to income, and it is negative. It survives fixed vs random effects, logged ratios, winsorising, dropping special-category states, lagging regressors and dropping the COVID year. The mechanism analysis shows why: the ratio falls when GSDP grows faster than spending. Social and capital ratios are not significant in the main model.</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to bring it all together. Our question was whether state spending, deficits and debt go with income within states over time. The answer is that only one thing does robustly: the size of spending relative to the economy, and the link is negative.</a:t>
            </a:r>
          </a:p>
          <a:p/>
          <a:p>
            <a:r>
              <a:t>Going objective by objective: income gaps are large and poorer states aren't catching up. Revenue spending relative to GSDP has a coefficient of minus 1.2, and it holds in all seven of our robustness checks. But when we split that ratio apart, income tracks GSDP growth, not spending. So the negative sign comes from fast-growing economies outgrowing their budgets. And COVID doubled deficits, but no fiscal variable predicts which states recovered.</a:t>
            </a:r>
          </a:p>
          <a:p/>
          <a:p>
            <a:r>
              <a:t>On the hypotheses: only H3 is supported. Social spending and the deficit show no clear link. Capital spending gets partial support through the share of the budget it takes. And the debt result disappears once we remove the suspicious values, so we don't rely on it.</a:t>
            </a:r>
          </a:p>
          <a:p/>
          <a:p>
            <a:r>
              <a:t>The key message: this is not an argument for cutting spending. It tells us that, in ratio terms, growth drives the budget share, not the other way round.</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card links to the original Plotly HTML export in the animations folder. Open the deck from the extracted package folder so the relative links resolve. The bubble charts plot spending against per-capita income, with bubble size showing GSDP, and animate across the 11 years. The racing bars show the top 15 states on each fiscal ratio year by year. Snapshots show the final 2021–22 frame.</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the audience to the companion package. Open State_Explorer.html in a browser, press Play, and click a state of interest. Keep the animations folder beside the deck so the links work.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1C1A"/>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F1C1A"/>
        </a:solidFill>
        <a:effectLst/>
      </p:bgPr>
    </p:bg>
    <p:spTree>
      <p:nvGrpSpPr>
        <p:cNvPr id="1" name=""/>
        <p:cNvGrpSpPr/>
        <p:nvPr/>
      </p:nvGrpSpPr>
      <p:grpSpPr>
        <a:xfrm>
          <a:off x="0" y="0"/>
          <a:ext cx="0" cy="0"/>
          <a:chOff x="0" y="0"/>
          <a:chExt cx="0" cy="0"/>
        </a:xfrm>
      </p:grpSpPr>
      <p:sp>
        <p:nvSpPr>
          <p:cNvPr id="2" name="Text 0"/>
          <p:cNvSpPr/>
          <p:nvPr/>
        </p:nvSpPr>
        <p:spPr>
          <a:xfrm>
            <a:off x="457200" y="4800600"/>
            <a:ext cx="5486400" cy="228600"/>
          </a:xfrm>
          <a:prstGeom prst="rect">
            <a:avLst/>
          </a:prstGeom>
          <a:noFill/>
          <a:ln/>
        </p:spPr>
        <p:txBody>
          <a:bodyPr wrap="square" lIns="0" tIns="0" rIns="0" bIns="0" rtlCol="0" anchor="ctr"/>
          <a:lstStyle/>
          <a:p>
            <a:pPr marL="0" indent="0">
              <a:buNone/>
            </a:pPr>
            <a:r>
              <a:rPr lang="en-US" sz="900" dirty="0">
                <a:solidFill>
                  <a:srgbClr val="9DB5AE"/>
                </a:solidFill>
              </a:rPr>
              <a:t>Indian States Fiscal Analysis | 2011-12 to 2021-22</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1.gif"/><Relationship Id="rId4" Type="http://schemas.openxmlformats.org/officeDocument/2006/relationships/image" Target="../media/image12.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3.gif"/><Relationship Id="rId4" Type="http://schemas.openxmlformats.org/officeDocument/2006/relationships/image" Target="../media/image14.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animations/anim_bubble_cap.html" TargetMode="External"/><Relationship Id="rId4" Type="http://schemas.openxmlformats.org/officeDocument/2006/relationships/image" Target="../media/anim_bubble_cap.gif"/><Relationship Id="rId5" Type="http://schemas.openxmlformats.org/officeDocument/2006/relationships/hyperlink" Target="animations/anim_bubble_soc.html" TargetMode="External"/><Relationship Id="rId6" Type="http://schemas.openxmlformats.org/officeDocument/2006/relationships/image" Target="../media/anim_bubble_soc.gif"/><Relationship Id="rId7" Type="http://schemas.openxmlformats.org/officeDocument/2006/relationships/hyperlink" Target="animations/anim_race_fd.html" TargetMode="External"/><Relationship Id="rId8" Type="http://schemas.openxmlformats.org/officeDocument/2006/relationships/image" Target="../media/anim_race_fd.gif"/><Relationship Id="rId9" Type="http://schemas.openxmlformats.org/officeDocument/2006/relationships/hyperlink" Target="animations/anim_race_liab.html" TargetMode="External"/><Relationship Id="rId10" Type="http://schemas.openxmlformats.org/officeDocument/2006/relationships/image" Target="../media/anim_race_liab.gif"/><Relationship Id="rId11" Type="http://schemas.openxmlformats.org/officeDocument/2006/relationships/hyperlink" Target="animations/anim_race_cap.html" TargetMode="External"/><Relationship Id="rId12" Type="http://schemas.openxmlformats.org/officeDocument/2006/relationships/image" Target="../media/anim_race_cap.gif"/><Relationship Id="rId13" Type="http://schemas.openxmlformats.org/officeDocument/2006/relationships/hyperlink" Target="animations/anim_race_soc.html" TargetMode="External"/><Relationship Id="rId14" Type="http://schemas.openxmlformats.org/officeDocument/2006/relationships/image" Target="../media/anim_race_soc.gi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hyperlink" Target="State_Explorer.html" TargetMode="External"/><Relationship Id="rId4" Type="http://schemas.openxmlformats.org/officeDocument/2006/relationships/hyperlink" Target="animations/index.html" TargetMode="External"/><Relationship Id="rId5" Type="http://schemas.openxmlformats.org/officeDocument/2006/relationships/hyperlink" Target="Results_Tables.xlsx"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40080"/>
            <a:ext cx="5486400" cy="274320"/>
          </a:xfrm>
          <a:prstGeom prst="rect">
            <a:avLst/>
          </a:prstGeom>
          <a:noFill/>
          <a:ln/>
        </p:spPr>
        <p:txBody>
          <a:bodyPr wrap="square" lIns="0" tIns="0" rIns="0" bIns="0" rtlCol="0" anchor="ctr"/>
          <a:lstStyle/>
          <a:p>
            <a:pPr marL="0" indent="0">
              <a:buNone/>
            </a:pPr>
            <a:r>
              <a:rPr lang="en-US" sz="1100" b="1" kern="0" spc="300" dirty="0">
                <a:solidFill>
                  <a:srgbClr val="2DD4A7"/>
                </a:solidFill>
              </a:rPr>
              <a:t>FISCAL DEVELOPMENT DASHBOARD</a:t>
            </a:r>
            <a:endParaRPr lang="en-US" sz="1100" dirty="0"/>
          </a:p>
        </p:txBody>
      </p:sp>
      <p:sp>
        <p:nvSpPr>
          <p:cNvPr id="3" name="Text 1"/>
          <p:cNvSpPr txBox="1"/>
          <p:nvPr/>
        </p:nvSpPr>
        <p:spPr>
          <a:xfrm>
            <a:off x="548640" y="1051560"/>
            <a:ext cx="5120640" cy="1737360"/>
          </a:xfrm>
          <a:prstGeom prst="rect">
            <a:avLst/>
          </a:prstGeom>
          <a:noFill/>
          <a:ln/>
        </p:spPr>
        <p:txBody>
          <a:bodyPr wrap="square" lIns="0" tIns="0" rIns="0" bIns="0" rtlCol="0" anchor="t"/>
          <a:lstStyle/>
          <a:p>
            <a:pPr marL="0" indent="0">
              <a:buNone/>
            </a:pPr>
            <a:r>
              <a:rPr lang="en-US" sz="3000" b="1" dirty="0">
                <a:solidFill>
                  <a:srgbClr val="F4F1EA"/>
                </a:solidFill>
                <a:latin typeface="Cambria" pitchFamily="34" charset="0"/>
                <a:ea typeface="Cambria" pitchFamily="34" charset="-122"/>
                <a:cs typeface="Cambria" pitchFamily="34" charset="-120"/>
              </a:rPr>
              <a:t>Government Expenditure, Fiscal Conditions and Economic Development in Indian States</a:t>
            </a:r>
            <a:endParaRPr lang="en-US" sz="3000" dirty="0"/>
          </a:p>
        </p:txBody>
      </p:sp>
      <p:sp>
        <p:nvSpPr>
          <p:cNvPr id="4" name="Text 2"/>
          <p:cNvSpPr txBox="1"/>
          <p:nvPr/>
        </p:nvSpPr>
        <p:spPr>
          <a:xfrm>
            <a:off x="548640" y="2926080"/>
            <a:ext cx="5120640" cy="320040"/>
          </a:xfrm>
          <a:prstGeom prst="rect">
            <a:avLst/>
          </a:prstGeom>
          <a:noFill/>
          <a:ln/>
        </p:spPr>
        <p:txBody>
          <a:bodyPr wrap="square" lIns="0" tIns="0" rIns="0" bIns="0" rtlCol="0" anchor="ctr"/>
          <a:lstStyle/>
          <a:p>
            <a:pPr marL="0" indent="0">
              <a:buNone/>
            </a:pPr>
            <a:r>
              <a:rPr lang="en-US" sz="1500" dirty="0">
                <a:solidFill>
                  <a:srgbClr val="9DB5AE"/>
                </a:solidFill>
              </a:rPr>
              <a:t>A panel data analysis, 2011-12 to 2021-22</a:t>
            </a:r>
            <a:endParaRPr lang="en-US" sz="1500" dirty="0"/>
          </a:p>
        </p:txBody>
      </p:sp>
      <p:sp>
        <p:nvSpPr>
          <p:cNvPr id="5" name="Text 3"/>
          <p:cNvSpPr txBox="1"/>
          <p:nvPr/>
        </p:nvSpPr>
        <p:spPr>
          <a:xfrm>
            <a:off x="548640" y="4297680"/>
            <a:ext cx="5120640" cy="274320"/>
          </a:xfrm>
          <a:prstGeom prst="rect">
            <a:avLst/>
          </a:prstGeom>
          <a:noFill/>
          <a:ln/>
        </p:spPr>
        <p:txBody>
          <a:bodyPr wrap="square" lIns="0" tIns="0" rIns="0" bIns="0" rtlCol="0" anchor="ctr"/>
          <a:lstStyle/>
          <a:p>
            <a:pPr marL="0" indent="0">
              <a:buNone/>
            </a:pPr>
            <a:r>
              <a:rPr lang="en-US" sz="1200" dirty="0">
                <a:solidFill>
                  <a:srgbClr val="9DB5AE"/>
                </a:solidFill>
              </a:rPr>
              <a:t>MSc Economics and Data Analytics | Python</a:t>
            </a:r>
            <a:endParaRPr lang="en-US" sz="1200" dirty="0"/>
          </a:p>
        </p:txBody>
      </p:sp>
      <p:sp>
        <p:nvSpPr>
          <p:cNvPr id="6" name="title kpi"/>
          <p:cNvSpPr/>
          <p:nvPr/>
        </p:nvSpPr>
        <p:spPr>
          <a:xfrm>
            <a:off x="6309360" y="685800"/>
            <a:ext cx="2286000" cy="1097280"/>
          </a:xfrm>
          <a:prstGeom prst="roundRect">
            <a:avLst>
              <a:gd name="adj" fmla="val 6667"/>
            </a:avLst>
          </a:prstGeom>
          <a:solidFill>
            <a:srgbClr val="172B27"/>
          </a:solidFill>
          <a:ln w="9525">
            <a:solidFill>
              <a:srgbClr val="2A4540"/>
            </a:solidFill>
            <a:prstDash val="solid"/>
          </a:ln>
        </p:spPr>
      </p:sp>
      <p:sp>
        <p:nvSpPr>
          <p:cNvPr id="7" name="Text 5"/>
          <p:cNvSpPr txBox="1"/>
          <p:nvPr/>
        </p:nvSpPr>
        <p:spPr>
          <a:xfrm>
            <a:off x="6492240" y="777240"/>
            <a:ext cx="1920240" cy="640080"/>
          </a:xfrm>
          <a:prstGeom prst="rect">
            <a:avLst/>
          </a:prstGeom>
          <a:noFill/>
          <a:ln/>
        </p:spPr>
        <p:txBody>
          <a:bodyPr wrap="square" lIns="0" tIns="0" rIns="0" bIns="0" rtlCol="0" anchor="ctr"/>
          <a:lstStyle/>
          <a:p>
            <a:pPr marL="0" indent="0">
              <a:buNone/>
            </a:pPr>
            <a:r>
              <a:rPr lang="en-US" sz="3800" b="1" dirty="0">
                <a:solidFill>
                  <a:srgbClr val="2DD4A7"/>
                </a:solidFill>
                <a:latin typeface="Cambria" pitchFamily="34" charset="0"/>
                <a:ea typeface="Cambria" pitchFamily="34" charset="-122"/>
                <a:cs typeface="Cambria" pitchFamily="34" charset="-120"/>
              </a:rPr>
              <a:t>31</a:t>
            </a:r>
            <a:endParaRPr lang="en-US" sz="3800" dirty="0"/>
          </a:p>
        </p:txBody>
      </p:sp>
      <p:sp>
        <p:nvSpPr>
          <p:cNvPr id="8" name="Text 6"/>
          <p:cNvSpPr txBox="1"/>
          <p:nvPr/>
        </p:nvSpPr>
        <p:spPr>
          <a:xfrm>
            <a:off x="6492240" y="1417320"/>
            <a:ext cx="1920240" cy="274320"/>
          </a:xfrm>
          <a:prstGeom prst="rect">
            <a:avLst/>
          </a:prstGeom>
          <a:noFill/>
          <a:ln/>
        </p:spPr>
        <p:txBody>
          <a:bodyPr wrap="square" lIns="0" tIns="0" rIns="0" bIns="0" rtlCol="0" anchor="ctr"/>
          <a:lstStyle/>
          <a:p>
            <a:pPr marL="0" indent="0">
              <a:buNone/>
            </a:pPr>
            <a:r>
              <a:rPr lang="en-US" sz="1200" dirty="0">
                <a:solidFill>
                  <a:srgbClr val="9DB5AE"/>
                </a:solidFill>
              </a:rPr>
              <a:t>states and UTs</a:t>
            </a:r>
            <a:endParaRPr lang="en-US" sz="1200" dirty="0"/>
          </a:p>
        </p:txBody>
      </p:sp>
      <p:sp>
        <p:nvSpPr>
          <p:cNvPr id="9" name="title kpi"/>
          <p:cNvSpPr/>
          <p:nvPr/>
        </p:nvSpPr>
        <p:spPr>
          <a:xfrm>
            <a:off x="6309360" y="1965960"/>
            <a:ext cx="2286000" cy="1097280"/>
          </a:xfrm>
          <a:prstGeom prst="roundRect">
            <a:avLst>
              <a:gd name="adj" fmla="val 6667"/>
            </a:avLst>
          </a:prstGeom>
          <a:solidFill>
            <a:srgbClr val="172B27"/>
          </a:solidFill>
          <a:ln w="9525">
            <a:solidFill>
              <a:srgbClr val="2A4540"/>
            </a:solidFill>
            <a:prstDash val="solid"/>
          </a:ln>
        </p:spPr>
      </p:sp>
      <p:sp>
        <p:nvSpPr>
          <p:cNvPr id="10" name="Text 8"/>
          <p:cNvSpPr txBox="1"/>
          <p:nvPr/>
        </p:nvSpPr>
        <p:spPr>
          <a:xfrm>
            <a:off x="6492240" y="2057400"/>
            <a:ext cx="1920240" cy="640080"/>
          </a:xfrm>
          <a:prstGeom prst="rect">
            <a:avLst/>
          </a:prstGeom>
          <a:noFill/>
          <a:ln/>
        </p:spPr>
        <p:txBody>
          <a:bodyPr wrap="square" lIns="0" tIns="0" rIns="0" bIns="0" rtlCol="0" anchor="ctr"/>
          <a:lstStyle/>
          <a:p>
            <a:pPr marL="0" indent="0">
              <a:buNone/>
            </a:pPr>
            <a:r>
              <a:rPr lang="en-US" sz="3800" b="1" dirty="0">
                <a:solidFill>
                  <a:srgbClr val="F5B83D"/>
                </a:solidFill>
                <a:latin typeface="Cambria" pitchFamily="34" charset="0"/>
                <a:ea typeface="Cambria" pitchFamily="34" charset="-122"/>
                <a:cs typeface="Cambria" pitchFamily="34" charset="-120"/>
              </a:rPr>
              <a:t>11</a:t>
            </a:r>
            <a:endParaRPr lang="en-US" sz="3800" dirty="0"/>
          </a:p>
        </p:txBody>
      </p:sp>
      <p:sp>
        <p:nvSpPr>
          <p:cNvPr id="11" name="Text 9"/>
          <p:cNvSpPr txBox="1"/>
          <p:nvPr/>
        </p:nvSpPr>
        <p:spPr>
          <a:xfrm>
            <a:off x="6492240" y="2697480"/>
            <a:ext cx="1920240" cy="274320"/>
          </a:xfrm>
          <a:prstGeom prst="rect">
            <a:avLst/>
          </a:prstGeom>
          <a:noFill/>
          <a:ln/>
        </p:spPr>
        <p:txBody>
          <a:bodyPr wrap="square" lIns="0" tIns="0" rIns="0" bIns="0" rtlCol="0" anchor="ctr"/>
          <a:lstStyle/>
          <a:p>
            <a:pPr marL="0" indent="0">
              <a:buNone/>
            </a:pPr>
            <a:r>
              <a:rPr lang="en-US" sz="1200" dirty="0">
                <a:solidFill>
                  <a:srgbClr val="9DB5AE"/>
                </a:solidFill>
              </a:rPr>
              <a:t>fiscal years</a:t>
            </a:r>
            <a:endParaRPr lang="en-US" sz="1200" dirty="0"/>
          </a:p>
        </p:txBody>
      </p:sp>
      <p:sp>
        <p:nvSpPr>
          <p:cNvPr id="12" name="title kpi"/>
          <p:cNvSpPr/>
          <p:nvPr/>
        </p:nvSpPr>
        <p:spPr>
          <a:xfrm>
            <a:off x="6309360" y="3246120"/>
            <a:ext cx="2286000" cy="1097280"/>
          </a:xfrm>
          <a:prstGeom prst="roundRect">
            <a:avLst>
              <a:gd name="adj" fmla="val 6667"/>
            </a:avLst>
          </a:prstGeom>
          <a:solidFill>
            <a:srgbClr val="172B27"/>
          </a:solidFill>
          <a:ln w="9525">
            <a:solidFill>
              <a:srgbClr val="2A4540"/>
            </a:solidFill>
            <a:prstDash val="solid"/>
          </a:ln>
        </p:spPr>
      </p:sp>
      <p:sp>
        <p:nvSpPr>
          <p:cNvPr id="13" name="Text 11"/>
          <p:cNvSpPr txBox="1"/>
          <p:nvPr/>
        </p:nvSpPr>
        <p:spPr>
          <a:xfrm>
            <a:off x="6492240" y="3337560"/>
            <a:ext cx="1920240" cy="640080"/>
          </a:xfrm>
          <a:prstGeom prst="rect">
            <a:avLst/>
          </a:prstGeom>
          <a:noFill/>
          <a:ln/>
        </p:spPr>
        <p:txBody>
          <a:bodyPr wrap="square" lIns="0" tIns="0" rIns="0" bIns="0" rtlCol="0" anchor="ctr"/>
          <a:lstStyle/>
          <a:p>
            <a:pPr marL="0" indent="0">
              <a:buNone/>
            </a:pPr>
            <a:r>
              <a:rPr lang="en-US" sz="3800" b="1" dirty="0">
                <a:solidFill>
                  <a:srgbClr val="F4F1EA"/>
                </a:solidFill>
                <a:latin typeface="Cambria" pitchFamily="34" charset="0"/>
                <a:ea typeface="Cambria" pitchFamily="34" charset="-122"/>
                <a:cs typeface="Cambria" pitchFamily="34" charset="-120"/>
              </a:rPr>
              <a:t>304</a:t>
            </a:r>
            <a:endParaRPr lang="en-US" sz="3800" dirty="0"/>
          </a:p>
        </p:txBody>
      </p:sp>
      <p:sp>
        <p:nvSpPr>
          <p:cNvPr id="14" name="Text 12"/>
          <p:cNvSpPr txBox="1"/>
          <p:nvPr/>
        </p:nvSpPr>
        <p:spPr>
          <a:xfrm>
            <a:off x="6492240" y="3977640"/>
            <a:ext cx="1920240" cy="274320"/>
          </a:xfrm>
          <a:prstGeom prst="rect">
            <a:avLst/>
          </a:prstGeom>
          <a:noFill/>
          <a:ln/>
        </p:spPr>
        <p:txBody>
          <a:bodyPr wrap="square" lIns="0" tIns="0" rIns="0" bIns="0" rtlCol="0" anchor="ctr"/>
          <a:lstStyle/>
          <a:p>
            <a:pPr marL="0" indent="0">
              <a:buNone/>
            </a:pPr>
            <a:r>
              <a:rPr lang="en-US" sz="1200" dirty="0">
                <a:solidFill>
                  <a:srgbClr val="9DB5AE"/>
                </a:solidFill>
              </a:rPr>
              <a:t>model observations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marL="0" indent="0">
              <a:buNone/>
            </a:pPr>
            <a:r>
              <a:rPr lang="en-US" sz="2400" b="1" dirty="0">
                <a:solidFill>
                  <a:srgbClr val="F4F1EA"/>
                </a:solidFill>
                <a:latin typeface="Cambria" pitchFamily="34" charset="0"/>
                <a:ea typeface="Cambria" pitchFamily="34" charset="-122"/>
                <a:cs typeface="Cambria" pitchFamily="34" charset="-120"/>
              </a:rPr>
              <a:t>Introduction</a:t>
            </a:r>
            <a:endParaRPr lang="en-US" sz="2400" dirty="0"/>
          </a:p>
        </p:txBody>
      </p:sp>
      <p:sp>
        <p:nvSpPr>
          <p:cNvPr id="3" name="Text 1"/>
          <p:cNvSpPr txBox="1"/>
          <p:nvPr/>
        </p:nvSpPr>
        <p:spPr>
          <a:xfrm>
            <a:off x="457200" y="777240"/>
            <a:ext cx="8229600" cy="274320"/>
          </a:xfrm>
          <a:prstGeom prst="rect">
            <a:avLst/>
          </a:prstGeom>
          <a:noFill/>
          <a:ln/>
        </p:spPr>
        <p:txBody>
          <a:bodyPr wrap="square" lIns="0" tIns="0" rIns="0" bIns="0" rtlCol="0" anchor="ctr"/>
          <a:lstStyle/>
          <a:p>
            <a:pPr marL="0" indent="0">
              <a:buNone/>
            </a:pPr>
            <a:r>
              <a:rPr lang="en-US" sz="1300" dirty="0">
                <a:solidFill>
                  <a:srgbClr val="9DB5AE"/>
                </a:solidFill>
              </a:rPr>
              <a:t>Why state fiscal behaviour matters for development</a:t>
            </a:r>
            <a:endParaRPr lang="en-US" sz="1300" dirty="0"/>
          </a:p>
        </p:txBody>
      </p:sp>
      <p:sp>
        <p:nvSpPr>
          <p:cNvPr id="4" name="intro card"/>
          <p:cNvSpPr/>
          <p:nvPr/>
        </p:nvSpPr>
        <p:spPr>
          <a:xfrm>
            <a:off x="457200" y="1188720"/>
            <a:ext cx="5120640" cy="3474720"/>
          </a:xfrm>
          <a:prstGeom prst="roundRect">
            <a:avLst>
              <a:gd name="adj" fmla="val 2105"/>
            </a:avLst>
          </a:prstGeom>
          <a:solidFill>
            <a:srgbClr val="172B27"/>
          </a:solidFill>
          <a:ln w="9525">
            <a:solidFill>
              <a:srgbClr val="2A4540"/>
            </a:solidFill>
            <a:prstDash val="solid"/>
          </a:ln>
        </p:spPr>
      </p:sp>
      <p:sp>
        <p:nvSpPr>
          <p:cNvPr id="5" name="Text 3"/>
          <p:cNvSpPr txBox="1"/>
          <p:nvPr/>
        </p:nvSpPr>
        <p:spPr>
          <a:xfrm>
            <a:off x="685800" y="1371600"/>
            <a:ext cx="4663440" cy="310896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F4F1EA"/>
                </a:solidFill>
              </a:rPr>
              <a:t>State governments carry much of India's public spending on health, education and infrastructure.</a:t>
            </a:r>
            <a:endParaRPr lang="en-US" sz="1500" dirty="0"/>
          </a:p>
          <a:p>
            <a:pPr marL="342900" indent="-342900">
              <a:spcAft>
                <a:spcPts val="700"/>
              </a:spcAft>
              <a:buSzPct val="100000"/>
              <a:buChar char="•"/>
            </a:pPr>
            <a:r>
              <a:rPr lang="en-US" sz="1500" dirty="0">
                <a:solidFill>
                  <a:srgbClr val="F4F1EA"/>
                </a:solidFill>
              </a:rPr>
              <a:t>States differ widely in income: the richest average about 11 times the poorest.</a:t>
            </a:r>
            <a:endParaRPr lang="en-US" sz="1500" dirty="0"/>
          </a:p>
          <a:p>
            <a:pPr marL="342900" indent="-342900">
              <a:spcAft>
                <a:spcPts val="700"/>
              </a:spcAft>
              <a:buSzPct val="100000"/>
              <a:buChar char="•"/>
            </a:pPr>
            <a:r>
              <a:rPr lang="en-US" sz="1500" dirty="0">
                <a:solidFill>
                  <a:srgbClr val="F4F1EA"/>
                </a:solidFill>
              </a:rPr>
              <a:t>Do states that spend more on social, capital or revenue items also have higher income?</a:t>
            </a:r>
            <a:endParaRPr lang="en-US" sz="1500" dirty="0"/>
          </a:p>
          <a:p>
            <a:pPr marL="342900" indent="-342900">
              <a:spcAft>
                <a:spcPts val="700"/>
              </a:spcAft>
              <a:buSzPct val="100000"/>
              <a:buChar char="•"/>
            </a:pPr>
            <a:r>
              <a:rPr lang="en-US" sz="1500" dirty="0">
                <a:solidFill>
                  <a:srgbClr val="F4F1EA"/>
                </a:solidFill>
              </a:rPr>
              <a:t>We study 31 states and UTs over 2011-12 to 2021-22 using panel methods.</a:t>
            </a:r>
            <a:endParaRPr lang="en-US" sz="1500" dirty="0"/>
          </a:p>
        </p:txBody>
      </p:sp>
      <p:sp>
        <p:nvSpPr>
          <p:cNvPr id="6" name="kpi card"/>
          <p:cNvSpPr/>
          <p:nvPr/>
        </p:nvSpPr>
        <p:spPr>
          <a:xfrm>
            <a:off x="5760720" y="1188720"/>
            <a:ext cx="2926080" cy="1051560"/>
          </a:xfrm>
          <a:prstGeom prst="roundRect">
            <a:avLst>
              <a:gd name="adj" fmla="val 6957"/>
            </a:avLst>
          </a:prstGeom>
          <a:solidFill>
            <a:srgbClr val="172B27"/>
          </a:solidFill>
          <a:ln w="9525">
            <a:solidFill>
              <a:srgbClr val="2A4540"/>
            </a:solidFill>
            <a:prstDash val="solid"/>
          </a:ln>
        </p:spPr>
      </p:sp>
      <p:sp>
        <p:nvSpPr>
          <p:cNvPr id="7" name="Text 5"/>
          <p:cNvSpPr txBox="1"/>
          <p:nvPr/>
        </p:nvSpPr>
        <p:spPr>
          <a:xfrm>
            <a:off x="5943600" y="1325880"/>
            <a:ext cx="2560320" cy="228600"/>
          </a:xfrm>
          <a:prstGeom prst="rect">
            <a:avLst/>
          </a:prstGeom>
          <a:noFill/>
          <a:ln/>
        </p:spPr>
        <p:txBody>
          <a:bodyPr wrap="square" lIns="0" tIns="0" rIns="0" bIns="0" rtlCol="0" anchor="ctr"/>
          <a:lstStyle/>
          <a:p>
            <a:pPr marL="0" indent="0">
              <a:buNone/>
            </a:pPr>
            <a:r>
              <a:rPr lang="en-US" sz="1000" b="1" kern="0" spc="100" dirty="0">
                <a:solidFill>
                  <a:srgbClr val="9DB5AE"/>
                </a:solidFill>
              </a:rPr>
              <a:t>GOA VS BIHAR INCOME</a:t>
            </a:r>
            <a:endParaRPr lang="en-US" sz="1000" dirty="0"/>
          </a:p>
        </p:txBody>
      </p:sp>
      <p:sp>
        <p:nvSpPr>
          <p:cNvPr id="8" name="Text 6"/>
          <p:cNvSpPr txBox="1"/>
          <p:nvPr/>
        </p:nvSpPr>
        <p:spPr>
          <a:xfrm>
            <a:off x="5943600" y="1572768"/>
            <a:ext cx="2560320" cy="640080"/>
          </a:xfrm>
          <a:prstGeom prst="rect">
            <a:avLst/>
          </a:prstGeom>
          <a:noFill/>
          <a:ln/>
        </p:spPr>
        <p:txBody>
          <a:bodyPr wrap="square" lIns="0" tIns="0" rIns="0" bIns="0" rtlCol="0" anchor="ctr"/>
          <a:lstStyle/>
          <a:p>
            <a:pPr marL="0" indent="0">
              <a:buNone/>
            </a:pPr>
            <a:r>
              <a:rPr lang="en-US" sz="3400" b="1" dirty="0">
                <a:solidFill>
                  <a:srgbClr val="F5B83D"/>
                </a:solidFill>
                <a:latin typeface="Cambria" pitchFamily="34" charset="0"/>
                <a:ea typeface="Cambria" pitchFamily="34" charset="-122"/>
                <a:cs typeface="Cambria" pitchFamily="34" charset="-120"/>
              </a:rPr>
              <a:t>11x</a:t>
            </a:r>
            <a:endParaRPr lang="en-US" sz="3400" dirty="0"/>
          </a:p>
        </p:txBody>
      </p:sp>
      <p:sp>
        <p:nvSpPr>
          <p:cNvPr id="9" name="kpi card"/>
          <p:cNvSpPr/>
          <p:nvPr/>
        </p:nvSpPr>
        <p:spPr>
          <a:xfrm>
            <a:off x="5760720" y="2377440"/>
            <a:ext cx="2926080" cy="1051560"/>
          </a:xfrm>
          <a:prstGeom prst="roundRect">
            <a:avLst>
              <a:gd name="adj" fmla="val 6957"/>
            </a:avLst>
          </a:prstGeom>
          <a:solidFill>
            <a:srgbClr val="172B27"/>
          </a:solidFill>
          <a:ln w="9525">
            <a:solidFill>
              <a:srgbClr val="2A4540"/>
            </a:solidFill>
            <a:prstDash val="solid"/>
          </a:ln>
        </p:spPr>
      </p:sp>
      <p:sp>
        <p:nvSpPr>
          <p:cNvPr id="10" name="Text 8"/>
          <p:cNvSpPr txBox="1"/>
          <p:nvPr/>
        </p:nvSpPr>
        <p:spPr>
          <a:xfrm>
            <a:off x="5943600" y="2514600"/>
            <a:ext cx="2560320" cy="228600"/>
          </a:xfrm>
          <a:prstGeom prst="rect">
            <a:avLst/>
          </a:prstGeom>
          <a:noFill/>
          <a:ln/>
        </p:spPr>
        <p:txBody>
          <a:bodyPr wrap="square" lIns="0" tIns="0" rIns="0" bIns="0" rtlCol="0" anchor="ctr"/>
          <a:lstStyle/>
          <a:p>
            <a:pPr marL="0" indent="0">
              <a:buNone/>
            </a:pPr>
            <a:r>
              <a:rPr lang="en-US" sz="1000" b="1" kern="0" spc="100" dirty="0">
                <a:solidFill>
                  <a:srgbClr val="9DB5AE"/>
                </a:solidFill>
              </a:rPr>
              <a:t>FISCAL YEARS STUDIED</a:t>
            </a:r>
            <a:endParaRPr lang="en-US" sz="1000" dirty="0"/>
          </a:p>
        </p:txBody>
      </p:sp>
      <p:sp>
        <p:nvSpPr>
          <p:cNvPr id="11" name="Text 9"/>
          <p:cNvSpPr txBox="1"/>
          <p:nvPr/>
        </p:nvSpPr>
        <p:spPr>
          <a:xfrm>
            <a:off x="5943600" y="2761488"/>
            <a:ext cx="2560320" cy="640080"/>
          </a:xfrm>
          <a:prstGeom prst="rect">
            <a:avLst/>
          </a:prstGeom>
          <a:noFill/>
          <a:ln/>
        </p:spPr>
        <p:txBody>
          <a:bodyPr wrap="square" lIns="0" tIns="0" rIns="0" bIns="0" rtlCol="0" anchor="ctr"/>
          <a:lstStyle/>
          <a:p>
            <a:pPr marL="0" indent="0">
              <a:buNone/>
            </a:pPr>
            <a:r>
              <a:rPr lang="en-US" sz="3400" b="1" dirty="0">
                <a:solidFill>
                  <a:srgbClr val="2DD4A7"/>
                </a:solidFill>
                <a:latin typeface="Cambria" pitchFamily="34" charset="0"/>
                <a:ea typeface="Cambria" pitchFamily="34" charset="-122"/>
                <a:cs typeface="Cambria" pitchFamily="34" charset="-120"/>
              </a:rPr>
              <a:t>11</a:t>
            </a:r>
            <a:endParaRPr lang="en-US" sz="3400" dirty="0"/>
          </a:p>
        </p:txBody>
      </p:sp>
      <p:sp>
        <p:nvSpPr>
          <p:cNvPr id="12" name="kpi card"/>
          <p:cNvSpPr/>
          <p:nvPr/>
        </p:nvSpPr>
        <p:spPr>
          <a:xfrm>
            <a:off x="5760720" y="3566160"/>
            <a:ext cx="2926080" cy="1097280"/>
          </a:xfrm>
          <a:prstGeom prst="roundRect">
            <a:avLst>
              <a:gd name="adj" fmla="val 6667"/>
            </a:avLst>
          </a:prstGeom>
          <a:solidFill>
            <a:srgbClr val="172B27"/>
          </a:solidFill>
          <a:ln w="9525">
            <a:solidFill>
              <a:srgbClr val="2A4540"/>
            </a:solidFill>
            <a:prstDash val="solid"/>
          </a:ln>
        </p:spPr>
      </p:sp>
      <p:sp>
        <p:nvSpPr>
          <p:cNvPr id="13" name="Text 11"/>
          <p:cNvSpPr txBox="1"/>
          <p:nvPr/>
        </p:nvSpPr>
        <p:spPr>
          <a:xfrm>
            <a:off x="5943600" y="3703320"/>
            <a:ext cx="2560320" cy="228600"/>
          </a:xfrm>
          <a:prstGeom prst="rect">
            <a:avLst/>
          </a:prstGeom>
          <a:noFill/>
          <a:ln/>
        </p:spPr>
        <p:txBody>
          <a:bodyPr wrap="square" lIns="0" tIns="0" rIns="0" bIns="0" rtlCol="0" anchor="ctr"/>
          <a:lstStyle/>
          <a:p>
            <a:pPr marL="0" indent="0">
              <a:buNone/>
            </a:pPr>
            <a:r>
              <a:rPr lang="en-US" sz="1000" b="1" kern="0" spc="100" dirty="0">
                <a:solidFill>
                  <a:srgbClr val="9DB5AE"/>
                </a:solidFill>
              </a:rPr>
              <a:t>FISCAL INDICATORS</a:t>
            </a:r>
            <a:endParaRPr lang="en-US" sz="1000" dirty="0"/>
          </a:p>
        </p:txBody>
      </p:sp>
      <p:sp>
        <p:nvSpPr>
          <p:cNvPr id="14" name="Text 12"/>
          <p:cNvSpPr txBox="1"/>
          <p:nvPr/>
        </p:nvSpPr>
        <p:spPr>
          <a:xfrm>
            <a:off x="5943600" y="3950208"/>
            <a:ext cx="2560320" cy="640080"/>
          </a:xfrm>
          <a:prstGeom prst="rect">
            <a:avLst/>
          </a:prstGeom>
          <a:noFill/>
          <a:ln/>
        </p:spPr>
        <p:txBody>
          <a:bodyPr wrap="square" lIns="0" tIns="0" rIns="0" bIns="0" rtlCol="0" anchor="ctr"/>
          <a:lstStyle/>
          <a:p>
            <a:pPr marL="0" indent="0">
              <a:buNone/>
            </a:pPr>
            <a:r>
              <a:rPr lang="en-US" sz="3400" b="1" dirty="0">
                <a:solidFill>
                  <a:srgbClr val="B79CFF"/>
                </a:solidFill>
                <a:latin typeface="Cambria" pitchFamily="34" charset="0"/>
                <a:ea typeface="Cambria" pitchFamily="34" charset="-122"/>
                <a:cs typeface="Cambria" pitchFamily="34" charset="-120"/>
              </a:rPr>
              <a:t>5</a:t>
            </a:r>
            <a:endParaRPr lang="en-US" sz="3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marL="0" indent="0">
              <a:buNone/>
            </a:pPr>
            <a:r>
              <a:rPr lang="en-US" sz="2400" b="1" dirty="0">
                <a:solidFill>
                  <a:srgbClr val="F4F1EA"/>
                </a:solidFill>
                <a:latin typeface="Cambria" pitchFamily="34" charset="0"/>
                <a:ea typeface="Cambria" pitchFamily="34" charset="-122"/>
                <a:cs typeface="Cambria" pitchFamily="34" charset="-120"/>
              </a:rPr>
              <a:t>Research question and objectives</a:t>
            </a:r>
            <a:endParaRPr lang="en-US" sz="2400" dirty="0"/>
          </a:p>
        </p:txBody>
      </p:sp>
      <p:sp>
        <p:nvSpPr>
          <p:cNvPr id="3" name="Text 1"/>
          <p:cNvSpPr txBox="1"/>
          <p:nvPr/>
        </p:nvSpPr>
        <p:spPr>
          <a:xfrm>
            <a:off x="457200" y="777240"/>
            <a:ext cx="8229600" cy="658368"/>
          </a:xfrm>
          <a:prstGeom prst="rect">
            <a:avLst/>
          </a:prstGeom>
          <a:noFill/>
          <a:ln/>
        </p:spPr>
        <p:txBody>
          <a:bodyPr wrap="square" lIns="0" tIns="0" rIns="0" bIns="0" rtlCol="0" anchor="ctr"/>
          <a:lstStyle/>
          <a:p>
            <a:pPr marL="0" indent="0">
              <a:buNone/>
            </a:pPr>
            <a:r>
              <a:rPr lang="en-US" sz="1300" dirty="0">
                <a:solidFill>
                  <a:srgbClr val="9DB5AE"/>
                </a:solidFill>
              </a:rPr>
              <a:t>For 28 Indian states and union territories over 2011–12 to 2021–22, how are the size and mix of state government spending, the fiscal deficit and outstanding debt (each relative to GSDP) associated with real per-capita income within states over time?</a:t>
            </a:r>
            <a:endParaRPr lang="en-US" sz="1300" dirty="0"/>
          </a:p>
        </p:txBody>
      </p:sp>
      <p:sp>
        <p:nvSpPr>
          <p:cNvPr id="4" name="objective card"/>
          <p:cNvSpPr/>
          <p:nvPr/>
        </p:nvSpPr>
        <p:spPr>
          <a:xfrm>
            <a:off x="457200" y="1572768"/>
            <a:ext cx="8229600" cy="512064"/>
          </a:xfrm>
          <a:prstGeom prst="roundRect">
            <a:avLst>
              <a:gd name="adj" fmla="val 12903"/>
            </a:avLst>
          </a:prstGeom>
          <a:solidFill>
            <a:srgbClr val="172B27"/>
          </a:solidFill>
          <a:ln w="9525">
            <a:solidFill>
              <a:srgbClr val="2A4540"/>
            </a:solidFill>
            <a:prstDash val="solid"/>
          </a:ln>
        </p:spPr>
        <p:txBody>
          <a:bodyPr/>
          <a:lstStyle/>
          <a:p>
            <a:endParaRPr/>
          </a:p>
        </p:txBody>
      </p:sp>
      <p:sp>
        <p:nvSpPr>
          <p:cNvPr id="5" name="objective marker"/>
          <p:cNvSpPr/>
          <p:nvPr/>
        </p:nvSpPr>
        <p:spPr>
          <a:xfrm>
            <a:off x="594360" y="1636776"/>
            <a:ext cx="384048" cy="384048"/>
          </a:xfrm>
          <a:prstGeom prst="ellipse">
            <a:avLst/>
          </a:prstGeom>
          <a:solidFill>
            <a:srgbClr val="2DD4A7"/>
          </a:solidFill>
          <a:ln w="12700">
            <a:solidFill>
              <a:srgbClr val="0F1C1A"/>
            </a:solidFill>
            <a:prstDash val="solid"/>
          </a:ln>
        </p:spPr>
        <p:txBody>
          <a:bodyPr/>
          <a:lstStyle/>
          <a:p>
            <a:endParaRPr/>
          </a:p>
        </p:txBody>
      </p:sp>
      <p:sp>
        <p:nvSpPr>
          <p:cNvPr id="6" name="Text 4"/>
          <p:cNvSpPr txBox="1"/>
          <p:nvPr/>
        </p:nvSpPr>
        <p:spPr>
          <a:xfrm>
            <a:off x="594360" y="1636776"/>
            <a:ext cx="384048" cy="384048"/>
          </a:xfrm>
          <a:prstGeom prst="rect">
            <a:avLst/>
          </a:prstGeom>
          <a:noFill/>
          <a:ln/>
        </p:spPr>
        <p:txBody>
          <a:bodyPr wrap="square" lIns="0" tIns="0" rIns="0" bIns="0" rtlCol="0" anchor="ctr"/>
          <a:lstStyle/>
          <a:p>
            <a:pPr marL="0" indent="0" algn="ctr">
              <a:buNone/>
            </a:pPr>
            <a:r>
              <a:rPr lang="en-US" sz="1400" b="1" dirty="0">
                <a:solidFill>
                  <a:srgbClr val="0F1C1A"/>
                </a:solidFill>
              </a:rPr>
              <a:t>1</a:t>
            </a:r>
            <a:endParaRPr lang="en-US" sz="1400" dirty="0"/>
          </a:p>
        </p:txBody>
      </p:sp>
      <p:sp>
        <p:nvSpPr>
          <p:cNvPr id="7" name="Text 5"/>
          <p:cNvSpPr txBox="1"/>
          <p:nvPr/>
        </p:nvSpPr>
        <p:spPr>
          <a:xfrm>
            <a:off x="1188720" y="1572768"/>
            <a:ext cx="7315200" cy="512064"/>
          </a:xfrm>
          <a:prstGeom prst="rect">
            <a:avLst/>
          </a:prstGeom>
          <a:noFill/>
          <a:ln/>
        </p:spPr>
        <p:txBody>
          <a:bodyPr wrap="square" lIns="0" tIns="0" rIns="0" bIns="0" rtlCol="0" anchor="ctr"/>
          <a:lstStyle/>
          <a:p>
            <a:pPr marL="0" indent="0">
              <a:buNone/>
            </a:pPr>
            <a:r>
              <a:rPr lang="en-US" sz="1500" dirty="0">
                <a:solidFill>
                  <a:srgbClr val="F4F1EA"/>
                </a:solidFill>
              </a:rPr>
              <a:t>Describe income gaps and fiscal positions across states</a:t>
            </a:r>
            <a:endParaRPr lang="en-US" sz="1500" dirty="0"/>
          </a:p>
        </p:txBody>
      </p:sp>
      <p:sp>
        <p:nvSpPr>
          <p:cNvPr id="8" name="objective card"/>
          <p:cNvSpPr/>
          <p:nvPr/>
        </p:nvSpPr>
        <p:spPr>
          <a:xfrm>
            <a:off x="457200" y="2194560"/>
            <a:ext cx="8229600" cy="512064"/>
          </a:xfrm>
          <a:prstGeom prst="roundRect">
            <a:avLst>
              <a:gd name="adj" fmla="val 12903"/>
            </a:avLst>
          </a:prstGeom>
          <a:solidFill>
            <a:srgbClr val="172B27"/>
          </a:solidFill>
          <a:ln w="9525">
            <a:solidFill>
              <a:srgbClr val="2A4540"/>
            </a:solidFill>
            <a:prstDash val="solid"/>
          </a:ln>
        </p:spPr>
        <p:txBody>
          <a:bodyPr/>
          <a:lstStyle/>
          <a:p>
            <a:endParaRPr/>
          </a:p>
        </p:txBody>
      </p:sp>
      <p:sp>
        <p:nvSpPr>
          <p:cNvPr id="9" name="objective marker"/>
          <p:cNvSpPr/>
          <p:nvPr/>
        </p:nvSpPr>
        <p:spPr>
          <a:xfrm>
            <a:off x="594360" y="2258568"/>
            <a:ext cx="384048" cy="384048"/>
          </a:xfrm>
          <a:prstGeom prst="ellipse">
            <a:avLst/>
          </a:prstGeom>
          <a:solidFill>
            <a:srgbClr val="F5B83D"/>
          </a:solidFill>
          <a:ln w="12700">
            <a:solidFill>
              <a:srgbClr val="0F1C1A"/>
            </a:solidFill>
            <a:prstDash val="solid"/>
          </a:ln>
        </p:spPr>
        <p:txBody>
          <a:bodyPr/>
          <a:lstStyle/>
          <a:p>
            <a:endParaRPr/>
          </a:p>
        </p:txBody>
      </p:sp>
      <p:sp>
        <p:nvSpPr>
          <p:cNvPr id="10" name="Text 8"/>
          <p:cNvSpPr txBox="1"/>
          <p:nvPr/>
        </p:nvSpPr>
        <p:spPr>
          <a:xfrm>
            <a:off x="594360" y="2258568"/>
            <a:ext cx="384048" cy="384048"/>
          </a:xfrm>
          <a:prstGeom prst="rect">
            <a:avLst/>
          </a:prstGeom>
          <a:noFill/>
          <a:ln/>
        </p:spPr>
        <p:txBody>
          <a:bodyPr wrap="square" lIns="0" tIns="0" rIns="0" bIns="0" rtlCol="0" anchor="ctr"/>
          <a:lstStyle/>
          <a:p>
            <a:pPr marL="0" indent="0" algn="ctr">
              <a:buNone/>
            </a:pPr>
            <a:r>
              <a:rPr lang="en-US" sz="1400" b="1" dirty="0">
                <a:solidFill>
                  <a:srgbClr val="0F1C1A"/>
                </a:solidFill>
              </a:rPr>
              <a:t>2</a:t>
            </a:r>
            <a:endParaRPr lang="en-US" sz="1400" dirty="0"/>
          </a:p>
        </p:txBody>
      </p:sp>
      <p:sp>
        <p:nvSpPr>
          <p:cNvPr id="11" name="Text 9"/>
          <p:cNvSpPr txBox="1"/>
          <p:nvPr/>
        </p:nvSpPr>
        <p:spPr>
          <a:xfrm>
            <a:off x="1188720" y="2194560"/>
            <a:ext cx="7315200" cy="512064"/>
          </a:xfrm>
          <a:prstGeom prst="rect">
            <a:avLst/>
          </a:prstGeom>
          <a:noFill/>
          <a:ln/>
        </p:spPr>
        <p:txBody>
          <a:bodyPr wrap="square" lIns="0" tIns="0" rIns="0" bIns="0" rtlCol="0" anchor="ctr"/>
          <a:lstStyle/>
          <a:p>
            <a:pPr marL="0" indent="0">
              <a:buNone/>
            </a:pPr>
            <a:r>
              <a:rPr lang="en-US" sz="1500" dirty="0">
                <a:solidFill>
                  <a:srgbClr val="F4F1EA"/>
                </a:solidFill>
              </a:rPr>
              <a:t>Estimate within-state links between fiscal ratios and income (pooled OLS, FE, RE)</a:t>
            </a:r>
            <a:endParaRPr lang="en-US" sz="1500" dirty="0"/>
          </a:p>
        </p:txBody>
      </p:sp>
      <p:sp>
        <p:nvSpPr>
          <p:cNvPr id="12" name="objective card"/>
          <p:cNvSpPr/>
          <p:nvPr/>
        </p:nvSpPr>
        <p:spPr>
          <a:xfrm>
            <a:off x="457200" y="2816352"/>
            <a:ext cx="8229600" cy="512064"/>
          </a:xfrm>
          <a:prstGeom prst="roundRect">
            <a:avLst>
              <a:gd name="adj" fmla="val 12903"/>
            </a:avLst>
          </a:prstGeom>
          <a:solidFill>
            <a:srgbClr val="172B27"/>
          </a:solidFill>
          <a:ln w="9525">
            <a:solidFill>
              <a:srgbClr val="2A4540"/>
            </a:solidFill>
            <a:prstDash val="solid"/>
          </a:ln>
        </p:spPr>
        <p:txBody>
          <a:bodyPr/>
          <a:lstStyle/>
          <a:p>
            <a:endParaRPr/>
          </a:p>
        </p:txBody>
      </p:sp>
      <p:sp>
        <p:nvSpPr>
          <p:cNvPr id="13" name="objective marker"/>
          <p:cNvSpPr/>
          <p:nvPr/>
        </p:nvSpPr>
        <p:spPr>
          <a:xfrm>
            <a:off x="594360" y="2880360"/>
            <a:ext cx="384048" cy="384048"/>
          </a:xfrm>
          <a:prstGeom prst="ellipse">
            <a:avLst/>
          </a:prstGeom>
          <a:solidFill>
            <a:srgbClr val="2DD4A7"/>
          </a:solidFill>
          <a:ln w="12700">
            <a:solidFill>
              <a:srgbClr val="0F1C1A"/>
            </a:solidFill>
            <a:prstDash val="solid"/>
          </a:ln>
        </p:spPr>
        <p:txBody>
          <a:bodyPr/>
          <a:lstStyle/>
          <a:p>
            <a:endParaRPr/>
          </a:p>
        </p:txBody>
      </p:sp>
      <p:sp>
        <p:nvSpPr>
          <p:cNvPr id="14" name="Text 12"/>
          <p:cNvSpPr txBox="1"/>
          <p:nvPr/>
        </p:nvSpPr>
        <p:spPr>
          <a:xfrm>
            <a:off x="594360" y="2880360"/>
            <a:ext cx="384048" cy="384048"/>
          </a:xfrm>
          <a:prstGeom prst="rect">
            <a:avLst/>
          </a:prstGeom>
          <a:noFill/>
          <a:ln/>
        </p:spPr>
        <p:txBody>
          <a:bodyPr wrap="square" lIns="0" tIns="0" rIns="0" bIns="0" rtlCol="0" anchor="ctr"/>
          <a:lstStyle/>
          <a:p>
            <a:pPr marL="0" indent="0" algn="ctr">
              <a:buNone/>
            </a:pPr>
            <a:r>
              <a:rPr lang="en-US" sz="1400" b="1" dirty="0">
                <a:solidFill>
                  <a:srgbClr val="0F1C1A"/>
                </a:solidFill>
              </a:rPr>
              <a:t>3</a:t>
            </a:r>
            <a:endParaRPr lang="en-US" sz="1400" dirty="0"/>
          </a:p>
        </p:txBody>
      </p:sp>
      <p:sp>
        <p:nvSpPr>
          <p:cNvPr id="15" name="Text 13"/>
          <p:cNvSpPr txBox="1"/>
          <p:nvPr/>
        </p:nvSpPr>
        <p:spPr>
          <a:xfrm>
            <a:off x="1188720" y="2816352"/>
            <a:ext cx="7315200" cy="512064"/>
          </a:xfrm>
          <a:prstGeom prst="rect">
            <a:avLst/>
          </a:prstGeom>
          <a:noFill/>
          <a:ln/>
        </p:spPr>
        <p:txBody>
          <a:bodyPr wrap="square" lIns="0" tIns="0" rIns="0" bIns="0" rtlCol="0" anchor="ctr"/>
          <a:lstStyle/>
          <a:p>
            <a:pPr marL="0" indent="0">
              <a:buNone/>
            </a:pPr>
            <a:r>
              <a:rPr lang="en-US" sz="1500" dirty="0">
                <a:solidFill>
                  <a:srgbClr val="F4F1EA"/>
                </a:solidFill>
              </a:rPr>
              <a:t>Test robustness to outliers, sample, timing and the COVID year</a:t>
            </a:r>
            <a:endParaRPr lang="en-US" sz="1500" dirty="0"/>
          </a:p>
        </p:txBody>
      </p:sp>
      <p:sp>
        <p:nvSpPr>
          <p:cNvPr id="16" name="objective card"/>
          <p:cNvSpPr/>
          <p:nvPr/>
        </p:nvSpPr>
        <p:spPr>
          <a:xfrm>
            <a:off x="457200" y="3438144"/>
            <a:ext cx="8229600" cy="512064"/>
          </a:xfrm>
          <a:prstGeom prst="roundRect">
            <a:avLst>
              <a:gd name="adj" fmla="val 12903"/>
            </a:avLst>
          </a:prstGeom>
          <a:solidFill>
            <a:srgbClr val="172B27"/>
          </a:solidFill>
          <a:ln w="9525">
            <a:solidFill>
              <a:srgbClr val="2A4540"/>
            </a:solidFill>
            <a:prstDash val="solid"/>
          </a:ln>
        </p:spPr>
        <p:txBody>
          <a:bodyPr/>
          <a:lstStyle/>
          <a:p>
            <a:endParaRPr/>
          </a:p>
        </p:txBody>
      </p:sp>
      <p:sp>
        <p:nvSpPr>
          <p:cNvPr id="17" name="objective marker"/>
          <p:cNvSpPr/>
          <p:nvPr/>
        </p:nvSpPr>
        <p:spPr>
          <a:xfrm>
            <a:off x="594360" y="3502151"/>
            <a:ext cx="384048" cy="384048"/>
          </a:xfrm>
          <a:prstGeom prst="ellipse">
            <a:avLst/>
          </a:prstGeom>
          <a:solidFill>
            <a:srgbClr val="F5B83D"/>
          </a:solidFill>
          <a:ln w="12700">
            <a:solidFill>
              <a:srgbClr val="0F1C1A"/>
            </a:solidFill>
            <a:prstDash val="solid"/>
          </a:ln>
        </p:spPr>
        <p:txBody>
          <a:bodyPr/>
          <a:lstStyle/>
          <a:p>
            <a:endParaRPr/>
          </a:p>
        </p:txBody>
      </p:sp>
      <p:sp>
        <p:nvSpPr>
          <p:cNvPr id="18" name="Text 16"/>
          <p:cNvSpPr txBox="1"/>
          <p:nvPr/>
        </p:nvSpPr>
        <p:spPr>
          <a:xfrm>
            <a:off x="594360" y="3502151"/>
            <a:ext cx="384048" cy="384048"/>
          </a:xfrm>
          <a:prstGeom prst="rect">
            <a:avLst/>
          </a:prstGeom>
          <a:noFill/>
          <a:ln/>
        </p:spPr>
        <p:txBody>
          <a:bodyPr wrap="square" lIns="0" tIns="0" rIns="0" bIns="0" rtlCol="0" anchor="ctr"/>
          <a:lstStyle/>
          <a:p>
            <a:pPr marL="0" indent="0" algn="ctr">
              <a:buNone/>
            </a:pPr>
            <a:r>
              <a:rPr lang="en-US" sz="1400" b="1" dirty="0">
                <a:solidFill>
                  <a:srgbClr val="0F1C1A"/>
                </a:solidFill>
              </a:rPr>
              <a:t>4</a:t>
            </a:r>
            <a:endParaRPr lang="en-US" sz="1400" dirty="0"/>
          </a:p>
        </p:txBody>
      </p:sp>
      <p:sp>
        <p:nvSpPr>
          <p:cNvPr id="19" name="Text 17"/>
          <p:cNvSpPr txBox="1"/>
          <p:nvPr/>
        </p:nvSpPr>
        <p:spPr>
          <a:xfrm>
            <a:off x="1188720" y="3438144"/>
            <a:ext cx="7315200" cy="512064"/>
          </a:xfrm>
          <a:prstGeom prst="rect">
            <a:avLst/>
          </a:prstGeom>
          <a:noFill/>
          <a:ln/>
        </p:spPr>
        <p:txBody>
          <a:bodyPr wrap="square" lIns="0" tIns="0" rIns="0" bIns="0" rtlCol="0" anchor="ctr"/>
          <a:lstStyle/>
          <a:p>
            <a:pPr marL="0" indent="0">
              <a:buNone/>
            </a:pPr>
            <a:r>
              <a:rPr lang="en-US" sz="1500" dirty="0">
                <a:solidFill>
                  <a:srgbClr val="F4F1EA"/>
                </a:solidFill>
              </a:rPr>
              <a:t>Identify whether any robust link reflects spending or GSDP growth</a:t>
            </a:r>
            <a:endParaRPr lang="en-US" sz="1500" dirty="0"/>
          </a:p>
        </p:txBody>
      </p:sp>
      <p:sp>
        <p:nvSpPr>
          <p:cNvPr id="20" name="objective card"/>
          <p:cNvSpPr/>
          <p:nvPr/>
        </p:nvSpPr>
        <p:spPr>
          <a:xfrm>
            <a:off x="457200" y="4059936"/>
            <a:ext cx="8229600" cy="512064"/>
          </a:xfrm>
          <a:prstGeom prst="roundRect">
            <a:avLst>
              <a:gd name="adj" fmla="val 12903"/>
            </a:avLst>
          </a:prstGeom>
          <a:solidFill>
            <a:srgbClr val="172B27"/>
          </a:solidFill>
          <a:ln w="9525">
            <a:solidFill>
              <a:srgbClr val="2A4540"/>
            </a:solidFill>
            <a:prstDash val="solid"/>
          </a:ln>
        </p:spPr>
        <p:txBody>
          <a:bodyPr/>
          <a:lstStyle/>
          <a:p>
            <a:endParaRPr/>
          </a:p>
        </p:txBody>
      </p:sp>
      <p:sp>
        <p:nvSpPr>
          <p:cNvPr id="21" name="objective marker"/>
          <p:cNvSpPr/>
          <p:nvPr/>
        </p:nvSpPr>
        <p:spPr>
          <a:xfrm>
            <a:off x="594360" y="4123944"/>
            <a:ext cx="384048" cy="384048"/>
          </a:xfrm>
          <a:prstGeom prst="ellipse">
            <a:avLst/>
          </a:prstGeom>
          <a:solidFill>
            <a:srgbClr val="2DD4A7"/>
          </a:solidFill>
          <a:ln w="12700">
            <a:solidFill>
              <a:srgbClr val="0F1C1A"/>
            </a:solidFill>
            <a:prstDash val="solid"/>
          </a:ln>
        </p:spPr>
        <p:txBody>
          <a:bodyPr/>
          <a:lstStyle/>
          <a:p>
            <a:endParaRPr/>
          </a:p>
        </p:txBody>
      </p:sp>
      <p:sp>
        <p:nvSpPr>
          <p:cNvPr id="22" name="Text 20"/>
          <p:cNvSpPr txBox="1"/>
          <p:nvPr/>
        </p:nvSpPr>
        <p:spPr>
          <a:xfrm>
            <a:off x="594360" y="4123944"/>
            <a:ext cx="384048" cy="384048"/>
          </a:xfrm>
          <a:prstGeom prst="rect">
            <a:avLst/>
          </a:prstGeom>
          <a:noFill/>
          <a:ln/>
        </p:spPr>
        <p:txBody>
          <a:bodyPr wrap="square" lIns="0" tIns="0" rIns="0" bIns="0" rtlCol="0" anchor="ctr"/>
          <a:lstStyle/>
          <a:p>
            <a:pPr marL="0" indent="0" algn="ctr">
              <a:buNone/>
            </a:pPr>
            <a:r>
              <a:rPr lang="en-US" sz="1400" b="1" dirty="0">
                <a:solidFill>
                  <a:srgbClr val="0F1C1A"/>
                </a:solidFill>
              </a:rPr>
              <a:t>5</a:t>
            </a:r>
            <a:endParaRPr lang="en-US" sz="1400" dirty="0"/>
          </a:p>
        </p:txBody>
      </p:sp>
      <p:sp>
        <p:nvSpPr>
          <p:cNvPr id="23" name="Text 21"/>
          <p:cNvSpPr txBox="1"/>
          <p:nvPr/>
        </p:nvSpPr>
        <p:spPr>
          <a:xfrm>
            <a:off x="1188720" y="4059936"/>
            <a:ext cx="7315200" cy="512064"/>
          </a:xfrm>
          <a:prstGeom prst="rect">
            <a:avLst/>
          </a:prstGeom>
          <a:noFill/>
          <a:ln/>
        </p:spPr>
        <p:txBody>
          <a:bodyPr wrap="square" lIns="0" tIns="0" rIns="0" bIns="0" rtlCol="0" anchor="ctr"/>
          <a:lstStyle/>
          <a:p>
            <a:pPr marL="0" indent="0">
              <a:buNone/>
            </a:pPr>
            <a:r>
              <a:rPr lang="en-US" sz="1500" dirty="0">
                <a:solidFill>
                  <a:srgbClr val="F4F1EA"/>
                </a:solidFill>
              </a:rPr>
              <a:t>Assess convergence and COVID shock and recovery</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marL="0" indent="0">
              <a:buNone/>
            </a:pPr>
            <a:r>
              <a:rPr lang="en-US" sz="2400" b="1" dirty="0">
                <a:solidFill>
                  <a:srgbClr val="F4F1EA"/>
                </a:solidFill>
                <a:latin typeface="Cambria" pitchFamily="34" charset="0"/>
                <a:ea typeface="Cambria" pitchFamily="34" charset="-122"/>
                <a:cs typeface="Cambria" pitchFamily="34" charset="-120"/>
              </a:rPr>
              <a:t>Hypotheses</a:t>
            </a:r>
            <a:endParaRPr lang="en-US" sz="2400" dirty="0"/>
          </a:p>
        </p:txBody>
      </p:sp>
      <p:sp>
        <p:nvSpPr>
          <p:cNvPr id="3" name="Text 1"/>
          <p:cNvSpPr txBox="1"/>
          <p:nvPr/>
        </p:nvSpPr>
        <p:spPr>
          <a:xfrm>
            <a:off x="457200" y="777240"/>
            <a:ext cx="8229600" cy="274320"/>
          </a:xfrm>
          <a:prstGeom prst="rect">
            <a:avLst/>
          </a:prstGeom>
          <a:noFill/>
          <a:ln/>
        </p:spPr>
        <p:txBody>
          <a:bodyPr wrap="square" lIns="0" tIns="0" rIns="0" bIns="0" rtlCol="0" anchor="ctr"/>
          <a:lstStyle/>
          <a:p>
            <a:pPr marL="0" indent="0">
              <a:buNone/>
            </a:pPr>
            <a:r>
              <a:rPr lang="en-US" sz="1300" dirty="0">
                <a:solidFill>
                  <a:srgbClr val="9DB5AE"/>
                </a:solidFill>
              </a:rPr>
              <a:t>H1 and H2 are one-sided (positive); H3 to H5 are two-sided, at the 5% level</a:t>
            </a:r>
            <a:endParaRPr lang="en-US" sz="1300" dirty="0"/>
          </a:p>
        </p:txBody>
      </p:sp>
      <p:sp>
        <p:nvSpPr>
          <p:cNvPr id="4" name="hypothesis card"/>
          <p:cNvSpPr/>
          <p:nvPr/>
        </p:nvSpPr>
        <p:spPr>
          <a:xfrm>
            <a:off x="457200" y="1280160"/>
            <a:ext cx="8229600" cy="548640"/>
          </a:xfrm>
          <a:prstGeom prst="roundRect">
            <a:avLst>
              <a:gd name="adj" fmla="val 13333"/>
            </a:avLst>
          </a:prstGeom>
          <a:solidFill>
            <a:srgbClr val="172B27"/>
          </a:solidFill>
          <a:ln w="9525">
            <a:solidFill>
              <a:srgbClr val="2A4540"/>
            </a:solidFill>
            <a:prstDash val="solid"/>
          </a:ln>
        </p:spPr>
      </p:sp>
      <p:sp>
        <p:nvSpPr>
          <p:cNvPr id="5" name="Text 3"/>
          <p:cNvSpPr txBox="1"/>
          <p:nvPr/>
        </p:nvSpPr>
        <p:spPr>
          <a:xfrm>
            <a:off x="640080" y="1280160"/>
            <a:ext cx="731520" cy="548640"/>
          </a:xfrm>
          <a:prstGeom prst="rect">
            <a:avLst/>
          </a:prstGeom>
          <a:noFill/>
          <a:ln/>
        </p:spPr>
        <p:txBody>
          <a:bodyPr wrap="square" lIns="0" tIns="0" rIns="0" bIns="0" rtlCol="0" anchor="ctr"/>
          <a:lstStyle/>
          <a:p>
            <a:pPr marL="0" indent="0">
              <a:buNone/>
            </a:pPr>
            <a:r>
              <a:rPr lang="en-US" sz="2200" b="1" dirty="0">
                <a:solidFill>
                  <a:srgbClr val="2DD4A7"/>
                </a:solidFill>
                <a:latin typeface="Cambria" pitchFamily="34" charset="0"/>
                <a:ea typeface="Cambria" pitchFamily="34" charset="-122"/>
                <a:cs typeface="Cambria" pitchFamily="34" charset="-120"/>
              </a:rPr>
              <a:t>H1</a:t>
            </a:r>
            <a:endParaRPr lang="en-US" sz="2200" dirty="0"/>
          </a:p>
        </p:txBody>
      </p:sp>
      <p:sp>
        <p:nvSpPr>
          <p:cNvPr id="6" name="Text 4"/>
          <p:cNvSpPr txBox="1"/>
          <p:nvPr/>
        </p:nvSpPr>
        <p:spPr>
          <a:xfrm>
            <a:off x="1463040" y="1280160"/>
            <a:ext cx="7040880" cy="548640"/>
          </a:xfrm>
          <a:prstGeom prst="rect">
            <a:avLst/>
          </a:prstGeom>
          <a:noFill/>
          <a:ln/>
        </p:spPr>
        <p:txBody>
          <a:bodyPr wrap="square" lIns="0" tIns="0" rIns="0" bIns="0" rtlCol="0" anchor="ctr"/>
          <a:lstStyle/>
          <a:p>
            <a:pPr marL="0" indent="0">
              <a:buNone/>
            </a:pPr>
            <a:r>
              <a:rPr lang="en-US" sz="1500" dirty="0">
                <a:solidFill>
                  <a:srgbClr val="F4F1EA"/>
                </a:solidFill>
              </a:rPr>
              <a:t>Social spending raises income (+)</a:t>
            </a:r>
            <a:endParaRPr lang="en-US" sz="1500" dirty="0"/>
          </a:p>
        </p:txBody>
      </p:sp>
      <p:sp>
        <p:nvSpPr>
          <p:cNvPr id="7" name="hypothesis card"/>
          <p:cNvSpPr/>
          <p:nvPr/>
        </p:nvSpPr>
        <p:spPr>
          <a:xfrm>
            <a:off x="457200" y="1938528"/>
            <a:ext cx="8229600" cy="548640"/>
          </a:xfrm>
          <a:prstGeom prst="roundRect">
            <a:avLst>
              <a:gd name="adj" fmla="val 13333"/>
            </a:avLst>
          </a:prstGeom>
          <a:solidFill>
            <a:srgbClr val="172B27"/>
          </a:solidFill>
          <a:ln w="9525">
            <a:solidFill>
              <a:srgbClr val="2A4540"/>
            </a:solidFill>
            <a:prstDash val="solid"/>
          </a:ln>
        </p:spPr>
      </p:sp>
      <p:sp>
        <p:nvSpPr>
          <p:cNvPr id="8" name="Text 6"/>
          <p:cNvSpPr txBox="1"/>
          <p:nvPr/>
        </p:nvSpPr>
        <p:spPr>
          <a:xfrm>
            <a:off x="640080" y="1938528"/>
            <a:ext cx="731520" cy="548640"/>
          </a:xfrm>
          <a:prstGeom prst="rect">
            <a:avLst/>
          </a:prstGeom>
          <a:noFill/>
          <a:ln/>
        </p:spPr>
        <p:txBody>
          <a:bodyPr wrap="square" lIns="0" tIns="0" rIns="0" bIns="0" rtlCol="0" anchor="ctr"/>
          <a:lstStyle/>
          <a:p>
            <a:pPr marL="0" indent="0">
              <a:buNone/>
            </a:pPr>
            <a:r>
              <a:rPr lang="en-US" sz="2200" b="1" dirty="0">
                <a:solidFill>
                  <a:srgbClr val="2DD4A7"/>
                </a:solidFill>
                <a:latin typeface="Cambria" pitchFamily="34" charset="0"/>
                <a:ea typeface="Cambria" pitchFamily="34" charset="-122"/>
                <a:cs typeface="Cambria" pitchFamily="34" charset="-120"/>
              </a:rPr>
              <a:t>H2</a:t>
            </a:r>
            <a:endParaRPr lang="en-US" sz="2200" dirty="0"/>
          </a:p>
        </p:txBody>
      </p:sp>
      <p:sp>
        <p:nvSpPr>
          <p:cNvPr id="9" name="Text 7"/>
          <p:cNvSpPr txBox="1"/>
          <p:nvPr/>
        </p:nvSpPr>
        <p:spPr>
          <a:xfrm>
            <a:off x="1463040" y="1938528"/>
            <a:ext cx="7040880" cy="548640"/>
          </a:xfrm>
          <a:prstGeom prst="rect">
            <a:avLst/>
          </a:prstGeom>
          <a:noFill/>
          <a:ln/>
        </p:spPr>
        <p:txBody>
          <a:bodyPr wrap="square" lIns="0" tIns="0" rIns="0" bIns="0" rtlCol="0" anchor="ctr"/>
          <a:lstStyle/>
          <a:p>
            <a:pPr marL="0" indent="0">
              <a:buNone/>
            </a:pPr>
            <a:r>
              <a:rPr lang="en-US" sz="1500" dirty="0">
                <a:solidFill>
                  <a:srgbClr val="F4F1EA"/>
                </a:solidFill>
              </a:rPr>
              <a:t>Capital spending raises income (+)</a:t>
            </a:r>
            <a:endParaRPr lang="en-US" sz="1500" dirty="0"/>
          </a:p>
        </p:txBody>
      </p:sp>
      <p:sp>
        <p:nvSpPr>
          <p:cNvPr id="10" name="hypothesis card"/>
          <p:cNvSpPr/>
          <p:nvPr/>
        </p:nvSpPr>
        <p:spPr>
          <a:xfrm>
            <a:off x="457200" y="2596896"/>
            <a:ext cx="8229600" cy="548640"/>
          </a:xfrm>
          <a:prstGeom prst="roundRect">
            <a:avLst>
              <a:gd name="adj" fmla="val 13333"/>
            </a:avLst>
          </a:prstGeom>
          <a:solidFill>
            <a:srgbClr val="172B27"/>
          </a:solidFill>
          <a:ln w="9525">
            <a:solidFill>
              <a:srgbClr val="2A4540"/>
            </a:solidFill>
            <a:prstDash val="solid"/>
          </a:ln>
        </p:spPr>
      </p:sp>
      <p:sp>
        <p:nvSpPr>
          <p:cNvPr id="11" name="Text 9"/>
          <p:cNvSpPr txBox="1"/>
          <p:nvPr/>
        </p:nvSpPr>
        <p:spPr>
          <a:xfrm>
            <a:off x="640080" y="2596896"/>
            <a:ext cx="731520" cy="548640"/>
          </a:xfrm>
          <a:prstGeom prst="rect">
            <a:avLst/>
          </a:prstGeom>
          <a:noFill/>
          <a:ln/>
        </p:spPr>
        <p:txBody>
          <a:bodyPr wrap="square" lIns="0" tIns="0" rIns="0" bIns="0" rtlCol="0" anchor="ctr"/>
          <a:lstStyle/>
          <a:p>
            <a:pPr marL="0" indent="0">
              <a:buNone/>
            </a:pPr>
            <a:r>
              <a:rPr lang="en-US" sz="2200" b="1" dirty="0">
                <a:solidFill>
                  <a:srgbClr val="F5B83D"/>
                </a:solidFill>
                <a:latin typeface="Cambria" pitchFamily="34" charset="0"/>
                <a:ea typeface="Cambria" pitchFamily="34" charset="-122"/>
                <a:cs typeface="Cambria" pitchFamily="34" charset="-120"/>
              </a:rPr>
              <a:t>H3</a:t>
            </a:r>
            <a:endParaRPr lang="en-US" sz="2200" dirty="0"/>
          </a:p>
        </p:txBody>
      </p:sp>
      <p:sp>
        <p:nvSpPr>
          <p:cNvPr id="12" name="Text 10"/>
          <p:cNvSpPr txBox="1"/>
          <p:nvPr/>
        </p:nvSpPr>
        <p:spPr>
          <a:xfrm>
            <a:off x="1463040" y="2596896"/>
            <a:ext cx="7040880" cy="548640"/>
          </a:xfrm>
          <a:prstGeom prst="rect">
            <a:avLst/>
          </a:prstGeom>
          <a:noFill/>
          <a:ln/>
        </p:spPr>
        <p:txBody>
          <a:bodyPr wrap="square" lIns="0" tIns="0" rIns="0" bIns="0" rtlCol="0" anchor="ctr"/>
          <a:lstStyle/>
          <a:p>
            <a:pPr marL="0" indent="0">
              <a:buNone/>
            </a:pPr>
            <a:r>
              <a:rPr lang="en-US" sz="1500" dirty="0">
                <a:solidFill>
                  <a:srgbClr val="F4F1EA"/>
                </a:solidFill>
              </a:rPr>
              <a:t>Revenue spending has a significant relationship</a:t>
            </a:r>
            <a:endParaRPr lang="en-US" sz="1500" dirty="0"/>
          </a:p>
        </p:txBody>
      </p:sp>
      <p:sp>
        <p:nvSpPr>
          <p:cNvPr id="13" name="hypothesis card"/>
          <p:cNvSpPr/>
          <p:nvPr/>
        </p:nvSpPr>
        <p:spPr>
          <a:xfrm>
            <a:off x="457200" y="3255264"/>
            <a:ext cx="8229600" cy="548640"/>
          </a:xfrm>
          <a:prstGeom prst="roundRect">
            <a:avLst>
              <a:gd name="adj" fmla="val 13333"/>
            </a:avLst>
          </a:prstGeom>
          <a:solidFill>
            <a:srgbClr val="172B27"/>
          </a:solidFill>
          <a:ln w="9525">
            <a:solidFill>
              <a:srgbClr val="2A4540"/>
            </a:solidFill>
            <a:prstDash val="solid"/>
          </a:ln>
        </p:spPr>
      </p:sp>
      <p:sp>
        <p:nvSpPr>
          <p:cNvPr id="14" name="Text 12"/>
          <p:cNvSpPr txBox="1"/>
          <p:nvPr/>
        </p:nvSpPr>
        <p:spPr>
          <a:xfrm>
            <a:off x="640080" y="3255264"/>
            <a:ext cx="731520" cy="548640"/>
          </a:xfrm>
          <a:prstGeom prst="rect">
            <a:avLst/>
          </a:prstGeom>
          <a:noFill/>
          <a:ln/>
        </p:spPr>
        <p:txBody>
          <a:bodyPr wrap="square" lIns="0" tIns="0" rIns="0" bIns="0" rtlCol="0" anchor="ctr"/>
          <a:lstStyle/>
          <a:p>
            <a:pPr marL="0" indent="0">
              <a:buNone/>
            </a:pPr>
            <a:r>
              <a:rPr lang="en-US" sz="2200" b="1" dirty="0">
                <a:solidFill>
                  <a:srgbClr val="F5B83D"/>
                </a:solidFill>
                <a:latin typeface="Cambria" pitchFamily="34" charset="0"/>
                <a:ea typeface="Cambria" pitchFamily="34" charset="-122"/>
                <a:cs typeface="Cambria" pitchFamily="34" charset="-120"/>
              </a:rPr>
              <a:t>H4</a:t>
            </a:r>
            <a:endParaRPr lang="en-US" sz="2200" dirty="0"/>
          </a:p>
        </p:txBody>
      </p:sp>
      <p:sp>
        <p:nvSpPr>
          <p:cNvPr id="15" name="Text 13"/>
          <p:cNvSpPr txBox="1"/>
          <p:nvPr/>
        </p:nvSpPr>
        <p:spPr>
          <a:xfrm>
            <a:off x="1463040" y="3255264"/>
            <a:ext cx="7040880" cy="548640"/>
          </a:xfrm>
          <a:prstGeom prst="rect">
            <a:avLst/>
          </a:prstGeom>
          <a:noFill/>
          <a:ln/>
        </p:spPr>
        <p:txBody>
          <a:bodyPr wrap="square" lIns="0" tIns="0" rIns="0" bIns="0" rtlCol="0" anchor="ctr"/>
          <a:lstStyle/>
          <a:p>
            <a:pPr marL="0" indent="0">
              <a:buNone/>
            </a:pPr>
            <a:r>
              <a:rPr lang="en-US" sz="1500" dirty="0">
                <a:solidFill>
                  <a:srgbClr val="F4F1EA"/>
                </a:solidFill>
              </a:rPr>
              <a:t>Fiscal deficit has a significant relationship</a:t>
            </a:r>
            <a:endParaRPr lang="en-US" sz="1500" dirty="0"/>
          </a:p>
        </p:txBody>
      </p:sp>
      <p:sp>
        <p:nvSpPr>
          <p:cNvPr id="16" name="hypothesis card"/>
          <p:cNvSpPr/>
          <p:nvPr/>
        </p:nvSpPr>
        <p:spPr>
          <a:xfrm>
            <a:off x="457200" y="3913632"/>
            <a:ext cx="8229600" cy="548640"/>
          </a:xfrm>
          <a:prstGeom prst="roundRect">
            <a:avLst>
              <a:gd name="adj" fmla="val 13333"/>
            </a:avLst>
          </a:prstGeom>
          <a:solidFill>
            <a:srgbClr val="172B27"/>
          </a:solidFill>
          <a:ln w="9525">
            <a:solidFill>
              <a:srgbClr val="2A4540"/>
            </a:solidFill>
            <a:prstDash val="solid"/>
          </a:ln>
        </p:spPr>
      </p:sp>
      <p:sp>
        <p:nvSpPr>
          <p:cNvPr id="17" name="Text 15"/>
          <p:cNvSpPr txBox="1"/>
          <p:nvPr/>
        </p:nvSpPr>
        <p:spPr>
          <a:xfrm>
            <a:off x="640080" y="3913632"/>
            <a:ext cx="731520" cy="548640"/>
          </a:xfrm>
          <a:prstGeom prst="rect">
            <a:avLst/>
          </a:prstGeom>
          <a:noFill/>
          <a:ln/>
        </p:spPr>
        <p:txBody>
          <a:bodyPr wrap="square" lIns="0" tIns="0" rIns="0" bIns="0" rtlCol="0" anchor="ctr"/>
          <a:lstStyle/>
          <a:p>
            <a:pPr marL="0" indent="0">
              <a:buNone/>
            </a:pPr>
            <a:r>
              <a:rPr lang="en-US" sz="2200" b="1" dirty="0">
                <a:solidFill>
                  <a:srgbClr val="F5B83D"/>
                </a:solidFill>
                <a:latin typeface="Cambria" pitchFamily="34" charset="0"/>
                <a:ea typeface="Cambria" pitchFamily="34" charset="-122"/>
                <a:cs typeface="Cambria" pitchFamily="34" charset="-120"/>
              </a:rPr>
              <a:t>H5</a:t>
            </a:r>
            <a:endParaRPr lang="en-US" sz="2200" dirty="0"/>
          </a:p>
        </p:txBody>
      </p:sp>
      <p:sp>
        <p:nvSpPr>
          <p:cNvPr id="18" name="Text 16"/>
          <p:cNvSpPr txBox="1"/>
          <p:nvPr/>
        </p:nvSpPr>
        <p:spPr>
          <a:xfrm>
            <a:off x="1463040" y="3913632"/>
            <a:ext cx="7040880" cy="548640"/>
          </a:xfrm>
          <a:prstGeom prst="rect">
            <a:avLst/>
          </a:prstGeom>
          <a:noFill/>
          <a:ln/>
        </p:spPr>
        <p:txBody>
          <a:bodyPr wrap="square" lIns="0" tIns="0" rIns="0" bIns="0" rtlCol="0" anchor="ctr"/>
          <a:lstStyle/>
          <a:p>
            <a:pPr marL="0" indent="0">
              <a:buNone/>
            </a:pPr>
            <a:r>
              <a:rPr lang="en-US" sz="1500" dirty="0">
                <a:solidFill>
                  <a:srgbClr val="F4F1EA"/>
                </a:solidFill>
              </a:rPr>
              <a:t>Outstanding liabilities have a significant relationship</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 number"/>
          <p:cNvSpPr txBox="1"/>
          <p:nvPr/>
        </p:nvSpPr>
        <p:spPr>
          <a:xfrm>
            <a:off x="548640" y="1325880"/>
            <a:ext cx="2743200" cy="822960"/>
          </a:xfrm>
          <a:prstGeom prst="rect">
            <a:avLst/>
          </a:prstGeom>
          <a:noFill/>
        </p:spPr>
        <p:txBody>
          <a:bodyPr wrap="square" lIns="0" tIns="0" rIns="0" bIns="0" anchor="t">
            <a:spAutoFit/>
          </a:bodyPr>
          <a:lstStyle/>
          <a:p>
            <a:pPr algn="l"/>
            <a:r>
              <a:rPr sz="5400" b="1" i="0">
                <a:solidFill>
                  <a:srgbClr val="2DD4A7"/>
                </a:solidFill>
                <a:latin typeface="Cambria"/>
              </a:rPr>
              <a:t>01</a:t>
            </a:r>
          </a:p>
        </p:txBody>
      </p:sp>
      <p:sp>
        <p:nvSpPr>
          <p:cNvPr id="3" name="Title"/>
          <p:cNvSpPr txBox="1"/>
          <p:nvPr/>
        </p:nvSpPr>
        <p:spPr>
          <a:xfrm>
            <a:off x="548640" y="2240280"/>
            <a:ext cx="7680960" cy="640080"/>
          </a:xfrm>
          <a:prstGeom prst="rect">
            <a:avLst/>
          </a:prstGeom>
          <a:noFill/>
        </p:spPr>
        <p:txBody>
          <a:bodyPr wrap="square" lIns="0" tIns="0" rIns="0" bIns="0" anchor="t">
            <a:spAutoFit/>
          </a:bodyPr>
          <a:lstStyle/>
          <a:p>
            <a:pPr algn="l"/>
            <a:r>
              <a:rPr sz="3400" b="1" i="0">
                <a:solidFill>
                  <a:srgbClr val="F4F1EA"/>
                </a:solidFill>
                <a:latin typeface="Cambria"/>
              </a:rPr>
              <a:t>Data and method</a:t>
            </a:r>
          </a:p>
        </p:txBody>
      </p:sp>
      <p:sp>
        <p:nvSpPr>
          <p:cNvPr id="4" name="Subtitle"/>
          <p:cNvSpPr txBox="1"/>
          <p:nvPr/>
        </p:nvSpPr>
        <p:spPr>
          <a:xfrm>
            <a:off x="548640" y="3017520"/>
            <a:ext cx="7132320" cy="548640"/>
          </a:xfrm>
          <a:prstGeom prst="rect">
            <a:avLst/>
          </a:prstGeom>
          <a:noFill/>
        </p:spPr>
        <p:txBody>
          <a:bodyPr wrap="square" lIns="0" tIns="0" rIns="0" bIns="0" anchor="t">
            <a:spAutoFit/>
          </a:bodyPr>
          <a:lstStyle/>
          <a:p>
            <a:pPr algn="l"/>
            <a:r>
              <a:rPr sz="1400" b="0" i="0">
                <a:solidFill>
                  <a:srgbClr val="9DB5AE"/>
                </a:solidFill>
              </a:rPr>
              <a:t>How the panel was built and checked before any model was run</a:t>
            </a:r>
          </a:p>
        </p:txBody>
      </p:sp>
      <p:sp>
        <p:nvSpPr>
          <p:cNvPr id="5" name="progress dot"/>
          <p:cNvSpPr/>
          <p:nvPr/>
        </p:nvSpPr>
        <p:spPr>
          <a:xfrm>
            <a:off x="548640" y="4343400"/>
            <a:ext cx="128016" cy="128016"/>
          </a:xfrm>
          <a:prstGeom prst="ellipse">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rogress dot"/>
          <p:cNvSpPr/>
          <p:nvPr/>
        </p:nvSpPr>
        <p:spPr>
          <a:xfrm>
            <a:off x="804672" y="4343400"/>
            <a:ext cx="128016" cy="128016"/>
          </a:xfrm>
          <a:prstGeom prst="ellipse">
            <a:avLst/>
          </a:prstGeom>
          <a:solidFill>
            <a:srgbClr val="2A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rogress dot"/>
          <p:cNvSpPr/>
          <p:nvPr/>
        </p:nvSpPr>
        <p:spPr>
          <a:xfrm>
            <a:off x="1060704" y="4343400"/>
            <a:ext cx="128016" cy="128016"/>
          </a:xfrm>
          <a:prstGeom prst="ellipse">
            <a:avLst/>
          </a:prstGeom>
          <a:solidFill>
            <a:srgbClr val="2A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progress dot"/>
          <p:cNvSpPr/>
          <p:nvPr/>
        </p:nvSpPr>
        <p:spPr>
          <a:xfrm>
            <a:off x="1316736" y="4343400"/>
            <a:ext cx="128016" cy="128016"/>
          </a:xfrm>
          <a:prstGeom prst="ellipse">
            <a:avLst/>
          </a:prstGeom>
          <a:solidFill>
            <a:srgbClr val="2A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progress dot"/>
          <p:cNvSpPr/>
          <p:nvPr/>
        </p:nvSpPr>
        <p:spPr>
          <a:xfrm>
            <a:off x="1572768" y="4343400"/>
            <a:ext cx="128016" cy="128016"/>
          </a:xfrm>
          <a:prstGeom prst="ellipse">
            <a:avLst/>
          </a:prstGeom>
          <a:solidFill>
            <a:srgbClr val="2A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marL="0" indent="0">
              <a:buNone/>
            </a:pPr>
            <a:r>
              <a:rPr lang="en-US" sz="2400" b="1" dirty="0">
                <a:solidFill>
                  <a:srgbClr val="F4F1EA"/>
                </a:solidFill>
                <a:latin typeface="Cambria" pitchFamily="34" charset="0"/>
                <a:ea typeface="Cambria" pitchFamily="34" charset="-122"/>
                <a:cs typeface="Cambria" pitchFamily="34" charset="-120"/>
              </a:rPr>
              <a:t>Methodology</a:t>
            </a:r>
            <a:endParaRPr lang="en-US" sz="2400" dirty="0"/>
          </a:p>
        </p:txBody>
      </p:sp>
      <p:sp>
        <p:nvSpPr>
          <p:cNvPr id="3" name="Text 1"/>
          <p:cNvSpPr txBox="1"/>
          <p:nvPr/>
        </p:nvSpPr>
        <p:spPr>
          <a:xfrm>
            <a:off x="457200" y="777240"/>
            <a:ext cx="8229600" cy="274320"/>
          </a:xfrm>
          <a:prstGeom prst="rect">
            <a:avLst/>
          </a:prstGeom>
          <a:noFill/>
          <a:ln/>
        </p:spPr>
        <p:txBody>
          <a:bodyPr wrap="square" lIns="0" tIns="0" rIns="0" bIns="0" rtlCol="0" anchor="ctr"/>
          <a:lstStyle/>
          <a:p>
            <a:pPr marL="0" indent="0">
              <a:buNone/>
            </a:pPr>
            <a:r>
              <a:rPr lang="en-US" sz="1300" dirty="0">
                <a:solidFill>
                  <a:srgbClr val="9DB5AE"/>
                </a:solidFill>
              </a:rPr>
              <a:t>Three ways to estimate, and two tests to choose between them</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6</a:t>
            </a:fld>
            <a:endParaRPr lang="en-US"/>
          </a:p>
        </p:txBody>
      </p:sp>
      <p:sp>
        <p:nvSpPr>
          <p:cNvPr id="26" name="Estimator card 1"/>
          <p:cNvSpPr/>
          <p:nvPr/>
        </p:nvSpPr>
        <p:spPr>
          <a:xfrm>
            <a:off x="457200" y="1188720"/>
            <a:ext cx="2651760" cy="1417320"/>
          </a:xfrm>
          <a:prstGeom prst="roundRect">
            <a:avLst>
              <a:gd name="adj" fmla="val 8000"/>
            </a:avLst>
          </a:prstGeom>
          <a:solidFill>
            <a:srgbClr val="172B27"/>
          </a:solidFill>
          <a:ln w="12700">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Estimator text 1"/>
          <p:cNvSpPr txBox="1"/>
          <p:nvPr/>
        </p:nvSpPr>
        <p:spPr>
          <a:xfrm>
            <a:off x="640080" y="1353312"/>
            <a:ext cx="2286000" cy="1143000"/>
          </a:xfrm>
          <a:prstGeom prst="rect">
            <a:avLst/>
          </a:prstGeom>
          <a:noFill/>
        </p:spPr>
        <p:txBody>
          <a:bodyPr wrap="square" lIns="0" tIns="0" rIns="0" bIns="0" anchor="t">
            <a:spAutoFit/>
          </a:bodyPr>
          <a:lstStyle/>
          <a:p>
            <a:pPr algn="l">
              <a:spcAft>
                <a:spcPts val="300"/>
              </a:spcAft>
            </a:pPr>
            <a:r>
              <a:rPr sz="1500" b="1">
                <a:solidFill>
                  <a:srgbClr val="F4F1EA"/>
                </a:solidFill>
                <a:latin typeface="Cambria"/>
              </a:rPr>
              <a:t>Pooled OLS</a:t>
            </a:r>
          </a:p>
          <a:p>
            <a:pPr algn="l">
              <a:spcAft>
                <a:spcPts val="300"/>
              </a:spcAft>
            </a:pPr>
            <a:r>
              <a:rPr sz="1200" b="0">
                <a:solidFill>
                  <a:srgbClr val="F4F1EA"/>
                </a:solidFill>
              </a:rPr>
              <a:t>Treats every state-year as one big sample</a:t>
            </a:r>
          </a:p>
          <a:p>
            <a:pPr algn="l">
              <a:spcAft>
                <a:spcPts val="300"/>
              </a:spcAft>
            </a:pPr>
            <a:r>
              <a:rPr sz="1100" b="1">
                <a:solidFill>
                  <a:srgbClr val="9DB5AE"/>
                </a:solidFill>
              </a:rPr>
              <a:t>Ignores differences between states</a:t>
            </a:r>
          </a:p>
        </p:txBody>
      </p:sp>
      <p:sp>
        <p:nvSpPr>
          <p:cNvPr id="28" name="Estimator card 2"/>
          <p:cNvSpPr/>
          <p:nvPr/>
        </p:nvSpPr>
        <p:spPr>
          <a:xfrm>
            <a:off x="3246120" y="1188720"/>
            <a:ext cx="2651760" cy="1417320"/>
          </a:xfrm>
          <a:prstGeom prst="roundRect">
            <a:avLst>
              <a:gd name="adj" fmla="val 8000"/>
            </a:avLst>
          </a:prstGeom>
          <a:solidFill>
            <a:srgbClr val="172B27"/>
          </a:solidFill>
          <a:ln w="12700">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Estimator text 2"/>
          <p:cNvSpPr txBox="1"/>
          <p:nvPr/>
        </p:nvSpPr>
        <p:spPr>
          <a:xfrm>
            <a:off x="3429000" y="1353312"/>
            <a:ext cx="2286000" cy="1143000"/>
          </a:xfrm>
          <a:prstGeom prst="rect">
            <a:avLst/>
          </a:prstGeom>
          <a:noFill/>
        </p:spPr>
        <p:txBody>
          <a:bodyPr wrap="square" lIns="0" tIns="0" rIns="0" bIns="0" anchor="t">
            <a:spAutoFit/>
          </a:bodyPr>
          <a:lstStyle/>
          <a:p>
            <a:pPr algn="l">
              <a:spcAft>
                <a:spcPts val="300"/>
              </a:spcAft>
            </a:pPr>
            <a:r>
              <a:rPr sz="1500" b="1">
                <a:solidFill>
                  <a:srgbClr val="F4F1EA"/>
                </a:solidFill>
                <a:latin typeface="Cambria"/>
              </a:rPr>
              <a:t>Fixed effects</a:t>
            </a:r>
          </a:p>
          <a:p>
            <a:pPr algn="l">
              <a:spcAft>
                <a:spcPts val="300"/>
              </a:spcAft>
            </a:pPr>
            <a:r>
              <a:rPr sz="1200" b="0">
                <a:solidFill>
                  <a:srgbClr val="F4F1EA"/>
                </a:solidFill>
              </a:rPr>
              <a:t>Compares each state only with itself over time</a:t>
            </a:r>
          </a:p>
          <a:p>
            <a:pPr algn="l">
              <a:spcAft>
                <a:spcPts val="300"/>
              </a:spcAft>
            </a:pPr>
            <a:r>
              <a:rPr sz="1100" b="1">
                <a:solidFill>
                  <a:srgbClr val="9DB5AE"/>
                </a:solidFill>
              </a:rPr>
              <a:t>Removes fixed state traits</a:t>
            </a:r>
          </a:p>
        </p:txBody>
      </p:sp>
      <p:sp>
        <p:nvSpPr>
          <p:cNvPr id="30" name="Estimator card 3"/>
          <p:cNvSpPr/>
          <p:nvPr/>
        </p:nvSpPr>
        <p:spPr>
          <a:xfrm>
            <a:off x="6035040" y="1188720"/>
            <a:ext cx="2651760" cy="1417320"/>
          </a:xfrm>
          <a:prstGeom prst="roundRect">
            <a:avLst>
              <a:gd name="adj" fmla="val 8000"/>
            </a:avLst>
          </a:prstGeom>
          <a:solidFill>
            <a:srgbClr val="172B27"/>
          </a:solidFill>
          <a:ln w="22225">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Estimator text 3"/>
          <p:cNvSpPr txBox="1"/>
          <p:nvPr/>
        </p:nvSpPr>
        <p:spPr>
          <a:xfrm>
            <a:off x="6217920" y="1353312"/>
            <a:ext cx="2286000" cy="1143000"/>
          </a:xfrm>
          <a:prstGeom prst="rect">
            <a:avLst/>
          </a:prstGeom>
          <a:noFill/>
        </p:spPr>
        <p:txBody>
          <a:bodyPr wrap="square" lIns="0" tIns="0" rIns="0" bIns="0" anchor="t">
            <a:spAutoFit/>
          </a:bodyPr>
          <a:lstStyle/>
          <a:p>
            <a:pPr algn="l">
              <a:spcAft>
                <a:spcPts val="300"/>
              </a:spcAft>
            </a:pPr>
            <a:r>
              <a:rPr sz="1500" b="1">
                <a:solidFill>
                  <a:srgbClr val="F4F1EA"/>
                </a:solidFill>
                <a:latin typeface="Cambria"/>
              </a:rPr>
              <a:t>Random effects</a:t>
            </a:r>
          </a:p>
          <a:p>
            <a:pPr algn="l">
              <a:spcAft>
                <a:spcPts val="300"/>
              </a:spcAft>
            </a:pPr>
            <a:r>
              <a:rPr sz="1200" b="0">
                <a:solidFill>
                  <a:srgbClr val="F4F1EA"/>
                </a:solidFill>
              </a:rPr>
              <a:t>Uses changes within states and differences between them</a:t>
            </a:r>
          </a:p>
          <a:p>
            <a:pPr algn="l">
              <a:spcAft>
                <a:spcPts val="300"/>
              </a:spcAft>
            </a:pPr>
            <a:r>
              <a:rPr sz="1100" b="1">
                <a:solidFill>
                  <a:srgbClr val="2DD4A7"/>
                </a:solidFill>
              </a:rPr>
              <a:t>Our main model</a:t>
            </a:r>
          </a:p>
        </p:txBody>
      </p:sp>
      <p:sp>
        <p:nvSpPr>
          <p:cNvPr id="32" name="How label"/>
          <p:cNvSpPr txBox="1"/>
          <p:nvPr/>
        </p:nvSpPr>
        <p:spPr>
          <a:xfrm>
            <a:off x="457200" y="2788920"/>
            <a:ext cx="8229600" cy="228600"/>
          </a:xfrm>
          <a:prstGeom prst="rect">
            <a:avLst/>
          </a:prstGeom>
          <a:noFill/>
        </p:spPr>
        <p:txBody>
          <a:bodyPr wrap="square" lIns="0" tIns="0" rIns="0" bIns="0" anchor="t">
            <a:spAutoFit/>
          </a:bodyPr>
          <a:lstStyle/>
          <a:p>
            <a:pPr algn="l">
              <a:spcAft>
                <a:spcPts val="300"/>
              </a:spcAft>
            </a:pPr>
            <a:r>
              <a:rPr sz="1000" b="1">
                <a:solidFill>
                  <a:srgbClr val="9DB5AE"/>
                </a:solidFill>
              </a:rPr>
              <a:t>HOW WE CHOSE</a:t>
            </a:r>
          </a:p>
        </p:txBody>
      </p:sp>
      <p:sp>
        <p:nvSpPr>
          <p:cNvPr id="33" name="Step card 1"/>
          <p:cNvSpPr/>
          <p:nvPr/>
        </p:nvSpPr>
        <p:spPr>
          <a:xfrm>
            <a:off x="457200" y="3063240"/>
            <a:ext cx="4023360" cy="960120"/>
          </a:xfrm>
          <a:prstGeom prst="roundRect">
            <a:avLst>
              <a:gd name="adj" fmla="val 8000"/>
            </a:avLst>
          </a:prstGeom>
          <a:solidFill>
            <a:srgbClr val="172B27"/>
          </a:solidFill>
          <a:ln w="12700">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Step badge 1"/>
          <p:cNvSpPr/>
          <p:nvPr/>
        </p:nvSpPr>
        <p:spPr>
          <a:xfrm>
            <a:off x="621792" y="3246120"/>
            <a:ext cx="365760" cy="365760"/>
          </a:xfrm>
          <a:prstGeom prst="ellipse">
            <a:avLst/>
          </a:prstGeom>
          <a:solidFill>
            <a:srgbClr val="F5B8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F1C1A"/>
                </a:solidFill>
              </a:rPr>
              <a:t>1</a:t>
            </a:r>
          </a:p>
        </p:txBody>
      </p:sp>
      <p:sp>
        <p:nvSpPr>
          <p:cNvPr id="35" name="Step text 1"/>
          <p:cNvSpPr txBox="1"/>
          <p:nvPr/>
        </p:nvSpPr>
        <p:spPr>
          <a:xfrm>
            <a:off x="1143000" y="3182112"/>
            <a:ext cx="3154680" cy="777240"/>
          </a:xfrm>
          <a:prstGeom prst="rect">
            <a:avLst/>
          </a:prstGeom>
          <a:noFill/>
        </p:spPr>
        <p:txBody>
          <a:bodyPr wrap="square" lIns="0" tIns="0" rIns="0" bIns="0" anchor="t">
            <a:spAutoFit/>
          </a:bodyPr>
          <a:lstStyle/>
          <a:p>
            <a:pPr algn="l">
              <a:spcAft>
                <a:spcPts val="300"/>
              </a:spcAft>
            </a:pPr>
            <a:r>
              <a:rPr sz="1300" b="1">
                <a:solidFill>
                  <a:srgbClr val="F4F1EA"/>
                </a:solidFill>
              </a:rPr>
              <a:t>Do states differ from each other?</a:t>
            </a:r>
          </a:p>
          <a:p>
            <a:pPr algn="l">
              <a:spcAft>
                <a:spcPts val="300"/>
              </a:spcAft>
            </a:pPr>
            <a:r>
              <a:rPr sz="1150" b="0">
                <a:solidFill>
                  <a:srgbClr val="9DB5AE"/>
                </a:solidFill>
              </a:rPr>
              <a:t>F-test and LM test: yes, p &lt; 0.001. Pooled OLS is rejected.</a:t>
            </a:r>
          </a:p>
        </p:txBody>
      </p:sp>
      <p:sp>
        <p:nvSpPr>
          <p:cNvPr id="36" name="Step card 2"/>
          <p:cNvSpPr/>
          <p:nvPr/>
        </p:nvSpPr>
        <p:spPr>
          <a:xfrm>
            <a:off x="4663440" y="3063240"/>
            <a:ext cx="4023360" cy="960120"/>
          </a:xfrm>
          <a:prstGeom prst="roundRect">
            <a:avLst>
              <a:gd name="adj" fmla="val 8000"/>
            </a:avLst>
          </a:prstGeom>
          <a:solidFill>
            <a:srgbClr val="172B27"/>
          </a:solidFill>
          <a:ln w="12700">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Step badge 2"/>
          <p:cNvSpPr/>
          <p:nvPr/>
        </p:nvSpPr>
        <p:spPr>
          <a:xfrm>
            <a:off x="4828032" y="3246120"/>
            <a:ext cx="365760" cy="365760"/>
          </a:xfrm>
          <a:prstGeom prst="ellipse">
            <a:avLst/>
          </a:prstGeom>
          <a:solidFill>
            <a:srgbClr val="F5B8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F1C1A"/>
                </a:solidFill>
              </a:rPr>
              <a:t>2</a:t>
            </a:r>
          </a:p>
        </p:txBody>
      </p:sp>
      <p:sp>
        <p:nvSpPr>
          <p:cNvPr id="38" name="Step text 2"/>
          <p:cNvSpPr txBox="1"/>
          <p:nvPr/>
        </p:nvSpPr>
        <p:spPr>
          <a:xfrm>
            <a:off x="5349240" y="3182112"/>
            <a:ext cx="3154680" cy="777240"/>
          </a:xfrm>
          <a:prstGeom prst="rect">
            <a:avLst/>
          </a:prstGeom>
          <a:noFill/>
        </p:spPr>
        <p:txBody>
          <a:bodyPr wrap="square" lIns="0" tIns="0" rIns="0" bIns="0" anchor="t">
            <a:spAutoFit/>
          </a:bodyPr>
          <a:lstStyle/>
          <a:p>
            <a:pPr algn="l">
              <a:spcAft>
                <a:spcPts val="300"/>
              </a:spcAft>
            </a:pPr>
            <a:r>
              <a:rPr sz="1300" b="1">
                <a:solidFill>
                  <a:srgbClr val="F4F1EA"/>
                </a:solidFill>
              </a:rPr>
              <a:t>Fixed or random effects?</a:t>
            </a:r>
          </a:p>
          <a:p>
            <a:pPr algn="l">
              <a:spcAft>
                <a:spcPts val="300"/>
              </a:spcAft>
            </a:pPr>
            <a:r>
              <a:rPr sz="1150" b="0">
                <a:solidFill>
                  <a:srgbClr val="9DB5AE"/>
                </a:solidFill>
              </a:rPr>
              <a:t>Mundlak test: p = 0.055, so random effects is kept. Fixed effects gives almost the same answer.</a:t>
            </a:r>
          </a:p>
        </p:txBody>
      </p:sp>
      <p:sp>
        <p:nvSpPr>
          <p:cNvPr id="39" name="Every model strip"/>
          <p:cNvSpPr/>
          <p:nvPr/>
        </p:nvSpPr>
        <p:spPr>
          <a:xfrm>
            <a:off x="457200" y="4160520"/>
            <a:ext cx="8229600" cy="457200"/>
          </a:xfrm>
          <a:prstGeom prst="roundRect">
            <a:avLst>
              <a:gd name="adj" fmla="val 8000"/>
            </a:avLst>
          </a:prstGeom>
          <a:solidFill>
            <a:srgbClr val="132421"/>
          </a:solidFill>
          <a:ln w="12700">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Every model text"/>
          <p:cNvSpPr txBox="1"/>
          <p:nvPr/>
        </p:nvSpPr>
        <p:spPr>
          <a:xfrm>
            <a:off x="640080" y="4160520"/>
            <a:ext cx="7863840" cy="457200"/>
          </a:xfrm>
          <a:prstGeom prst="rect">
            <a:avLst/>
          </a:prstGeom>
          <a:noFill/>
        </p:spPr>
        <p:txBody>
          <a:bodyPr wrap="square" lIns="0" tIns="0" rIns="0" bIns="0" anchor="ctr">
            <a:spAutoFit/>
          </a:bodyPr>
          <a:lstStyle/>
          <a:p>
            <a:pPr algn="l">
              <a:spcAft>
                <a:spcPts val="300"/>
              </a:spcAft>
            </a:pPr>
            <a:r>
              <a:rPr sz="1200" b="1">
                <a:solidFill>
                  <a:srgbClr val="2DD4A7"/>
                </a:solidFill>
              </a:rPr>
              <a:t>In every model: </a:t>
            </a:r>
            <a:r>
              <a:rPr sz="1200" b="0">
                <a:solidFill>
                  <a:srgbClr val="F4F1EA"/>
                </a:solidFill>
              </a:rPr>
              <a:t>year effects absorb shocks common to all states, such as COVID; errors are clustered by state.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8229600" cy="502920"/>
          </a:xfrm>
          <a:prstGeom prst="rect">
            <a:avLst/>
          </a:prstGeom>
          <a:noFill/>
        </p:spPr>
        <p:txBody>
          <a:bodyPr wrap="square" lIns="0" tIns="0" rIns="0" bIns="0" anchor="t">
            <a:spAutoFit/>
          </a:bodyPr>
          <a:lstStyle/>
          <a:p>
            <a:pPr algn="l"/>
            <a:r>
              <a:rPr sz="2400" b="1" i="0">
                <a:solidFill>
                  <a:srgbClr val="F4F1EA"/>
                </a:solidFill>
                <a:latin typeface="Cambria"/>
              </a:rPr>
              <a:t>Raw accounts to a stress-tested estimate</a:t>
            </a:r>
          </a:p>
        </p:txBody>
      </p:sp>
      <p:sp>
        <p:nvSpPr>
          <p:cNvPr id="3" name="Subtitle"/>
          <p:cNvSpPr txBox="1"/>
          <p:nvPr/>
        </p:nvSpPr>
        <p:spPr>
          <a:xfrm>
            <a:off x="457200" y="777240"/>
            <a:ext cx="8229600" cy="274320"/>
          </a:xfrm>
          <a:prstGeom prst="rect">
            <a:avLst/>
          </a:prstGeom>
          <a:noFill/>
        </p:spPr>
        <p:txBody>
          <a:bodyPr wrap="square" lIns="0" tIns="0" rIns="0" bIns="0" anchor="ctr">
            <a:spAutoFit/>
          </a:bodyPr>
          <a:lstStyle/>
          <a:p>
            <a:pPr algn="l"/>
            <a:r>
              <a:rPr sz="1300" b="0" i="0">
                <a:solidFill>
                  <a:srgbClr val="9DB5AE"/>
                </a:solidFill>
              </a:rPr>
              <a:t>How we built the evidence: six steps from state accounts to a panel estimate</a:t>
            </a:r>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7</a:t>
            </a:fld>
            <a:endParaRPr lang="en-US"/>
          </a:p>
        </p:txBody>
      </p:sp>
      <p:sp>
        <p:nvSpPr>
          <p:cNvPr id="26" name="step card"/>
          <p:cNvSpPr/>
          <p:nvPr/>
        </p:nvSpPr>
        <p:spPr>
          <a:xfrm>
            <a:off x="457200" y="1188720"/>
            <a:ext cx="2651760" cy="1261872"/>
          </a:xfrm>
          <a:prstGeom prst="roundRect">
            <a:avLst>
              <a:gd name="adj" fmla="val 4347"/>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4360" y="1298448"/>
            <a:ext cx="2377440" cy="411480"/>
          </a:xfrm>
          <a:prstGeom prst="rect">
            <a:avLst/>
          </a:prstGeom>
          <a:noFill/>
        </p:spPr>
        <p:txBody>
          <a:bodyPr wrap="square" lIns="0" tIns="0" rIns="0" bIns="0" anchor="ctr">
            <a:spAutoFit/>
          </a:bodyPr>
          <a:lstStyle/>
          <a:p>
            <a:pPr algn="l"/>
            <a:r>
              <a:rPr sz="2400" b="1" i="0">
                <a:solidFill>
                  <a:srgbClr val="2DD4A7"/>
                </a:solidFill>
                <a:latin typeface="Cambria"/>
              </a:rPr>
              <a:t>341</a:t>
            </a:r>
          </a:p>
        </p:txBody>
      </p:sp>
      <p:sp>
        <p:nvSpPr>
          <p:cNvPr id="28" name="TextBox 27"/>
          <p:cNvSpPr txBox="1"/>
          <p:nvPr/>
        </p:nvSpPr>
        <p:spPr>
          <a:xfrm>
            <a:off x="594360" y="1737360"/>
            <a:ext cx="2377440" cy="228600"/>
          </a:xfrm>
          <a:prstGeom prst="rect">
            <a:avLst/>
          </a:prstGeom>
          <a:noFill/>
        </p:spPr>
        <p:txBody>
          <a:bodyPr wrap="square" lIns="0" tIns="0" rIns="0" bIns="0" anchor="t">
            <a:spAutoFit/>
          </a:bodyPr>
          <a:lstStyle/>
          <a:p>
            <a:pPr algn="l"/>
            <a:r>
              <a:rPr sz="1200" b="1" i="0">
                <a:solidFill>
                  <a:srgbClr val="F4F1EA"/>
                </a:solidFill>
              </a:rPr>
              <a:t>Clean the panel</a:t>
            </a:r>
          </a:p>
        </p:txBody>
      </p:sp>
      <p:sp>
        <p:nvSpPr>
          <p:cNvPr id="29" name="TextBox 28"/>
          <p:cNvSpPr txBox="1"/>
          <p:nvPr/>
        </p:nvSpPr>
        <p:spPr>
          <a:xfrm>
            <a:off x="594360" y="1984248"/>
            <a:ext cx="2377440" cy="457200"/>
          </a:xfrm>
          <a:prstGeom prst="rect">
            <a:avLst/>
          </a:prstGeom>
          <a:noFill/>
        </p:spPr>
        <p:txBody>
          <a:bodyPr wrap="square" lIns="0" tIns="0" rIns="0" bIns="0" anchor="t">
            <a:spAutoFit/>
          </a:bodyPr>
          <a:lstStyle/>
          <a:p>
            <a:pPr algn="l"/>
            <a:r>
              <a:rPr sz="1000" b="0" i="0">
                <a:solidFill>
                  <a:srgbClr val="9DB5AE"/>
                </a:solidFill>
              </a:rPr>
              <a:t>31 states/UTs × 11 years of income, spending, deficit and debt</a:t>
            </a:r>
          </a:p>
        </p:txBody>
      </p:sp>
      <p:sp>
        <p:nvSpPr>
          <p:cNvPr id="30" name="step card"/>
          <p:cNvSpPr/>
          <p:nvPr/>
        </p:nvSpPr>
        <p:spPr>
          <a:xfrm>
            <a:off x="3246120" y="1188720"/>
            <a:ext cx="2651760" cy="1261872"/>
          </a:xfrm>
          <a:prstGeom prst="roundRect">
            <a:avLst>
              <a:gd name="adj" fmla="val 4347"/>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383279" y="1298448"/>
            <a:ext cx="2377440" cy="411480"/>
          </a:xfrm>
          <a:prstGeom prst="rect">
            <a:avLst/>
          </a:prstGeom>
          <a:noFill/>
        </p:spPr>
        <p:txBody>
          <a:bodyPr wrap="square" lIns="0" tIns="0" rIns="0" bIns="0" anchor="ctr">
            <a:spAutoFit/>
          </a:bodyPr>
          <a:lstStyle/>
          <a:p>
            <a:pPr algn="l"/>
            <a:r>
              <a:rPr sz="2400" b="1" i="0">
                <a:solidFill>
                  <a:srgbClr val="2DD4A7"/>
                </a:solidFill>
                <a:latin typeface="Cambria"/>
              </a:rPr>
              <a:t>5</a:t>
            </a:r>
          </a:p>
        </p:txBody>
      </p:sp>
      <p:sp>
        <p:nvSpPr>
          <p:cNvPr id="32" name="TextBox 31"/>
          <p:cNvSpPr txBox="1"/>
          <p:nvPr/>
        </p:nvSpPr>
        <p:spPr>
          <a:xfrm>
            <a:off x="3383279" y="1737360"/>
            <a:ext cx="2377440" cy="228600"/>
          </a:xfrm>
          <a:prstGeom prst="rect">
            <a:avLst/>
          </a:prstGeom>
          <a:noFill/>
        </p:spPr>
        <p:txBody>
          <a:bodyPr wrap="square" lIns="0" tIns="0" rIns="0" bIns="0" anchor="t">
            <a:spAutoFit/>
          </a:bodyPr>
          <a:lstStyle/>
          <a:p>
            <a:pPr algn="l"/>
            <a:r>
              <a:rPr sz="1200" b="1" i="0">
                <a:solidFill>
                  <a:srgbClr val="F4F1EA"/>
                </a:solidFill>
              </a:rPr>
              <a:t>Build fiscal ratios</a:t>
            </a:r>
          </a:p>
        </p:txBody>
      </p:sp>
      <p:sp>
        <p:nvSpPr>
          <p:cNvPr id="33" name="TextBox 32"/>
          <p:cNvSpPr txBox="1"/>
          <p:nvPr/>
        </p:nvSpPr>
        <p:spPr>
          <a:xfrm>
            <a:off x="3383279" y="1984248"/>
            <a:ext cx="2377440" cy="457200"/>
          </a:xfrm>
          <a:prstGeom prst="rect">
            <a:avLst/>
          </a:prstGeom>
          <a:noFill/>
        </p:spPr>
        <p:txBody>
          <a:bodyPr wrap="square" lIns="0" tIns="0" rIns="0" bIns="0" anchor="t">
            <a:spAutoFit/>
          </a:bodyPr>
          <a:lstStyle/>
          <a:p>
            <a:pPr algn="l"/>
            <a:r>
              <a:rPr sz="1000" b="0" i="0">
                <a:solidFill>
                  <a:srgbClr val="9DB5AE"/>
                </a:solidFill>
              </a:rPr>
              <a:t>Spending, deficit and liabilities over current-price GSDP</a:t>
            </a:r>
          </a:p>
        </p:txBody>
      </p:sp>
      <p:sp>
        <p:nvSpPr>
          <p:cNvPr id="34" name="step card"/>
          <p:cNvSpPr/>
          <p:nvPr/>
        </p:nvSpPr>
        <p:spPr>
          <a:xfrm>
            <a:off x="6035040" y="1188720"/>
            <a:ext cx="2651760" cy="1261872"/>
          </a:xfrm>
          <a:prstGeom prst="roundRect">
            <a:avLst>
              <a:gd name="adj" fmla="val 4347"/>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172200" y="1298448"/>
            <a:ext cx="2377440" cy="411480"/>
          </a:xfrm>
          <a:prstGeom prst="rect">
            <a:avLst/>
          </a:prstGeom>
          <a:noFill/>
        </p:spPr>
        <p:txBody>
          <a:bodyPr wrap="square" lIns="0" tIns="0" rIns="0" bIns="0" anchor="ctr">
            <a:spAutoFit/>
          </a:bodyPr>
          <a:lstStyle/>
          <a:p>
            <a:pPr algn="l"/>
            <a:r>
              <a:rPr sz="2400" b="1" i="0">
                <a:solidFill>
                  <a:srgbClr val="2DD4A7"/>
                </a:solidFill>
                <a:latin typeface="Cambria"/>
              </a:rPr>
              <a:t>11</a:t>
            </a:r>
          </a:p>
        </p:txBody>
      </p:sp>
      <p:sp>
        <p:nvSpPr>
          <p:cNvPr id="36" name="TextBox 35"/>
          <p:cNvSpPr txBox="1"/>
          <p:nvPr/>
        </p:nvSpPr>
        <p:spPr>
          <a:xfrm>
            <a:off x="6172200" y="1737360"/>
            <a:ext cx="2377440" cy="228600"/>
          </a:xfrm>
          <a:prstGeom prst="rect">
            <a:avLst/>
          </a:prstGeom>
          <a:noFill/>
        </p:spPr>
        <p:txBody>
          <a:bodyPr wrap="square" lIns="0" tIns="0" rIns="0" bIns="0" anchor="t">
            <a:spAutoFit/>
          </a:bodyPr>
          <a:lstStyle/>
          <a:p>
            <a:pPr algn="l"/>
            <a:r>
              <a:rPr sz="1200" b="1" i="0">
                <a:solidFill>
                  <a:srgbClr val="F4F1EA"/>
                </a:solidFill>
              </a:rPr>
              <a:t>Audit anomalies</a:t>
            </a:r>
          </a:p>
        </p:txBody>
      </p:sp>
      <p:sp>
        <p:nvSpPr>
          <p:cNvPr id="37" name="TextBox 36"/>
          <p:cNvSpPr txBox="1"/>
          <p:nvPr/>
        </p:nvSpPr>
        <p:spPr>
          <a:xfrm>
            <a:off x="6172200" y="1984248"/>
            <a:ext cx="2377440" cy="457200"/>
          </a:xfrm>
          <a:prstGeom prst="rect">
            <a:avLst/>
          </a:prstGeom>
          <a:noFill/>
        </p:spPr>
        <p:txBody>
          <a:bodyPr wrap="square" lIns="0" tIns="0" rIns="0" bIns="0" anchor="t">
            <a:spAutoFit/>
          </a:bodyPr>
          <a:lstStyle/>
          <a:p>
            <a:pPr algn="l"/>
            <a:r>
              <a:rPr sz="1000" b="0" i="0">
                <a:solidFill>
                  <a:srgbClr val="9DB5AE"/>
                </a:solidFill>
              </a:rPr>
              <a:t>Liability ratios &gt;2× or &lt;½ the state median flagged</a:t>
            </a:r>
          </a:p>
        </p:txBody>
      </p:sp>
      <p:sp>
        <p:nvSpPr>
          <p:cNvPr id="38" name="step card"/>
          <p:cNvSpPr/>
          <p:nvPr/>
        </p:nvSpPr>
        <p:spPr>
          <a:xfrm>
            <a:off x="457200" y="2560320"/>
            <a:ext cx="2651760" cy="1261872"/>
          </a:xfrm>
          <a:prstGeom prst="roundRect">
            <a:avLst>
              <a:gd name="adj" fmla="val 4347"/>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94360" y="2670048"/>
            <a:ext cx="2377440" cy="411480"/>
          </a:xfrm>
          <a:prstGeom prst="rect">
            <a:avLst/>
          </a:prstGeom>
          <a:noFill/>
        </p:spPr>
        <p:txBody>
          <a:bodyPr wrap="square" lIns="0" tIns="0" rIns="0" bIns="0" anchor="ctr">
            <a:spAutoFit/>
          </a:bodyPr>
          <a:lstStyle/>
          <a:p>
            <a:pPr algn="l"/>
            <a:r>
              <a:rPr sz="2400" b="1" i="0">
                <a:solidFill>
                  <a:srgbClr val="F5B83D"/>
                </a:solidFill>
                <a:latin typeface="Cambria"/>
              </a:rPr>
              <a:t>5 × 3</a:t>
            </a:r>
          </a:p>
        </p:txBody>
      </p:sp>
      <p:sp>
        <p:nvSpPr>
          <p:cNvPr id="40" name="TextBox 39"/>
          <p:cNvSpPr txBox="1"/>
          <p:nvPr/>
        </p:nvSpPr>
        <p:spPr>
          <a:xfrm>
            <a:off x="594360" y="3108960"/>
            <a:ext cx="2377440" cy="228600"/>
          </a:xfrm>
          <a:prstGeom prst="rect">
            <a:avLst/>
          </a:prstGeom>
          <a:noFill/>
        </p:spPr>
        <p:txBody>
          <a:bodyPr wrap="square" lIns="0" tIns="0" rIns="0" bIns="0" anchor="t">
            <a:spAutoFit/>
          </a:bodyPr>
          <a:lstStyle/>
          <a:p>
            <a:pPr algn="l"/>
            <a:r>
              <a:rPr sz="1200" b="1" i="0">
                <a:solidFill>
                  <a:srgbClr val="F4F1EA"/>
                </a:solidFill>
              </a:rPr>
              <a:t>Estimate</a:t>
            </a:r>
          </a:p>
        </p:txBody>
      </p:sp>
      <p:sp>
        <p:nvSpPr>
          <p:cNvPr id="41" name="TextBox 40"/>
          <p:cNvSpPr txBox="1"/>
          <p:nvPr/>
        </p:nvSpPr>
        <p:spPr>
          <a:xfrm>
            <a:off x="594360" y="3355848"/>
            <a:ext cx="2377440" cy="457200"/>
          </a:xfrm>
          <a:prstGeom prst="rect">
            <a:avLst/>
          </a:prstGeom>
          <a:noFill/>
        </p:spPr>
        <p:txBody>
          <a:bodyPr wrap="square" lIns="0" tIns="0" rIns="0" bIns="0" anchor="t">
            <a:spAutoFit/>
          </a:bodyPr>
          <a:lstStyle/>
          <a:p>
            <a:pPr algn="l"/>
            <a:r>
              <a:rPr sz="1000" b="0" i="0">
                <a:solidFill>
                  <a:srgbClr val="9DB5AE"/>
                </a:solidFill>
              </a:rPr>
              <a:t>5 specifications × pooled OLS, fixed and random effects</a:t>
            </a:r>
          </a:p>
        </p:txBody>
      </p:sp>
      <p:sp>
        <p:nvSpPr>
          <p:cNvPr id="42" name="step card"/>
          <p:cNvSpPr/>
          <p:nvPr/>
        </p:nvSpPr>
        <p:spPr>
          <a:xfrm>
            <a:off x="3246120" y="2560320"/>
            <a:ext cx="2651760" cy="1261872"/>
          </a:xfrm>
          <a:prstGeom prst="roundRect">
            <a:avLst>
              <a:gd name="adj" fmla="val 4347"/>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383279" y="2670048"/>
            <a:ext cx="2377440" cy="411480"/>
          </a:xfrm>
          <a:prstGeom prst="rect">
            <a:avLst/>
          </a:prstGeom>
          <a:noFill/>
        </p:spPr>
        <p:txBody>
          <a:bodyPr wrap="square" lIns="0" tIns="0" rIns="0" bIns="0" anchor="ctr">
            <a:spAutoFit/>
          </a:bodyPr>
          <a:lstStyle/>
          <a:p>
            <a:pPr algn="l"/>
            <a:r>
              <a:rPr sz="2400" b="1" i="0">
                <a:solidFill>
                  <a:srgbClr val="2DD4A7"/>
                </a:solidFill>
                <a:latin typeface="Cambria"/>
              </a:rPr>
              <a:t>6</a:t>
            </a:r>
          </a:p>
        </p:txBody>
      </p:sp>
      <p:sp>
        <p:nvSpPr>
          <p:cNvPr id="44" name="TextBox 43"/>
          <p:cNvSpPr txBox="1"/>
          <p:nvPr/>
        </p:nvSpPr>
        <p:spPr>
          <a:xfrm>
            <a:off x="3383279" y="3108960"/>
            <a:ext cx="2377440" cy="228600"/>
          </a:xfrm>
          <a:prstGeom prst="rect">
            <a:avLst/>
          </a:prstGeom>
          <a:noFill/>
        </p:spPr>
        <p:txBody>
          <a:bodyPr wrap="square" lIns="0" tIns="0" rIns="0" bIns="0" anchor="t">
            <a:spAutoFit/>
          </a:bodyPr>
          <a:lstStyle/>
          <a:p>
            <a:pPr algn="l"/>
            <a:r>
              <a:rPr sz="1200" b="1" i="0">
                <a:solidFill>
                  <a:srgbClr val="F4F1EA"/>
                </a:solidFill>
              </a:rPr>
              <a:t>Try to break it</a:t>
            </a:r>
          </a:p>
        </p:txBody>
      </p:sp>
      <p:sp>
        <p:nvSpPr>
          <p:cNvPr id="45" name="TextBox 44"/>
          <p:cNvSpPr txBox="1"/>
          <p:nvPr/>
        </p:nvSpPr>
        <p:spPr>
          <a:xfrm>
            <a:off x="3383279" y="3355848"/>
            <a:ext cx="2377440" cy="457200"/>
          </a:xfrm>
          <a:prstGeom prst="rect">
            <a:avLst/>
          </a:prstGeom>
          <a:noFill/>
        </p:spPr>
        <p:txBody>
          <a:bodyPr wrap="square" lIns="0" tIns="0" rIns="0" bIns="0" anchor="t">
            <a:spAutoFit/>
          </a:bodyPr>
          <a:lstStyle/>
          <a:p>
            <a:pPr algn="l"/>
            <a:r>
              <a:rPr sz="1000" b="0" i="0">
                <a:solidFill>
                  <a:srgbClr val="9DB5AE"/>
                </a:solidFill>
              </a:rPr>
              <a:t>Winsorise, drop states, lag, add split dummy, drop COVID year</a:t>
            </a:r>
          </a:p>
        </p:txBody>
      </p:sp>
      <p:sp>
        <p:nvSpPr>
          <p:cNvPr id="46" name="step card"/>
          <p:cNvSpPr/>
          <p:nvPr/>
        </p:nvSpPr>
        <p:spPr>
          <a:xfrm>
            <a:off x="6035040" y="2560320"/>
            <a:ext cx="2651760" cy="1261872"/>
          </a:xfrm>
          <a:prstGeom prst="roundRect">
            <a:avLst>
              <a:gd name="adj" fmla="val 4347"/>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172200" y="2670048"/>
            <a:ext cx="2377440" cy="411480"/>
          </a:xfrm>
          <a:prstGeom prst="rect">
            <a:avLst/>
          </a:prstGeom>
          <a:noFill/>
        </p:spPr>
        <p:txBody>
          <a:bodyPr wrap="square" lIns="0" tIns="0" rIns="0" bIns="0" anchor="ctr">
            <a:spAutoFit/>
          </a:bodyPr>
          <a:lstStyle/>
          <a:p>
            <a:pPr algn="l"/>
            <a:r>
              <a:rPr sz="2400" b="1" i="0">
                <a:solidFill>
                  <a:srgbClr val="B79CFF"/>
                </a:solidFill>
                <a:latin typeface="Cambria"/>
              </a:rPr>
              <a:t>3</a:t>
            </a:r>
          </a:p>
        </p:txBody>
      </p:sp>
      <p:sp>
        <p:nvSpPr>
          <p:cNvPr id="48" name="TextBox 47"/>
          <p:cNvSpPr txBox="1"/>
          <p:nvPr/>
        </p:nvSpPr>
        <p:spPr>
          <a:xfrm>
            <a:off x="6172200" y="3108960"/>
            <a:ext cx="2377440" cy="228600"/>
          </a:xfrm>
          <a:prstGeom prst="rect">
            <a:avLst/>
          </a:prstGeom>
          <a:noFill/>
        </p:spPr>
        <p:txBody>
          <a:bodyPr wrap="square" lIns="0" tIns="0" rIns="0" bIns="0" anchor="t">
            <a:spAutoFit/>
          </a:bodyPr>
          <a:lstStyle/>
          <a:p>
            <a:pPr algn="l"/>
            <a:r>
              <a:rPr sz="1200" b="1" i="0">
                <a:solidFill>
                  <a:srgbClr val="F4F1EA"/>
                </a:solidFill>
              </a:rPr>
              <a:t>Extend</a:t>
            </a:r>
          </a:p>
        </p:txBody>
      </p:sp>
      <p:sp>
        <p:nvSpPr>
          <p:cNvPr id="49" name="TextBox 48"/>
          <p:cNvSpPr txBox="1"/>
          <p:nvPr/>
        </p:nvSpPr>
        <p:spPr>
          <a:xfrm>
            <a:off x="6172200" y="3355848"/>
            <a:ext cx="2377440" cy="457200"/>
          </a:xfrm>
          <a:prstGeom prst="rect">
            <a:avLst/>
          </a:prstGeom>
          <a:noFill/>
        </p:spPr>
        <p:txBody>
          <a:bodyPr wrap="square" lIns="0" tIns="0" rIns="0" bIns="0" anchor="t">
            <a:spAutoFit/>
          </a:bodyPr>
          <a:lstStyle/>
          <a:p>
            <a:pPr algn="l"/>
            <a:r>
              <a:rPr sz="1000" b="0" i="0">
                <a:solidFill>
                  <a:srgbClr val="9DB5AE"/>
                </a:solidFill>
              </a:rPr>
              <a:t>Mechanism, convergence and COVID shock-recovery tests</a:t>
            </a:r>
          </a:p>
        </p:txBody>
      </p:sp>
      <p:sp>
        <p:nvSpPr>
          <p:cNvPr id="50" name="info card"/>
          <p:cNvSpPr/>
          <p:nvPr/>
        </p:nvSpPr>
        <p:spPr>
          <a:xfrm>
            <a:off x="457200" y="3977639"/>
            <a:ext cx="4041648" cy="731520"/>
          </a:xfrm>
          <a:prstGeom prst="roundRect">
            <a:avLst>
              <a:gd name="adj" fmla="val 7500"/>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94360" y="4069079"/>
            <a:ext cx="3767328" cy="182880"/>
          </a:xfrm>
          <a:prstGeom prst="rect">
            <a:avLst/>
          </a:prstGeom>
          <a:noFill/>
        </p:spPr>
        <p:txBody>
          <a:bodyPr wrap="square" lIns="0" tIns="0" rIns="0" bIns="0" anchor="t">
            <a:spAutoFit/>
          </a:bodyPr>
          <a:lstStyle/>
          <a:p>
            <a:pPr algn="l"/>
            <a:r>
              <a:rPr sz="900" b="1" i="0">
                <a:solidFill>
                  <a:srgbClr val="F5B83D"/>
                </a:solidFill>
              </a:rPr>
              <a:t>OUTCOME</a:t>
            </a:r>
          </a:p>
        </p:txBody>
      </p:sp>
      <p:sp>
        <p:nvSpPr>
          <p:cNvPr id="52" name="TextBox 51"/>
          <p:cNvSpPr txBox="1"/>
          <p:nvPr/>
        </p:nvSpPr>
        <p:spPr>
          <a:xfrm>
            <a:off x="594360" y="4288536"/>
            <a:ext cx="3767328" cy="347472"/>
          </a:xfrm>
          <a:prstGeom prst="rect">
            <a:avLst/>
          </a:prstGeom>
          <a:noFill/>
        </p:spPr>
        <p:txBody>
          <a:bodyPr wrap="square" lIns="0" tIns="0" rIns="0" bIns="0" anchor="t">
            <a:spAutoFit/>
          </a:bodyPr>
          <a:lstStyle/>
          <a:p>
            <a:pPr algn="l">
              <a:spcAft>
                <a:spcPts val="200"/>
              </a:spcAft>
            </a:pPr>
            <a:r>
              <a:rPr sz="1050" b="0" i="0">
                <a:solidFill>
                  <a:srgbClr val="F4F1EA"/>
                </a:solidFill>
              </a:rPr>
              <a:t>ln per-capita NSDP, constant 2011–12 prices (real income per person, logged)</a:t>
            </a:r>
          </a:p>
        </p:txBody>
      </p:sp>
      <p:sp>
        <p:nvSpPr>
          <p:cNvPr id="53" name="info card"/>
          <p:cNvSpPr/>
          <p:nvPr/>
        </p:nvSpPr>
        <p:spPr>
          <a:xfrm>
            <a:off x="4645152" y="3977639"/>
            <a:ext cx="4041648" cy="731520"/>
          </a:xfrm>
          <a:prstGeom prst="roundRect">
            <a:avLst>
              <a:gd name="adj" fmla="val 7500"/>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782312" y="4069079"/>
            <a:ext cx="3767328" cy="182880"/>
          </a:xfrm>
          <a:prstGeom prst="rect">
            <a:avLst/>
          </a:prstGeom>
          <a:noFill/>
        </p:spPr>
        <p:txBody>
          <a:bodyPr wrap="square" lIns="0" tIns="0" rIns="0" bIns="0" anchor="t">
            <a:spAutoFit/>
          </a:bodyPr>
          <a:lstStyle/>
          <a:p>
            <a:pPr algn="l"/>
            <a:r>
              <a:rPr sz="900" b="1" i="0">
                <a:solidFill>
                  <a:srgbClr val="F5B83D"/>
                </a:solidFill>
              </a:rPr>
              <a:t>FISCAL PREDICTORS (% OF CURRENT-PRICE GSDP)</a:t>
            </a:r>
          </a:p>
        </p:txBody>
      </p:sp>
      <p:sp>
        <p:nvSpPr>
          <p:cNvPr id="55" name="TextBox 54"/>
          <p:cNvSpPr txBox="1"/>
          <p:nvPr/>
        </p:nvSpPr>
        <p:spPr>
          <a:xfrm>
            <a:off x="4782312" y="4288536"/>
            <a:ext cx="3767328" cy="347472"/>
          </a:xfrm>
          <a:prstGeom prst="rect">
            <a:avLst/>
          </a:prstGeom>
          <a:noFill/>
        </p:spPr>
        <p:txBody>
          <a:bodyPr wrap="square" lIns="0" tIns="0" rIns="0" bIns="0" anchor="t">
            <a:spAutoFit/>
          </a:bodyPr>
          <a:lstStyle/>
          <a:p>
            <a:pPr algn="l">
              <a:spcAft>
                <a:spcPts val="200"/>
              </a:spcAft>
            </a:pPr>
            <a:r>
              <a:rPr sz="1050" b="0" i="0">
                <a:solidFill>
                  <a:srgbClr val="F4F1EA"/>
                </a:solidFill>
              </a:rPr>
              <a:t>Revenue · Capital · Social-sector · Deficit · Liabilities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8229600" cy="502920"/>
          </a:xfrm>
          <a:prstGeom prst="rect">
            <a:avLst/>
          </a:prstGeom>
          <a:noFill/>
        </p:spPr>
        <p:txBody>
          <a:bodyPr wrap="square" lIns="0" tIns="0" rIns="0" bIns="0" anchor="t">
            <a:spAutoFit/>
          </a:bodyPr>
          <a:lstStyle/>
          <a:p>
            <a:pPr algn="l"/>
            <a:r>
              <a:rPr sz="2400" b="1" i="0">
                <a:solidFill>
                  <a:srgbClr val="F4F1EA"/>
                </a:solidFill>
                <a:latin typeface="Cambria"/>
              </a:rPr>
              <a:t>We audited first: 11 liability values flagged</a:t>
            </a:r>
          </a:p>
        </p:txBody>
      </p:sp>
      <p:sp>
        <p:nvSpPr>
          <p:cNvPr id="3" name="Subtitle"/>
          <p:cNvSpPr txBox="1"/>
          <p:nvPr/>
        </p:nvSpPr>
        <p:spPr>
          <a:xfrm>
            <a:off x="457200" y="777240"/>
            <a:ext cx="8229600" cy="274320"/>
          </a:xfrm>
          <a:prstGeom prst="rect">
            <a:avLst/>
          </a:prstGeom>
          <a:noFill/>
        </p:spPr>
        <p:txBody>
          <a:bodyPr wrap="square" lIns="0" tIns="0" rIns="0" bIns="0" anchor="ctr">
            <a:spAutoFit/>
          </a:bodyPr>
          <a:lstStyle/>
          <a:p>
            <a:pPr algn="l"/>
            <a:r>
              <a:rPr sz="1300" b="0" i="0">
                <a:solidFill>
                  <a:srgbClr val="9DB5AE"/>
                </a:solidFill>
              </a:rPr>
              <a:t>Each panel is one state's liabilities-to-GSDP series; orange points are spikes or breaks</a:t>
            </a:r>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8</a:t>
            </a:fld>
            <a:endParaRPr lang="en-US"/>
          </a:p>
        </p:txBody>
      </p:sp>
      <p:sp>
        <p:nvSpPr>
          <p:cNvPr id="26" name="figure panel"/>
          <p:cNvSpPr/>
          <p:nvPr/>
        </p:nvSpPr>
        <p:spPr>
          <a:xfrm>
            <a:off x="457200" y="1188720"/>
            <a:ext cx="5669280" cy="3474720"/>
          </a:xfrm>
          <a:prstGeom prst="roundRect">
            <a:avLst>
              <a:gd name="adj" fmla="val 2105"/>
            </a:avLst>
          </a:prstGeom>
          <a:solidFill>
            <a:srgbClr val="FFFFFF"/>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Flagged liability series by state" descr="Flagged liability series by state"/>
          <p:cNvPicPr>
            <a:picLocks noChangeAspect="1"/>
          </p:cNvPicPr>
          <p:nvPr/>
        </p:nvPicPr>
        <p:blipFill>
          <a:blip r:embed="rId3"/>
          <a:stretch>
            <a:fillRect/>
          </a:stretch>
        </p:blipFill>
        <p:spPr>
          <a:xfrm>
            <a:off x="548640" y="1629489"/>
            <a:ext cx="5486400" cy="2593181"/>
          </a:xfrm>
          <a:prstGeom prst="rect">
            <a:avLst/>
          </a:prstGeom>
        </p:spPr>
      </p:pic>
      <p:sp>
        <p:nvSpPr>
          <p:cNvPr id="28" name="kpi card"/>
          <p:cNvSpPr/>
          <p:nvPr/>
        </p:nvSpPr>
        <p:spPr>
          <a:xfrm>
            <a:off x="6355080" y="1188720"/>
            <a:ext cx="2331720" cy="1097280"/>
          </a:xfrm>
          <a:prstGeom prst="roundRect">
            <a:avLst>
              <a:gd name="adj" fmla="val 5000"/>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92240" y="1261872"/>
            <a:ext cx="2057400" cy="457200"/>
          </a:xfrm>
          <a:prstGeom prst="rect">
            <a:avLst/>
          </a:prstGeom>
          <a:noFill/>
        </p:spPr>
        <p:txBody>
          <a:bodyPr wrap="square" lIns="0" tIns="0" rIns="0" bIns="0" anchor="ctr">
            <a:spAutoFit/>
          </a:bodyPr>
          <a:lstStyle/>
          <a:p>
            <a:pPr algn="l"/>
            <a:r>
              <a:rPr sz="3000" b="1" i="0">
                <a:solidFill>
                  <a:srgbClr val="F5B83D"/>
                </a:solidFill>
                <a:latin typeface="Cambria"/>
              </a:rPr>
              <a:t>11</a:t>
            </a:r>
          </a:p>
        </p:txBody>
      </p:sp>
      <p:sp>
        <p:nvSpPr>
          <p:cNvPr id="30" name="TextBox 29"/>
          <p:cNvSpPr txBox="1"/>
          <p:nvPr/>
        </p:nvSpPr>
        <p:spPr>
          <a:xfrm>
            <a:off x="6492240" y="1755648"/>
            <a:ext cx="2057400" cy="475487"/>
          </a:xfrm>
          <a:prstGeom prst="rect">
            <a:avLst/>
          </a:prstGeom>
          <a:noFill/>
        </p:spPr>
        <p:txBody>
          <a:bodyPr wrap="square" lIns="0" tIns="0" rIns="0" bIns="0" anchor="t">
            <a:spAutoFit/>
          </a:bodyPr>
          <a:lstStyle/>
          <a:p>
            <a:pPr algn="l"/>
            <a:r>
              <a:rPr sz="1050" b="0" i="0">
                <a:solidFill>
                  <a:srgbClr val="9DB5AE"/>
                </a:solidFill>
              </a:rPr>
              <a:t>state-year liability values flagged as spikes or breaks</a:t>
            </a:r>
          </a:p>
        </p:txBody>
      </p:sp>
      <p:sp>
        <p:nvSpPr>
          <p:cNvPr id="31" name="info card"/>
          <p:cNvSpPr/>
          <p:nvPr/>
        </p:nvSpPr>
        <p:spPr>
          <a:xfrm>
            <a:off x="6355080" y="2377440"/>
            <a:ext cx="2331720" cy="2286000"/>
          </a:xfrm>
          <a:prstGeom prst="roundRect">
            <a:avLst>
              <a:gd name="adj" fmla="val 2400"/>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92240" y="2468880"/>
            <a:ext cx="2057400" cy="182880"/>
          </a:xfrm>
          <a:prstGeom prst="rect">
            <a:avLst/>
          </a:prstGeom>
          <a:noFill/>
        </p:spPr>
        <p:txBody>
          <a:bodyPr wrap="square" lIns="0" tIns="0" rIns="0" bIns="0" anchor="t">
            <a:spAutoFit/>
          </a:bodyPr>
          <a:lstStyle/>
          <a:p>
            <a:pPr algn="l"/>
            <a:r>
              <a:rPr sz="900" b="1" i="0">
                <a:solidFill>
                  <a:srgbClr val="9DB5AE"/>
                </a:solidFill>
              </a:rPr>
              <a:t>WHAT WE DID ABOUT IT</a:t>
            </a:r>
          </a:p>
        </p:txBody>
      </p:sp>
      <p:sp>
        <p:nvSpPr>
          <p:cNvPr id="33" name="TextBox 32"/>
          <p:cNvSpPr txBox="1"/>
          <p:nvPr/>
        </p:nvSpPr>
        <p:spPr>
          <a:xfrm>
            <a:off x="6492240" y="2688336"/>
            <a:ext cx="2057400" cy="1901952"/>
          </a:xfrm>
          <a:prstGeom prst="rect">
            <a:avLst/>
          </a:prstGeom>
          <a:noFill/>
        </p:spPr>
        <p:txBody>
          <a:bodyPr wrap="square" lIns="0" tIns="0" rIns="0" bIns="0" anchor="t">
            <a:spAutoFit/>
          </a:bodyPr>
          <a:lstStyle/>
          <a:p>
            <a:pPr marL="171450" indent="-171450" algn="l">
              <a:spcAft>
                <a:spcPts val="200"/>
              </a:spcAft>
              <a:buClr>
                <a:srgbClr val="2DD4A7"/>
              </a:buClr>
              <a:buChar char="•"/>
            </a:pPr>
            <a:r>
              <a:rPr sz="1050" b="0" i="0">
                <a:solidFill>
                  <a:srgbClr val="F4F1EA"/>
                </a:solidFill>
              </a:rPr>
              <a:t>Flagged and documented every value</a:t>
            </a:r>
          </a:p>
          <a:p>
            <a:pPr marL="171450" indent="-171450" algn="l">
              <a:spcAft>
                <a:spcPts val="200"/>
              </a:spcAft>
              <a:buClr>
                <a:srgbClr val="2DD4A7"/>
              </a:buClr>
              <a:buChar char="•"/>
            </a:pPr>
            <a:r>
              <a:rPr sz="1050" b="0" i="0">
                <a:solidFill>
                  <a:srgbClr val="F4F1EA"/>
                </a:solidFill>
              </a:rPr>
              <a:t>Winsorised 1%/99% as a robustness check</a:t>
            </a:r>
          </a:p>
          <a:p>
            <a:pPr marL="171450" indent="-171450" algn="l">
              <a:spcAft>
                <a:spcPts val="200"/>
              </a:spcAft>
              <a:buClr>
                <a:srgbClr val="2DD4A7"/>
              </a:buClr>
              <a:buChar char="•"/>
            </a:pPr>
            <a:r>
              <a:rPr sz="1050" b="0" i="0">
                <a:solidFill>
                  <a:srgbClr val="F4F1EA"/>
                </a:solidFill>
              </a:rPr>
              <a:t>Logged ratios (Spec E) to tame skew</a:t>
            </a:r>
          </a:p>
          <a:p>
            <a:pPr marL="171450" indent="-171450" algn="l">
              <a:spcAft>
                <a:spcPts val="200"/>
              </a:spcAft>
              <a:buClr>
                <a:srgbClr val="2DD4A7"/>
              </a:buClr>
              <a:buChar char="•"/>
            </a:pPr>
            <a:r>
              <a:rPr sz="1050" b="0" i="0">
                <a:solidFill>
                  <a:srgbClr val="F4F1EA"/>
                </a:solidFill>
              </a:rPr>
              <a:t>Left missing denominators missing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marL="0" indent="0">
              <a:buNone/>
            </a:pPr>
            <a:r>
              <a:rPr lang="en-US" sz="2400" b="1" dirty="0">
                <a:solidFill>
                  <a:srgbClr val="F4F1EA"/>
                </a:solidFill>
                <a:latin typeface="Cambria" pitchFamily="34" charset="0"/>
                <a:ea typeface="Cambria" pitchFamily="34" charset="-122"/>
                <a:cs typeface="Cambria" pitchFamily="34" charset="-120"/>
              </a:rPr>
              <a:t>Variable construction</a:t>
            </a:r>
            <a:endParaRPr lang="en-US" sz="2400" dirty="0"/>
          </a:p>
        </p:txBody>
      </p:sp>
      <p:sp>
        <p:nvSpPr>
          <p:cNvPr id="3" name="Text 1"/>
          <p:cNvSpPr txBox="1"/>
          <p:nvPr/>
        </p:nvSpPr>
        <p:spPr>
          <a:xfrm>
            <a:off x="457200" y="777240"/>
            <a:ext cx="8229600" cy="274320"/>
          </a:xfrm>
          <a:prstGeom prst="rect">
            <a:avLst/>
          </a:prstGeom>
          <a:noFill/>
          <a:ln/>
        </p:spPr>
        <p:txBody>
          <a:bodyPr wrap="square" lIns="0" tIns="0" rIns="0" bIns="0" rtlCol="0" anchor="ctr"/>
          <a:lstStyle/>
          <a:p>
            <a:pPr marL="0" indent="0">
              <a:buNone/>
            </a:pPr>
            <a:r>
              <a:rPr lang="en-US" sz="1300" dirty="0">
                <a:solidFill>
                  <a:srgbClr val="9DB5AE"/>
                </a:solidFill>
              </a:rPr>
              <a:t>All fiscal variables are shares of current-price GSDP</a:t>
            </a:r>
            <a:endParaRPr lang="en-US" sz="1300" dirty="0"/>
          </a:p>
        </p:txBody>
      </p:sp>
      <p:graphicFrame>
        <p:nvGraphicFramePr>
          <p:cNvPr id="7" name="variable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3218688"/>
        </p:xfrm>
        <a:graphic>
          <a:graphicData uri="http://schemas.openxmlformats.org/drawingml/2006/table">
            <a:tbl>
              <a:tblPr/>
              <a:tblGrid>
                <a:gridCol w="237744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tblGrid>
              <a:tr h="402336">
                <a:tc>
                  <a:txBody>
                    <a:bodyPr/>
                    <a:lstStyle/>
                    <a:p>
                      <a:pPr marL="0" indent="0">
                        <a:buNone/>
                      </a:pPr>
                      <a:r>
                        <a:rPr lang="en-US" sz="1100" b="1" dirty="0">
                          <a:solidFill>
                            <a:srgbClr val="0F1C1A"/>
                          </a:solidFill>
                        </a:rPr>
                        <a:t>Variable</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2DD4A7"/>
                    </a:solidFill>
                  </a:tcPr>
                </a:tc>
                <a:tc>
                  <a:txBody>
                    <a:bodyPr/>
                    <a:lstStyle/>
                    <a:p>
                      <a:pPr marL="0" indent="0">
                        <a:buNone/>
                      </a:pPr>
                      <a:r>
                        <a:rPr lang="en-US" sz="1100" b="1" dirty="0">
                          <a:solidFill>
                            <a:srgbClr val="0F1C1A"/>
                          </a:solidFill>
                        </a:rPr>
                        <a:t>Definition</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2DD4A7"/>
                    </a:solidFill>
                  </a:tcPr>
                </a:tc>
                <a:extLst>
                  <a:ext uri="{0D108BD9-81ED-4DB2-BD59-A6C34878D82A}">
                    <a16:rowId xmlns:a16="http://schemas.microsoft.com/office/drawing/2014/main" val="10000"/>
                  </a:ext>
                </a:extLst>
              </a:tr>
              <a:tr h="402336">
                <a:tc>
                  <a:txBody>
                    <a:bodyPr/>
                    <a:lstStyle/>
                    <a:p>
                      <a:pPr marL="0" indent="0">
                        <a:buNone/>
                      </a:pPr>
                      <a:r>
                        <a:rPr lang="en-US" sz="1100" b="1" dirty="0">
                          <a:solidFill>
                            <a:srgbClr val="F5B83D"/>
                          </a:solidFill>
                        </a:rPr>
                        <a:t>ln per capita NSDP</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Log of per capita NSDP, constant 2011-12 prices (outcome)</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1"/>
                  </a:ext>
                </a:extLst>
              </a:tr>
              <a:tr h="402336">
                <a:tc>
                  <a:txBody>
                    <a:bodyPr/>
                    <a:lstStyle/>
                    <a:p>
                      <a:pPr marL="0" indent="0">
                        <a:buNone/>
                      </a:pPr>
                      <a:r>
                        <a:rPr lang="en-US" sz="1100" b="1" dirty="0">
                          <a:solidFill>
                            <a:srgbClr val="F5B83D"/>
                          </a:solidFill>
                        </a:rPr>
                        <a:t>Social, capital, revenue</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Nominal expenditure / current-price GSDP</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2"/>
                  </a:ext>
                </a:extLst>
              </a:tr>
              <a:tr h="402336">
                <a:tc>
                  <a:txBody>
                    <a:bodyPr/>
                    <a:lstStyle/>
                    <a:p>
                      <a:pPr marL="0" indent="0">
                        <a:buNone/>
                      </a:pPr>
                      <a:r>
                        <a:rPr lang="en-US" sz="1100" b="1" dirty="0">
                          <a:solidFill>
                            <a:srgbClr val="F5B83D"/>
                          </a:solidFill>
                        </a:rPr>
                        <a:t>Fiscal deficit</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Fiscal deficit / current-price GSDP (can be negative)</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3"/>
                  </a:ext>
                </a:extLst>
              </a:tr>
              <a:tr h="402336">
                <a:tc>
                  <a:txBody>
                    <a:bodyPr/>
                    <a:lstStyle/>
                    <a:p>
                      <a:pPr marL="0" indent="0">
                        <a:buNone/>
                      </a:pPr>
                      <a:r>
                        <a:rPr lang="en-US" sz="1100" b="1" dirty="0">
                          <a:solidFill>
                            <a:srgbClr val="F5B83D"/>
                          </a:solidFill>
                        </a:rPr>
                        <a:t>Liabilities</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Outstanding liabilities / current-price GSDP</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4"/>
                  </a:ext>
                </a:extLst>
              </a:tr>
              <a:tr h="402336">
                <a:tc>
                  <a:txBody>
                    <a:bodyPr/>
                    <a:lstStyle/>
                    <a:p>
                      <a:pPr marL="0" indent="0">
                        <a:buNone/>
                      </a:pPr>
                      <a:r>
                        <a:rPr lang="en-US" sz="1100" b="1" dirty="0">
                          <a:solidFill>
                            <a:srgbClr val="F5B83D"/>
                          </a:solidFill>
                        </a:rPr>
                        <a:t>Total, shares</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Revenue + capital spending; social and capital shares of total</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5"/>
                  </a:ext>
                </a:extLst>
              </a:tr>
              <a:tr h="402336">
                <a:tc>
                  <a:txBody>
                    <a:bodyPr/>
                    <a:lstStyle/>
                    <a:p>
                      <a:pPr marL="0" indent="0">
                        <a:buNone/>
                      </a:pPr>
                      <a:r>
                        <a:rPr lang="en-US" sz="1100" b="1" dirty="0">
                          <a:solidFill>
                            <a:srgbClr val="F5B83D"/>
                          </a:solidFill>
                        </a:rPr>
                        <a:t>Logs and ln GSDP</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Log ratios (Spec E); log constant-price GSDP (Spec A)</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6"/>
                  </a:ext>
                </a:extLst>
              </a:tr>
              <a:tr h="402336">
                <a:tc>
                  <a:txBody>
                    <a:bodyPr/>
                    <a:lstStyle/>
                    <a:p>
                      <a:pPr marL="0" indent="0">
                        <a:buNone/>
                      </a:pPr>
                      <a:r>
                        <a:rPr lang="en-US" sz="1100" b="1" dirty="0">
                          <a:solidFill>
                            <a:srgbClr val="F5B83D"/>
                          </a:solidFill>
                        </a:rPr>
                        <a:t>post_split</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1 for Andhra Pradesh and Telangana from 2014-15</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7"/>
                  </a:ext>
                </a:extLst>
              </a:tr>
            </a:tbl>
          </a:graphicData>
        </a:graphic>
      </p:graphicFrame>
      <p:sp>
        <p:nvSpPr>
          <p:cNvPr id="5" name="Text 2"/>
          <p:cNvSpPr txBox="1"/>
          <p:nvPr/>
        </p:nvSpPr>
        <p:spPr>
          <a:xfrm>
            <a:off x="457200" y="4389120"/>
            <a:ext cx="8229600" cy="274320"/>
          </a:xfrm>
          <a:prstGeom prst="rect">
            <a:avLst/>
          </a:prstGeom>
          <a:noFill/>
          <a:ln/>
        </p:spPr>
        <p:txBody>
          <a:bodyPr wrap="square" lIns="0" tIns="0" rIns="0" bIns="0" rtlCol="0" anchor="ctr"/>
          <a:lstStyle/>
          <a:p>
            <a:pPr marL="0" indent="0">
              <a:buNone/>
            </a:pPr>
            <a:r>
              <a:rPr lang="en-US" sz="1200" dirty="0">
                <a:solidFill>
                  <a:srgbClr val="9DB5AE"/>
                </a:solidFill>
              </a:rPr>
              <a:t>A coefficient b on a fraction ratio means about b% change in income for +1 percentage point of GSDP.</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marL="0" indent="0">
              <a:buNone/>
            </a:pPr>
            <a:r>
              <a:rPr lang="en-US" sz="2400" b="1" dirty="0">
                <a:solidFill>
                  <a:srgbClr val="F4F1EA"/>
                </a:solidFill>
                <a:latin typeface="Cambria" pitchFamily="34" charset="0"/>
                <a:ea typeface="Cambria" pitchFamily="34" charset="-122"/>
                <a:cs typeface="Cambria" pitchFamily="34" charset="-120"/>
              </a:rPr>
              <a:t>Descriptive statistics</a:t>
            </a:r>
            <a:endParaRPr lang="en-US" sz="2400" dirty="0"/>
          </a:p>
        </p:txBody>
      </p:sp>
      <p:sp>
        <p:nvSpPr>
          <p:cNvPr id="3" name="Text 1"/>
          <p:cNvSpPr txBox="1"/>
          <p:nvPr/>
        </p:nvSpPr>
        <p:spPr>
          <a:xfrm>
            <a:off x="457200" y="777240"/>
            <a:ext cx="8229600" cy="274320"/>
          </a:xfrm>
          <a:prstGeom prst="rect">
            <a:avLst/>
          </a:prstGeom>
          <a:noFill/>
          <a:ln/>
        </p:spPr>
        <p:txBody>
          <a:bodyPr wrap="square" lIns="0" tIns="0" rIns="0" bIns="0" rtlCol="0" anchor="ctr"/>
          <a:lstStyle/>
          <a:p>
            <a:pPr marL="0" indent="0">
              <a:buNone/>
            </a:pPr>
            <a:r>
              <a:rPr lang="en-US" sz="1300" dirty="0">
                <a:solidFill>
                  <a:srgbClr val="9DB5AE"/>
                </a:solidFill>
              </a:rPr>
              <a:t>Per capita income is highly dispersed; spending ratios are right-skewed</a:t>
            </a:r>
            <a:endParaRPr lang="en-US" sz="1300" dirty="0"/>
          </a:p>
        </p:txBody>
      </p:sp>
      <p:graphicFrame>
        <p:nvGraphicFramePr>
          <p:cNvPr id="10" name="descriptives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3072384"/>
        </p:xfrm>
        <a:graphic>
          <a:graphicData uri="http://schemas.openxmlformats.org/drawingml/2006/table">
            <a:tbl>
              <a:tblPr/>
              <a:tblGrid>
                <a:gridCol w="27432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438912">
                <a:tc>
                  <a:txBody>
                    <a:bodyPr/>
                    <a:lstStyle/>
                    <a:p>
                      <a:pPr marL="0" indent="0">
                        <a:buNone/>
                      </a:pPr>
                      <a:r>
                        <a:rPr lang="en-US" sz="1100" b="1" dirty="0">
                          <a:solidFill>
                            <a:srgbClr val="0F1C1A"/>
                          </a:solidFill>
                        </a:rPr>
                        <a:t>Variable</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2DD4A7"/>
                    </a:solidFill>
                  </a:tcPr>
                </a:tc>
                <a:tc>
                  <a:txBody>
                    <a:bodyPr/>
                    <a:lstStyle/>
                    <a:p>
                      <a:pPr marL="0" indent="0">
                        <a:buNone/>
                      </a:pPr>
                      <a:r>
                        <a:rPr lang="en-US" sz="1100" b="1" dirty="0">
                          <a:solidFill>
                            <a:srgbClr val="0F1C1A"/>
                          </a:solidFill>
                        </a:rPr>
                        <a:t>N</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2DD4A7"/>
                    </a:solidFill>
                  </a:tcPr>
                </a:tc>
                <a:tc>
                  <a:txBody>
                    <a:bodyPr/>
                    <a:lstStyle/>
                    <a:p>
                      <a:pPr marL="0" indent="0">
                        <a:buNone/>
                      </a:pPr>
                      <a:r>
                        <a:rPr lang="en-US" sz="1100" b="1" dirty="0">
                          <a:solidFill>
                            <a:srgbClr val="0F1C1A"/>
                          </a:solidFill>
                        </a:rPr>
                        <a:t>Mean</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2DD4A7"/>
                    </a:solidFill>
                  </a:tcPr>
                </a:tc>
                <a:tc>
                  <a:txBody>
                    <a:bodyPr/>
                    <a:lstStyle/>
                    <a:p>
                      <a:pPr marL="0" indent="0">
                        <a:buNone/>
                      </a:pPr>
                      <a:r>
                        <a:rPr lang="en-US" sz="1100" b="1" dirty="0">
                          <a:solidFill>
                            <a:srgbClr val="0F1C1A"/>
                          </a:solidFill>
                        </a:rPr>
                        <a:t>Std. dev.</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2DD4A7"/>
                    </a:solidFill>
                  </a:tcPr>
                </a:tc>
                <a:tc>
                  <a:txBody>
                    <a:bodyPr/>
                    <a:lstStyle/>
                    <a:p>
                      <a:pPr marL="0" indent="0">
                        <a:buNone/>
                      </a:pPr>
                      <a:r>
                        <a:rPr lang="en-US" sz="1100" b="1" dirty="0">
                          <a:solidFill>
                            <a:srgbClr val="0F1C1A"/>
                          </a:solidFill>
                        </a:rPr>
                        <a:t>Min</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2DD4A7"/>
                    </a:solidFill>
                  </a:tcPr>
                </a:tc>
                <a:tc>
                  <a:txBody>
                    <a:bodyPr/>
                    <a:lstStyle/>
                    <a:p>
                      <a:pPr marL="0" indent="0">
                        <a:buNone/>
                      </a:pPr>
                      <a:r>
                        <a:rPr lang="en-US" sz="1100" b="1" dirty="0">
                          <a:solidFill>
                            <a:srgbClr val="0F1C1A"/>
                          </a:solidFill>
                        </a:rPr>
                        <a:t>Max</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2DD4A7"/>
                    </a:solidFill>
                  </a:tcPr>
                </a:tc>
                <a:extLst>
                  <a:ext uri="{0D108BD9-81ED-4DB2-BD59-A6C34878D82A}">
                    <a16:rowId xmlns:a16="http://schemas.microsoft.com/office/drawing/2014/main" val="10000"/>
                  </a:ext>
                </a:extLst>
              </a:tr>
              <a:tr h="438912">
                <a:tc>
                  <a:txBody>
                    <a:bodyPr/>
                    <a:lstStyle/>
                    <a:p>
                      <a:pPr marL="0" indent="0">
                        <a:buNone/>
                      </a:pPr>
                      <a:r>
                        <a:rPr lang="en-US" sz="1100" b="1" dirty="0">
                          <a:solidFill>
                            <a:srgbClr val="F5B83D"/>
                          </a:solidFill>
                        </a:rPr>
                        <a:t>Per capita NSDP (Rs)</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341</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101,644</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58,428</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21,750</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313,973</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1"/>
                  </a:ext>
                </a:extLst>
              </a:tr>
              <a:tr h="438912">
                <a:tc>
                  <a:txBody>
                    <a:bodyPr/>
                    <a:lstStyle/>
                    <a:p>
                      <a:pPr marL="0" indent="0">
                        <a:buNone/>
                      </a:pPr>
                      <a:r>
                        <a:rPr lang="en-US" sz="1100" b="1" dirty="0">
                          <a:solidFill>
                            <a:srgbClr val="F5B83D"/>
                          </a:solidFill>
                        </a:rPr>
                        <a:t>Social sector / GSDP</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305</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9.6%</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4.5%</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3.2%</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25.3%</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2"/>
                  </a:ext>
                </a:extLst>
              </a:tr>
              <a:tr h="438912">
                <a:tc>
                  <a:txBody>
                    <a:bodyPr/>
                    <a:lstStyle/>
                    <a:p>
                      <a:pPr marL="0" indent="0">
                        <a:buNone/>
                      </a:pPr>
                      <a:r>
                        <a:rPr lang="en-US" sz="1100" b="1" dirty="0">
                          <a:solidFill>
                            <a:srgbClr val="F5B83D"/>
                          </a:solidFill>
                        </a:rPr>
                        <a:t>Capital exp. / GSDP</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305</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5.0%</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3.3%</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1.1%</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24.8%</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3"/>
                  </a:ext>
                </a:extLst>
              </a:tr>
              <a:tr h="438912">
                <a:tc>
                  <a:txBody>
                    <a:bodyPr/>
                    <a:lstStyle/>
                    <a:p>
                      <a:pPr marL="0" indent="0">
                        <a:buNone/>
                      </a:pPr>
                      <a:r>
                        <a:rPr lang="en-US" sz="1100" b="1" dirty="0">
                          <a:solidFill>
                            <a:srgbClr val="F5B83D"/>
                          </a:solidFill>
                        </a:rPr>
                        <a:t>Revenue exp. / GSDP</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305</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19.2%</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9.5%</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4.8%</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53.9%</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4"/>
                  </a:ext>
                </a:extLst>
              </a:tr>
              <a:tr h="438912">
                <a:tc>
                  <a:txBody>
                    <a:bodyPr/>
                    <a:lstStyle/>
                    <a:p>
                      <a:pPr marL="0" indent="0">
                        <a:buNone/>
                      </a:pPr>
                      <a:r>
                        <a:rPr lang="en-US" sz="1100" b="1" dirty="0">
                          <a:solidFill>
                            <a:srgbClr val="F5B83D"/>
                          </a:solidFill>
                        </a:rPr>
                        <a:t>Fiscal deficit / GSDP</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305</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2.9%</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2.1%</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-4.2%</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12.4%</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5"/>
                  </a:ext>
                </a:extLst>
              </a:tr>
              <a:tr h="438912">
                <a:tc>
                  <a:txBody>
                    <a:bodyPr/>
                    <a:lstStyle/>
                    <a:p>
                      <a:pPr marL="0" indent="0">
                        <a:buNone/>
                      </a:pPr>
                      <a:r>
                        <a:rPr lang="en-US" sz="1100" b="1" dirty="0">
                          <a:solidFill>
                            <a:srgbClr val="F5B83D"/>
                          </a:solidFill>
                        </a:rPr>
                        <a:t>Liabilities / GSDP</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304</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31.2%</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20.1%</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0.5%</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246%</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457200" y="4389120"/>
            <a:ext cx="8229600" cy="274320"/>
          </a:xfrm>
          <a:prstGeom prst="rect">
            <a:avLst/>
          </a:prstGeom>
          <a:noFill/>
          <a:ln/>
        </p:spPr>
        <p:txBody>
          <a:bodyPr wrap="square" lIns="0" tIns="0" rIns="0" bIns="0" rtlCol="0" anchor="ctr"/>
          <a:lstStyle/>
          <a:p>
            <a:pPr marL="0" indent="0">
              <a:buNone/>
            </a:pPr>
            <a:r>
              <a:rPr lang="en-US" sz="1200" dirty="0">
                <a:solidFill>
                  <a:srgbClr val="9DB5AE"/>
                </a:solidFill>
              </a:rPr>
              <a:t>Liabilities maximum (246%) is a flagged spike (Tripura, 2014-15).</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8229600" cy="502920"/>
          </a:xfrm>
          <a:prstGeom prst="rect">
            <a:avLst/>
          </a:prstGeom>
          <a:noFill/>
        </p:spPr>
        <p:txBody>
          <a:bodyPr wrap="square" lIns="0" tIns="0" rIns="0" bIns="0" anchor="t">
            <a:spAutoFit/>
          </a:bodyPr>
          <a:lstStyle/>
          <a:p>
            <a:pPr algn="l"/>
            <a:r>
              <a:rPr sz="2400" b="1" i="0">
                <a:solidFill>
                  <a:srgbClr val="F4F1EA"/>
                </a:solidFill>
                <a:latin typeface="Cambria"/>
              </a:rPr>
              <a:t>Revenue and social spending move in lockstep</a:t>
            </a:r>
          </a:p>
        </p:txBody>
      </p:sp>
      <p:sp>
        <p:nvSpPr>
          <p:cNvPr id="3" name="Subtitle"/>
          <p:cNvSpPr txBox="1"/>
          <p:nvPr/>
        </p:nvSpPr>
        <p:spPr>
          <a:xfrm>
            <a:off x="457200" y="777240"/>
            <a:ext cx="8229600" cy="274320"/>
          </a:xfrm>
          <a:prstGeom prst="rect">
            <a:avLst/>
          </a:prstGeom>
          <a:noFill/>
        </p:spPr>
        <p:txBody>
          <a:bodyPr wrap="square" lIns="0" tIns="0" rIns="0" bIns="0" anchor="ctr">
            <a:spAutoFit/>
          </a:bodyPr>
          <a:lstStyle/>
          <a:p>
            <a:pPr algn="l"/>
            <a:r>
              <a:rPr sz="1300" b="0" i="0">
                <a:solidFill>
                  <a:srgbClr val="9DB5AE"/>
                </a:solidFill>
              </a:rPr>
              <a:t>Pooled correlations (r = 0.94) and variance inflation factors</a:t>
            </a:r>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11</a:t>
            </a:fld>
            <a:endParaRPr lang="en-US"/>
          </a:p>
        </p:txBody>
      </p:sp>
      <p:sp>
        <p:nvSpPr>
          <p:cNvPr id="26" name="figure panel"/>
          <p:cNvSpPr/>
          <p:nvPr/>
        </p:nvSpPr>
        <p:spPr>
          <a:xfrm>
            <a:off x="457200" y="1188720"/>
            <a:ext cx="3566160" cy="3474720"/>
          </a:xfrm>
          <a:prstGeom prst="roundRect">
            <a:avLst>
              <a:gd name="adj" fmla="val 2105"/>
            </a:avLst>
          </a:prstGeom>
          <a:solidFill>
            <a:srgbClr val="FFFFFF"/>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Correlation heatmap of fiscal ratios" descr="Correlation heatmap of fiscal ratios"/>
          <p:cNvPicPr>
            <a:picLocks noChangeAspect="1"/>
          </p:cNvPicPr>
          <p:nvPr/>
        </p:nvPicPr>
        <p:blipFill>
          <a:blip r:embed="rId3"/>
          <a:stretch>
            <a:fillRect/>
          </a:stretch>
        </p:blipFill>
        <p:spPr>
          <a:xfrm>
            <a:off x="548639" y="1327568"/>
            <a:ext cx="3383280" cy="3197022"/>
          </a:xfrm>
          <a:prstGeom prst="rect">
            <a:avLst/>
          </a:prstGeom>
        </p:spPr>
      </p:pic>
      <p:sp>
        <p:nvSpPr>
          <p:cNvPr id="28" name="kpi card"/>
          <p:cNvSpPr/>
          <p:nvPr/>
        </p:nvSpPr>
        <p:spPr>
          <a:xfrm>
            <a:off x="4251960" y="1188720"/>
            <a:ext cx="2148840" cy="868680"/>
          </a:xfrm>
          <a:prstGeom prst="roundRect">
            <a:avLst>
              <a:gd name="adj" fmla="val 6315"/>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389120" y="1261872"/>
            <a:ext cx="1874520" cy="457200"/>
          </a:xfrm>
          <a:prstGeom prst="rect">
            <a:avLst/>
          </a:prstGeom>
          <a:noFill/>
        </p:spPr>
        <p:txBody>
          <a:bodyPr wrap="square" lIns="0" tIns="0" rIns="0" bIns="0" anchor="ctr">
            <a:spAutoFit/>
          </a:bodyPr>
          <a:lstStyle/>
          <a:p>
            <a:pPr algn="l"/>
            <a:r>
              <a:rPr sz="2400" b="1" i="0">
                <a:solidFill>
                  <a:srgbClr val="F5B83D"/>
                </a:solidFill>
                <a:latin typeface="Cambria"/>
              </a:rPr>
              <a:t>0.94</a:t>
            </a:r>
          </a:p>
        </p:txBody>
      </p:sp>
      <p:sp>
        <p:nvSpPr>
          <p:cNvPr id="30" name="TextBox 29"/>
          <p:cNvSpPr txBox="1"/>
          <p:nvPr/>
        </p:nvSpPr>
        <p:spPr>
          <a:xfrm>
            <a:off x="4389120" y="1755648"/>
            <a:ext cx="1874520" cy="246887"/>
          </a:xfrm>
          <a:prstGeom prst="rect">
            <a:avLst/>
          </a:prstGeom>
          <a:noFill/>
        </p:spPr>
        <p:txBody>
          <a:bodyPr wrap="square" lIns="0" tIns="0" rIns="0" bIns="0" anchor="t">
            <a:spAutoFit/>
          </a:bodyPr>
          <a:lstStyle/>
          <a:p>
            <a:pPr algn="l"/>
            <a:r>
              <a:rPr sz="1050" b="0" i="0">
                <a:solidFill>
                  <a:srgbClr val="9DB5AE"/>
                </a:solidFill>
              </a:rPr>
              <a:t>Revenue × social spending</a:t>
            </a:r>
          </a:p>
        </p:txBody>
      </p:sp>
      <p:sp>
        <p:nvSpPr>
          <p:cNvPr id="31" name="kpi card"/>
          <p:cNvSpPr/>
          <p:nvPr/>
        </p:nvSpPr>
        <p:spPr>
          <a:xfrm>
            <a:off x="6537960" y="1188720"/>
            <a:ext cx="2148840" cy="868680"/>
          </a:xfrm>
          <a:prstGeom prst="roundRect">
            <a:avLst>
              <a:gd name="adj" fmla="val 6315"/>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675120" y="1261872"/>
            <a:ext cx="1874520" cy="457200"/>
          </a:xfrm>
          <a:prstGeom prst="rect">
            <a:avLst/>
          </a:prstGeom>
          <a:noFill/>
        </p:spPr>
        <p:txBody>
          <a:bodyPr wrap="square" lIns="0" tIns="0" rIns="0" bIns="0" anchor="ctr">
            <a:spAutoFit/>
          </a:bodyPr>
          <a:lstStyle/>
          <a:p>
            <a:pPr algn="l"/>
            <a:r>
              <a:rPr sz="2400" b="1" i="0">
                <a:solidFill>
                  <a:srgbClr val="F2665B"/>
                </a:solidFill>
                <a:latin typeface="Cambria"/>
              </a:rPr>
              <a:t>−0.75</a:t>
            </a:r>
          </a:p>
        </p:txBody>
      </p:sp>
      <p:sp>
        <p:nvSpPr>
          <p:cNvPr id="33" name="TextBox 32"/>
          <p:cNvSpPr txBox="1"/>
          <p:nvPr/>
        </p:nvSpPr>
        <p:spPr>
          <a:xfrm>
            <a:off x="6675120" y="1755648"/>
            <a:ext cx="1874520" cy="246887"/>
          </a:xfrm>
          <a:prstGeom prst="rect">
            <a:avLst/>
          </a:prstGeom>
          <a:noFill/>
        </p:spPr>
        <p:txBody>
          <a:bodyPr wrap="square" lIns="0" tIns="0" rIns="0" bIns="0" anchor="t">
            <a:spAutoFit/>
          </a:bodyPr>
          <a:lstStyle/>
          <a:p>
            <a:pPr algn="l"/>
            <a:r>
              <a:rPr sz="1050" b="0" i="0">
                <a:solidFill>
                  <a:srgbClr val="9DB5AE"/>
                </a:solidFill>
              </a:rPr>
              <a:t>Revenue spending × ln GSDP</a:t>
            </a:r>
          </a:p>
        </p:txBody>
      </p:sp>
      <p:sp>
        <p:nvSpPr>
          <p:cNvPr id="34" name="vif card"/>
          <p:cNvSpPr/>
          <p:nvPr/>
        </p:nvSpPr>
        <p:spPr>
          <a:xfrm>
            <a:off x="4251960" y="2148840"/>
            <a:ext cx="4434840" cy="1554480"/>
          </a:xfrm>
          <a:prstGeom prst="roundRect">
            <a:avLst>
              <a:gd name="adj" fmla="val 3529"/>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389120" y="2221992"/>
            <a:ext cx="4114800" cy="182880"/>
          </a:xfrm>
          <a:prstGeom prst="rect">
            <a:avLst/>
          </a:prstGeom>
          <a:noFill/>
        </p:spPr>
        <p:txBody>
          <a:bodyPr wrap="square" lIns="0" tIns="0" rIns="0" bIns="0" anchor="t">
            <a:spAutoFit/>
          </a:bodyPr>
          <a:lstStyle/>
          <a:p>
            <a:pPr algn="l"/>
            <a:r>
              <a:rPr sz="900" b="1" i="0">
                <a:solidFill>
                  <a:srgbClr val="9DB5AE"/>
                </a:solidFill>
              </a:rPr>
              <a:t>VARIANCE INFLATION FACTORS (SPEC B)</a:t>
            </a:r>
          </a:p>
        </p:txBody>
      </p:sp>
      <p:sp>
        <p:nvSpPr>
          <p:cNvPr id="36" name="TextBox 35"/>
          <p:cNvSpPr txBox="1"/>
          <p:nvPr/>
        </p:nvSpPr>
        <p:spPr>
          <a:xfrm>
            <a:off x="4389120" y="2468880"/>
            <a:ext cx="2926080" cy="219456"/>
          </a:xfrm>
          <a:prstGeom prst="rect">
            <a:avLst/>
          </a:prstGeom>
          <a:noFill/>
        </p:spPr>
        <p:txBody>
          <a:bodyPr wrap="square" lIns="0" tIns="0" rIns="0" bIns="0" anchor="ctr">
            <a:spAutoFit/>
          </a:bodyPr>
          <a:lstStyle/>
          <a:p>
            <a:pPr algn="l"/>
            <a:r>
              <a:rPr sz="1100" b="0" i="0">
                <a:solidFill>
                  <a:srgbClr val="F4F1EA"/>
                </a:solidFill>
              </a:rPr>
              <a:t>Social sector exp.</a:t>
            </a:r>
          </a:p>
        </p:txBody>
      </p:sp>
      <p:sp>
        <p:nvSpPr>
          <p:cNvPr id="37" name="TextBox 36"/>
          <p:cNvSpPr txBox="1"/>
          <p:nvPr/>
        </p:nvSpPr>
        <p:spPr>
          <a:xfrm>
            <a:off x="7498079" y="2468880"/>
            <a:ext cx="1005840" cy="219456"/>
          </a:xfrm>
          <a:prstGeom prst="rect">
            <a:avLst/>
          </a:prstGeom>
          <a:noFill/>
        </p:spPr>
        <p:txBody>
          <a:bodyPr wrap="square" lIns="0" tIns="0" rIns="0" bIns="0" anchor="ctr">
            <a:spAutoFit/>
          </a:bodyPr>
          <a:lstStyle/>
          <a:p>
            <a:pPr algn="r"/>
            <a:r>
              <a:rPr sz="1100" b="1" i="0">
                <a:solidFill>
                  <a:srgbClr val="F2665B"/>
                </a:solidFill>
              </a:rPr>
              <a:t>9.9</a:t>
            </a:r>
          </a:p>
        </p:txBody>
      </p:sp>
      <p:sp>
        <p:nvSpPr>
          <p:cNvPr id="38" name="TextBox 37"/>
          <p:cNvSpPr txBox="1"/>
          <p:nvPr/>
        </p:nvSpPr>
        <p:spPr>
          <a:xfrm>
            <a:off x="4389120" y="2706624"/>
            <a:ext cx="2926080" cy="219456"/>
          </a:xfrm>
          <a:prstGeom prst="rect">
            <a:avLst/>
          </a:prstGeom>
          <a:noFill/>
        </p:spPr>
        <p:txBody>
          <a:bodyPr wrap="square" lIns="0" tIns="0" rIns="0" bIns="0" anchor="ctr">
            <a:spAutoFit/>
          </a:bodyPr>
          <a:lstStyle/>
          <a:p>
            <a:pPr algn="l"/>
            <a:r>
              <a:rPr sz="1100" b="0" i="0">
                <a:solidFill>
                  <a:srgbClr val="F4F1EA"/>
                </a:solidFill>
              </a:rPr>
              <a:t>Revenue exp.</a:t>
            </a:r>
          </a:p>
        </p:txBody>
      </p:sp>
      <p:sp>
        <p:nvSpPr>
          <p:cNvPr id="39" name="TextBox 38"/>
          <p:cNvSpPr txBox="1"/>
          <p:nvPr/>
        </p:nvSpPr>
        <p:spPr>
          <a:xfrm>
            <a:off x="7498079" y="2706624"/>
            <a:ext cx="1005840" cy="219456"/>
          </a:xfrm>
          <a:prstGeom prst="rect">
            <a:avLst/>
          </a:prstGeom>
          <a:noFill/>
        </p:spPr>
        <p:txBody>
          <a:bodyPr wrap="square" lIns="0" tIns="0" rIns="0" bIns="0" anchor="ctr">
            <a:spAutoFit/>
          </a:bodyPr>
          <a:lstStyle/>
          <a:p>
            <a:pPr algn="r"/>
            <a:r>
              <a:rPr sz="1100" b="1" i="0">
                <a:solidFill>
                  <a:srgbClr val="F2665B"/>
                </a:solidFill>
              </a:rPr>
              <a:t>9.7</a:t>
            </a:r>
          </a:p>
        </p:txBody>
      </p:sp>
      <p:sp>
        <p:nvSpPr>
          <p:cNvPr id="40" name="TextBox 39"/>
          <p:cNvSpPr txBox="1"/>
          <p:nvPr/>
        </p:nvSpPr>
        <p:spPr>
          <a:xfrm>
            <a:off x="4389120" y="2944368"/>
            <a:ext cx="2926080" cy="219456"/>
          </a:xfrm>
          <a:prstGeom prst="rect">
            <a:avLst/>
          </a:prstGeom>
          <a:noFill/>
        </p:spPr>
        <p:txBody>
          <a:bodyPr wrap="square" lIns="0" tIns="0" rIns="0" bIns="0" anchor="ctr">
            <a:spAutoFit/>
          </a:bodyPr>
          <a:lstStyle/>
          <a:p>
            <a:pPr algn="l"/>
            <a:r>
              <a:rPr sz="1100" b="0" i="0">
                <a:solidFill>
                  <a:srgbClr val="F4F1EA"/>
                </a:solidFill>
              </a:rPr>
              <a:t>Capital exp.</a:t>
            </a:r>
          </a:p>
        </p:txBody>
      </p:sp>
      <p:sp>
        <p:nvSpPr>
          <p:cNvPr id="41" name="TextBox 40"/>
          <p:cNvSpPr txBox="1"/>
          <p:nvPr/>
        </p:nvSpPr>
        <p:spPr>
          <a:xfrm>
            <a:off x="7498079" y="2944368"/>
            <a:ext cx="1005840" cy="219456"/>
          </a:xfrm>
          <a:prstGeom prst="rect">
            <a:avLst/>
          </a:prstGeom>
          <a:noFill/>
        </p:spPr>
        <p:txBody>
          <a:bodyPr wrap="square" lIns="0" tIns="0" rIns="0" bIns="0" anchor="ctr">
            <a:spAutoFit/>
          </a:bodyPr>
          <a:lstStyle/>
          <a:p>
            <a:pPr algn="r"/>
            <a:r>
              <a:rPr sz="1100" b="1" i="0">
                <a:solidFill>
                  <a:srgbClr val="F4F1EA"/>
                </a:solidFill>
              </a:rPr>
              <a:t>3.0</a:t>
            </a:r>
          </a:p>
        </p:txBody>
      </p:sp>
      <p:sp>
        <p:nvSpPr>
          <p:cNvPr id="42" name="TextBox 41"/>
          <p:cNvSpPr txBox="1"/>
          <p:nvPr/>
        </p:nvSpPr>
        <p:spPr>
          <a:xfrm>
            <a:off x="4389120" y="3182112"/>
            <a:ext cx="2926080" cy="219456"/>
          </a:xfrm>
          <a:prstGeom prst="rect">
            <a:avLst/>
          </a:prstGeom>
          <a:noFill/>
        </p:spPr>
        <p:txBody>
          <a:bodyPr wrap="square" lIns="0" tIns="0" rIns="0" bIns="0" anchor="ctr">
            <a:spAutoFit/>
          </a:bodyPr>
          <a:lstStyle/>
          <a:p>
            <a:pPr algn="l"/>
            <a:r>
              <a:rPr sz="1100" b="0" i="0">
                <a:solidFill>
                  <a:srgbClr val="F4F1EA"/>
                </a:solidFill>
              </a:rPr>
              <a:t>Fiscal deficit</a:t>
            </a:r>
          </a:p>
        </p:txBody>
      </p:sp>
      <p:sp>
        <p:nvSpPr>
          <p:cNvPr id="43" name="TextBox 42"/>
          <p:cNvSpPr txBox="1"/>
          <p:nvPr/>
        </p:nvSpPr>
        <p:spPr>
          <a:xfrm>
            <a:off x="7498079" y="3182112"/>
            <a:ext cx="1005840" cy="219456"/>
          </a:xfrm>
          <a:prstGeom prst="rect">
            <a:avLst/>
          </a:prstGeom>
          <a:noFill/>
        </p:spPr>
        <p:txBody>
          <a:bodyPr wrap="square" lIns="0" tIns="0" rIns="0" bIns="0" anchor="ctr">
            <a:spAutoFit/>
          </a:bodyPr>
          <a:lstStyle/>
          <a:p>
            <a:pPr algn="r"/>
            <a:r>
              <a:rPr sz="1100" b="1" i="0">
                <a:solidFill>
                  <a:srgbClr val="F4F1EA"/>
                </a:solidFill>
              </a:rPr>
              <a:t>1.1</a:t>
            </a:r>
          </a:p>
        </p:txBody>
      </p:sp>
      <p:sp>
        <p:nvSpPr>
          <p:cNvPr id="44" name="TextBox 43"/>
          <p:cNvSpPr txBox="1"/>
          <p:nvPr/>
        </p:nvSpPr>
        <p:spPr>
          <a:xfrm>
            <a:off x="4389120" y="3419856"/>
            <a:ext cx="2926080" cy="219456"/>
          </a:xfrm>
          <a:prstGeom prst="rect">
            <a:avLst/>
          </a:prstGeom>
          <a:noFill/>
        </p:spPr>
        <p:txBody>
          <a:bodyPr wrap="square" lIns="0" tIns="0" rIns="0" bIns="0" anchor="ctr">
            <a:spAutoFit/>
          </a:bodyPr>
          <a:lstStyle/>
          <a:p>
            <a:pPr algn="l"/>
            <a:r>
              <a:rPr sz="1100" b="0" i="0">
                <a:solidFill>
                  <a:srgbClr val="F4F1EA"/>
                </a:solidFill>
              </a:rPr>
              <a:t>Liabilities</a:t>
            </a:r>
          </a:p>
        </p:txBody>
      </p:sp>
      <p:sp>
        <p:nvSpPr>
          <p:cNvPr id="45" name="TextBox 44"/>
          <p:cNvSpPr txBox="1"/>
          <p:nvPr/>
        </p:nvSpPr>
        <p:spPr>
          <a:xfrm>
            <a:off x="7498079" y="3419856"/>
            <a:ext cx="1005840" cy="219456"/>
          </a:xfrm>
          <a:prstGeom prst="rect">
            <a:avLst/>
          </a:prstGeom>
          <a:noFill/>
        </p:spPr>
        <p:txBody>
          <a:bodyPr wrap="square" lIns="0" tIns="0" rIns="0" bIns="0" anchor="ctr">
            <a:spAutoFit/>
          </a:bodyPr>
          <a:lstStyle/>
          <a:p>
            <a:pPr algn="r"/>
            <a:r>
              <a:rPr sz="1100" b="1" i="0">
                <a:solidFill>
                  <a:srgbClr val="F4F1EA"/>
                </a:solidFill>
              </a:rPr>
              <a:t>1.2</a:t>
            </a:r>
          </a:p>
        </p:txBody>
      </p:sp>
      <p:sp>
        <p:nvSpPr>
          <p:cNvPr id="46" name="so what card"/>
          <p:cNvSpPr/>
          <p:nvPr/>
        </p:nvSpPr>
        <p:spPr>
          <a:xfrm>
            <a:off x="4251960" y="3794760"/>
            <a:ext cx="4434840" cy="868680"/>
          </a:xfrm>
          <a:prstGeom prst="roundRect">
            <a:avLst>
              <a:gd name="adj" fmla="val 6315"/>
            </a:avLst>
          </a:prstGeom>
          <a:solidFill>
            <a:srgbClr val="12362F"/>
          </a:solidFill>
          <a:ln w="9525">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389120" y="3886200"/>
            <a:ext cx="4160520" cy="182880"/>
          </a:xfrm>
          <a:prstGeom prst="rect">
            <a:avLst/>
          </a:prstGeom>
          <a:noFill/>
        </p:spPr>
        <p:txBody>
          <a:bodyPr wrap="square" lIns="0" tIns="0" rIns="0" bIns="0" anchor="t">
            <a:spAutoFit/>
          </a:bodyPr>
          <a:lstStyle/>
          <a:p>
            <a:pPr algn="l"/>
            <a:r>
              <a:rPr sz="900" b="1" i="0">
                <a:solidFill>
                  <a:srgbClr val="2DD4A7"/>
                </a:solidFill>
              </a:rPr>
              <a:t>SO WHAT</a:t>
            </a:r>
          </a:p>
        </p:txBody>
      </p:sp>
      <p:sp>
        <p:nvSpPr>
          <p:cNvPr id="48" name="TextBox 47"/>
          <p:cNvSpPr txBox="1"/>
          <p:nvPr/>
        </p:nvSpPr>
        <p:spPr>
          <a:xfrm>
            <a:off x="4389120" y="4105656"/>
            <a:ext cx="4160520" cy="484632"/>
          </a:xfrm>
          <a:prstGeom prst="rect">
            <a:avLst/>
          </a:prstGeom>
          <a:noFill/>
        </p:spPr>
        <p:txBody>
          <a:bodyPr wrap="square" lIns="0" tIns="0" rIns="0" bIns="0" anchor="t">
            <a:spAutoFit/>
          </a:bodyPr>
          <a:lstStyle/>
          <a:p>
            <a:pPr algn="l"/>
            <a:r>
              <a:rPr sz="1050" b="0" i="0">
                <a:solidFill>
                  <a:srgbClr val="F4F1EA"/>
                </a:solidFill>
              </a:rPr>
              <a:t>Separate effects of revenue and social spending are hard to pin down, so we run five specifications: C drops revenue spending, D uses total spending plus shares, E logs every ratio.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marL="0" indent="0">
              <a:buNone/>
            </a:pPr>
            <a:r>
              <a:rPr lang="en-US" sz="2400" b="1" dirty="0">
                <a:solidFill>
                  <a:srgbClr val="F4F1EA"/>
                </a:solidFill>
                <a:latin typeface="Cambria" pitchFamily="34" charset="0"/>
                <a:ea typeface="Cambria" pitchFamily="34" charset="-122"/>
                <a:cs typeface="Cambria" pitchFamily="34" charset="-120"/>
              </a:rPr>
              <a:t>Research question and objectives</a:t>
            </a:r>
            <a:endParaRPr lang="en-US" sz="2400" dirty="0"/>
          </a:p>
        </p:txBody>
      </p:sp>
      <p:sp>
        <p:nvSpPr>
          <p:cNvPr id="3" name="Text 1"/>
          <p:cNvSpPr txBox="1"/>
          <p:nvPr/>
        </p:nvSpPr>
        <p:spPr>
          <a:xfrm>
            <a:off x="457200" y="777240"/>
            <a:ext cx="8229600" cy="274320"/>
          </a:xfrm>
          <a:prstGeom prst="rect">
            <a:avLst/>
          </a:prstGeom>
          <a:noFill/>
          <a:ln/>
        </p:spPr>
        <p:txBody>
          <a:bodyPr wrap="square" lIns="0" tIns="0" rIns="0" bIns="0" rtlCol="0" anchor="ctr"/>
          <a:lstStyle/>
          <a:p>
            <a:pPr marL="0" indent="0">
              <a:buNone/>
            </a:pPr>
            <a:r>
              <a:rPr lang="en-US" sz="1300" dirty="0">
                <a:solidFill>
                  <a:srgbClr val="9DB5AE"/>
                </a:solidFill>
              </a:rPr>
              <a:t>How do expenditure patterns and fiscal conditions relate to economic development across Indian states?</a:t>
            </a:r>
            <a:endParaRPr lang="en-US" sz="1300" dirty="0"/>
          </a:p>
        </p:txBody>
      </p:sp>
      <p:sp>
        <p:nvSpPr>
          <p:cNvPr id="4" name="objective card"/>
          <p:cNvSpPr/>
          <p:nvPr/>
        </p:nvSpPr>
        <p:spPr>
          <a:xfrm>
            <a:off x="457200" y="1234440"/>
            <a:ext cx="8229600" cy="566928"/>
          </a:xfrm>
          <a:prstGeom prst="roundRect">
            <a:avLst>
              <a:gd name="adj" fmla="val 12903"/>
            </a:avLst>
          </a:prstGeom>
          <a:solidFill>
            <a:srgbClr val="172B27"/>
          </a:solidFill>
          <a:ln w="9525">
            <a:solidFill>
              <a:srgbClr val="2A4540"/>
            </a:solidFill>
            <a:prstDash val="solid"/>
          </a:ln>
        </p:spPr>
      </p:sp>
      <p:sp>
        <p:nvSpPr>
          <p:cNvPr id="5" name="objective marker"/>
          <p:cNvSpPr/>
          <p:nvPr/>
        </p:nvSpPr>
        <p:spPr>
          <a:xfrm>
            <a:off x="594360" y="1325880"/>
            <a:ext cx="384048" cy="384048"/>
          </a:xfrm>
          <a:prstGeom prst="ellipse">
            <a:avLst/>
          </a:prstGeom>
          <a:solidFill>
            <a:srgbClr val="2DD4A7"/>
          </a:solidFill>
          <a:ln w="12700">
            <a:solidFill>
              <a:srgbClr val="0F1C1A"/>
            </a:solidFill>
            <a:prstDash val="solid"/>
          </a:ln>
        </p:spPr>
      </p:sp>
      <p:sp>
        <p:nvSpPr>
          <p:cNvPr id="6" name="Text 4"/>
          <p:cNvSpPr txBox="1"/>
          <p:nvPr/>
        </p:nvSpPr>
        <p:spPr>
          <a:xfrm>
            <a:off x="594360" y="1325880"/>
            <a:ext cx="384048" cy="384048"/>
          </a:xfrm>
          <a:prstGeom prst="rect">
            <a:avLst/>
          </a:prstGeom>
          <a:noFill/>
          <a:ln/>
        </p:spPr>
        <p:txBody>
          <a:bodyPr wrap="square" lIns="0" tIns="0" rIns="0" bIns="0" rtlCol="0" anchor="ctr"/>
          <a:lstStyle/>
          <a:p>
            <a:pPr marL="0" indent="0" algn="ctr">
              <a:buNone/>
            </a:pPr>
            <a:r>
              <a:rPr lang="en-US" sz="1400" b="1" dirty="0">
                <a:solidFill>
                  <a:srgbClr val="0F1C1A"/>
                </a:solidFill>
              </a:rPr>
              <a:t>1</a:t>
            </a:r>
            <a:endParaRPr lang="en-US" sz="1400" dirty="0"/>
          </a:p>
        </p:txBody>
      </p:sp>
      <p:sp>
        <p:nvSpPr>
          <p:cNvPr id="7" name="Text 5"/>
          <p:cNvSpPr txBox="1"/>
          <p:nvPr/>
        </p:nvSpPr>
        <p:spPr>
          <a:xfrm>
            <a:off x="1188720" y="1234440"/>
            <a:ext cx="7315200" cy="566928"/>
          </a:xfrm>
          <a:prstGeom prst="rect">
            <a:avLst/>
          </a:prstGeom>
          <a:noFill/>
          <a:ln/>
        </p:spPr>
        <p:txBody>
          <a:bodyPr wrap="square" lIns="0" tIns="0" rIns="0" bIns="0" rtlCol="0" anchor="ctr"/>
          <a:lstStyle/>
          <a:p>
            <a:pPr marL="0" indent="0">
              <a:buNone/>
            </a:pPr>
            <a:r>
              <a:rPr lang="en-US" sz="1500" dirty="0">
                <a:solidFill>
                  <a:srgbClr val="F4F1EA"/>
                </a:solidFill>
              </a:rPr>
              <a:t>Describe income differences and trends across states</a:t>
            </a:r>
            <a:endParaRPr lang="en-US" sz="1500" dirty="0"/>
          </a:p>
        </p:txBody>
      </p:sp>
      <p:sp>
        <p:nvSpPr>
          <p:cNvPr id="8" name="objective card"/>
          <p:cNvSpPr/>
          <p:nvPr/>
        </p:nvSpPr>
        <p:spPr>
          <a:xfrm>
            <a:off x="457200" y="1920240"/>
            <a:ext cx="8229600" cy="566928"/>
          </a:xfrm>
          <a:prstGeom prst="roundRect">
            <a:avLst>
              <a:gd name="adj" fmla="val 12903"/>
            </a:avLst>
          </a:prstGeom>
          <a:solidFill>
            <a:srgbClr val="172B27"/>
          </a:solidFill>
          <a:ln w="9525">
            <a:solidFill>
              <a:srgbClr val="2A4540"/>
            </a:solidFill>
            <a:prstDash val="solid"/>
          </a:ln>
        </p:spPr>
      </p:sp>
      <p:sp>
        <p:nvSpPr>
          <p:cNvPr id="9" name="objective marker"/>
          <p:cNvSpPr/>
          <p:nvPr/>
        </p:nvSpPr>
        <p:spPr>
          <a:xfrm>
            <a:off x="594360" y="2011680"/>
            <a:ext cx="384048" cy="384048"/>
          </a:xfrm>
          <a:prstGeom prst="ellipse">
            <a:avLst/>
          </a:prstGeom>
          <a:solidFill>
            <a:srgbClr val="F5B83D"/>
          </a:solidFill>
          <a:ln w="12700">
            <a:solidFill>
              <a:srgbClr val="0F1C1A"/>
            </a:solidFill>
            <a:prstDash val="solid"/>
          </a:ln>
        </p:spPr>
      </p:sp>
      <p:sp>
        <p:nvSpPr>
          <p:cNvPr id="10" name="Text 8"/>
          <p:cNvSpPr txBox="1"/>
          <p:nvPr/>
        </p:nvSpPr>
        <p:spPr>
          <a:xfrm>
            <a:off x="594360" y="2011680"/>
            <a:ext cx="384048" cy="384048"/>
          </a:xfrm>
          <a:prstGeom prst="rect">
            <a:avLst/>
          </a:prstGeom>
          <a:noFill/>
          <a:ln/>
        </p:spPr>
        <p:txBody>
          <a:bodyPr wrap="square" lIns="0" tIns="0" rIns="0" bIns="0" rtlCol="0" anchor="ctr"/>
          <a:lstStyle/>
          <a:p>
            <a:pPr marL="0" indent="0" algn="ctr">
              <a:buNone/>
            </a:pPr>
            <a:r>
              <a:rPr lang="en-US" sz="1400" b="1" dirty="0">
                <a:solidFill>
                  <a:srgbClr val="0F1C1A"/>
                </a:solidFill>
              </a:rPr>
              <a:t>2</a:t>
            </a:r>
            <a:endParaRPr lang="en-US" sz="1400" dirty="0"/>
          </a:p>
        </p:txBody>
      </p:sp>
      <p:sp>
        <p:nvSpPr>
          <p:cNvPr id="11" name="Text 9"/>
          <p:cNvSpPr txBox="1"/>
          <p:nvPr/>
        </p:nvSpPr>
        <p:spPr>
          <a:xfrm>
            <a:off x="1188720" y="1920240"/>
            <a:ext cx="7315200" cy="566928"/>
          </a:xfrm>
          <a:prstGeom prst="rect">
            <a:avLst/>
          </a:prstGeom>
          <a:noFill/>
          <a:ln/>
        </p:spPr>
        <p:txBody>
          <a:bodyPr wrap="square" lIns="0" tIns="0" rIns="0" bIns="0" rtlCol="0" anchor="ctr"/>
          <a:lstStyle/>
          <a:p>
            <a:pPr marL="0" indent="0">
              <a:buNone/>
            </a:pPr>
            <a:r>
              <a:rPr lang="en-US" sz="1500" dirty="0">
                <a:solidFill>
                  <a:srgbClr val="F4F1EA"/>
                </a:solidFill>
              </a:rPr>
              <a:t>Estimate how spending, deficit and liabilities ratios relate to per capita income</a:t>
            </a:r>
            <a:endParaRPr lang="en-US" sz="1500" dirty="0"/>
          </a:p>
        </p:txBody>
      </p:sp>
      <p:sp>
        <p:nvSpPr>
          <p:cNvPr id="12" name="objective card"/>
          <p:cNvSpPr/>
          <p:nvPr/>
        </p:nvSpPr>
        <p:spPr>
          <a:xfrm>
            <a:off x="457200" y="2606040"/>
            <a:ext cx="8229600" cy="566928"/>
          </a:xfrm>
          <a:prstGeom prst="roundRect">
            <a:avLst>
              <a:gd name="adj" fmla="val 12903"/>
            </a:avLst>
          </a:prstGeom>
          <a:solidFill>
            <a:srgbClr val="172B27"/>
          </a:solidFill>
          <a:ln w="9525">
            <a:solidFill>
              <a:srgbClr val="2A4540"/>
            </a:solidFill>
            <a:prstDash val="solid"/>
          </a:ln>
        </p:spPr>
      </p:sp>
      <p:sp>
        <p:nvSpPr>
          <p:cNvPr id="13" name="objective marker"/>
          <p:cNvSpPr/>
          <p:nvPr/>
        </p:nvSpPr>
        <p:spPr>
          <a:xfrm>
            <a:off x="594360" y="2697480"/>
            <a:ext cx="384048" cy="384048"/>
          </a:xfrm>
          <a:prstGeom prst="ellipse">
            <a:avLst/>
          </a:prstGeom>
          <a:solidFill>
            <a:srgbClr val="2DD4A7"/>
          </a:solidFill>
          <a:ln w="12700">
            <a:solidFill>
              <a:srgbClr val="0F1C1A"/>
            </a:solidFill>
            <a:prstDash val="solid"/>
          </a:ln>
        </p:spPr>
      </p:sp>
      <p:sp>
        <p:nvSpPr>
          <p:cNvPr id="14" name="Text 12"/>
          <p:cNvSpPr txBox="1"/>
          <p:nvPr/>
        </p:nvSpPr>
        <p:spPr>
          <a:xfrm>
            <a:off x="594360" y="2697480"/>
            <a:ext cx="384048" cy="384048"/>
          </a:xfrm>
          <a:prstGeom prst="rect">
            <a:avLst/>
          </a:prstGeom>
          <a:noFill/>
          <a:ln/>
        </p:spPr>
        <p:txBody>
          <a:bodyPr wrap="square" lIns="0" tIns="0" rIns="0" bIns="0" rtlCol="0" anchor="ctr"/>
          <a:lstStyle/>
          <a:p>
            <a:pPr marL="0" indent="0" algn="ctr">
              <a:buNone/>
            </a:pPr>
            <a:r>
              <a:rPr lang="en-US" sz="1400" b="1" dirty="0">
                <a:solidFill>
                  <a:srgbClr val="0F1C1A"/>
                </a:solidFill>
              </a:rPr>
              <a:t>3</a:t>
            </a:r>
            <a:endParaRPr lang="en-US" sz="1400" dirty="0"/>
          </a:p>
        </p:txBody>
      </p:sp>
      <p:sp>
        <p:nvSpPr>
          <p:cNvPr id="15" name="Text 13"/>
          <p:cNvSpPr txBox="1"/>
          <p:nvPr/>
        </p:nvSpPr>
        <p:spPr>
          <a:xfrm>
            <a:off x="1188720" y="2606040"/>
            <a:ext cx="7315200" cy="566928"/>
          </a:xfrm>
          <a:prstGeom prst="rect">
            <a:avLst/>
          </a:prstGeom>
          <a:noFill/>
          <a:ln/>
        </p:spPr>
        <p:txBody>
          <a:bodyPr wrap="square" lIns="0" tIns="0" rIns="0" bIns="0" rtlCol="0" anchor="ctr"/>
          <a:lstStyle/>
          <a:p>
            <a:pPr marL="0" indent="0">
              <a:buNone/>
            </a:pPr>
            <a:r>
              <a:rPr lang="en-US" sz="1500" dirty="0">
                <a:solidFill>
                  <a:srgbClr val="F4F1EA"/>
                </a:solidFill>
              </a:rPr>
              <a:t>Choose between pooled, fixed and random effects</a:t>
            </a:r>
            <a:endParaRPr lang="en-US" sz="1500" dirty="0"/>
          </a:p>
        </p:txBody>
      </p:sp>
      <p:sp>
        <p:nvSpPr>
          <p:cNvPr id="16" name="objective card"/>
          <p:cNvSpPr/>
          <p:nvPr/>
        </p:nvSpPr>
        <p:spPr>
          <a:xfrm>
            <a:off x="457200" y="3291840"/>
            <a:ext cx="8229600" cy="566928"/>
          </a:xfrm>
          <a:prstGeom prst="roundRect">
            <a:avLst>
              <a:gd name="adj" fmla="val 12903"/>
            </a:avLst>
          </a:prstGeom>
          <a:solidFill>
            <a:srgbClr val="172B27"/>
          </a:solidFill>
          <a:ln w="9525">
            <a:solidFill>
              <a:srgbClr val="2A4540"/>
            </a:solidFill>
            <a:prstDash val="solid"/>
          </a:ln>
        </p:spPr>
      </p:sp>
      <p:sp>
        <p:nvSpPr>
          <p:cNvPr id="17" name="objective marker"/>
          <p:cNvSpPr/>
          <p:nvPr/>
        </p:nvSpPr>
        <p:spPr>
          <a:xfrm>
            <a:off x="594360" y="3383280"/>
            <a:ext cx="384048" cy="384048"/>
          </a:xfrm>
          <a:prstGeom prst="ellipse">
            <a:avLst/>
          </a:prstGeom>
          <a:solidFill>
            <a:srgbClr val="F5B83D"/>
          </a:solidFill>
          <a:ln w="12700">
            <a:solidFill>
              <a:srgbClr val="0F1C1A"/>
            </a:solidFill>
            <a:prstDash val="solid"/>
          </a:ln>
        </p:spPr>
      </p:sp>
      <p:sp>
        <p:nvSpPr>
          <p:cNvPr id="18" name="Text 16"/>
          <p:cNvSpPr txBox="1"/>
          <p:nvPr/>
        </p:nvSpPr>
        <p:spPr>
          <a:xfrm>
            <a:off x="594360" y="3383280"/>
            <a:ext cx="384048" cy="384048"/>
          </a:xfrm>
          <a:prstGeom prst="rect">
            <a:avLst/>
          </a:prstGeom>
          <a:noFill/>
          <a:ln/>
        </p:spPr>
        <p:txBody>
          <a:bodyPr wrap="square" lIns="0" tIns="0" rIns="0" bIns="0" rtlCol="0" anchor="ctr"/>
          <a:lstStyle/>
          <a:p>
            <a:pPr marL="0" indent="0" algn="ctr">
              <a:buNone/>
            </a:pPr>
            <a:r>
              <a:rPr lang="en-US" sz="1400" b="1" dirty="0">
                <a:solidFill>
                  <a:srgbClr val="0F1C1A"/>
                </a:solidFill>
              </a:rPr>
              <a:t>4</a:t>
            </a:r>
            <a:endParaRPr lang="en-US" sz="1400" dirty="0"/>
          </a:p>
        </p:txBody>
      </p:sp>
      <p:sp>
        <p:nvSpPr>
          <p:cNvPr id="19" name="Text 17"/>
          <p:cNvSpPr txBox="1"/>
          <p:nvPr/>
        </p:nvSpPr>
        <p:spPr>
          <a:xfrm>
            <a:off x="1188720" y="3291840"/>
            <a:ext cx="7315200" cy="566928"/>
          </a:xfrm>
          <a:prstGeom prst="rect">
            <a:avLst/>
          </a:prstGeom>
          <a:noFill/>
          <a:ln/>
        </p:spPr>
        <p:txBody>
          <a:bodyPr wrap="square" lIns="0" tIns="0" rIns="0" bIns="0" rtlCol="0" anchor="ctr"/>
          <a:lstStyle/>
          <a:p>
            <a:pPr marL="0" indent="0">
              <a:buNone/>
            </a:pPr>
            <a:r>
              <a:rPr lang="en-US" sz="1500" dirty="0">
                <a:solidFill>
                  <a:srgbClr val="F4F1EA"/>
                </a:solidFill>
              </a:rPr>
              <a:t>Test five hypotheses and check robustness</a:t>
            </a:r>
            <a:endParaRPr lang="en-US" sz="1500" dirty="0"/>
          </a:p>
        </p:txBody>
      </p:sp>
      <p:sp>
        <p:nvSpPr>
          <p:cNvPr id="20" name="objective card"/>
          <p:cNvSpPr/>
          <p:nvPr/>
        </p:nvSpPr>
        <p:spPr>
          <a:xfrm>
            <a:off x="457200" y="3977640"/>
            <a:ext cx="8229600" cy="566928"/>
          </a:xfrm>
          <a:prstGeom prst="roundRect">
            <a:avLst>
              <a:gd name="adj" fmla="val 12903"/>
            </a:avLst>
          </a:prstGeom>
          <a:solidFill>
            <a:srgbClr val="172B27"/>
          </a:solidFill>
          <a:ln w="9525">
            <a:solidFill>
              <a:srgbClr val="2A4540"/>
            </a:solidFill>
            <a:prstDash val="solid"/>
          </a:ln>
        </p:spPr>
      </p:sp>
      <p:sp>
        <p:nvSpPr>
          <p:cNvPr id="21" name="objective marker"/>
          <p:cNvSpPr/>
          <p:nvPr/>
        </p:nvSpPr>
        <p:spPr>
          <a:xfrm>
            <a:off x="594360" y="4069080"/>
            <a:ext cx="384048" cy="384048"/>
          </a:xfrm>
          <a:prstGeom prst="ellipse">
            <a:avLst/>
          </a:prstGeom>
          <a:solidFill>
            <a:srgbClr val="2DD4A7"/>
          </a:solidFill>
          <a:ln w="12700">
            <a:solidFill>
              <a:srgbClr val="0F1C1A"/>
            </a:solidFill>
            <a:prstDash val="solid"/>
          </a:ln>
        </p:spPr>
      </p:sp>
      <p:sp>
        <p:nvSpPr>
          <p:cNvPr id="22" name="Text 20"/>
          <p:cNvSpPr txBox="1"/>
          <p:nvPr/>
        </p:nvSpPr>
        <p:spPr>
          <a:xfrm>
            <a:off x="594360" y="4069080"/>
            <a:ext cx="384048" cy="384048"/>
          </a:xfrm>
          <a:prstGeom prst="rect">
            <a:avLst/>
          </a:prstGeom>
          <a:noFill/>
          <a:ln/>
        </p:spPr>
        <p:txBody>
          <a:bodyPr wrap="square" lIns="0" tIns="0" rIns="0" bIns="0" rtlCol="0" anchor="ctr"/>
          <a:lstStyle/>
          <a:p>
            <a:pPr marL="0" indent="0" algn="ctr">
              <a:buNone/>
            </a:pPr>
            <a:r>
              <a:rPr lang="en-US" sz="1400" b="1" dirty="0">
                <a:solidFill>
                  <a:srgbClr val="0F1C1A"/>
                </a:solidFill>
              </a:rPr>
              <a:t>5</a:t>
            </a:r>
            <a:endParaRPr lang="en-US" sz="1400" dirty="0"/>
          </a:p>
        </p:txBody>
      </p:sp>
      <p:sp>
        <p:nvSpPr>
          <p:cNvPr id="23" name="Text 21"/>
          <p:cNvSpPr txBox="1"/>
          <p:nvPr/>
        </p:nvSpPr>
        <p:spPr>
          <a:xfrm>
            <a:off x="1188720" y="3977640"/>
            <a:ext cx="7315200" cy="566928"/>
          </a:xfrm>
          <a:prstGeom prst="rect">
            <a:avLst/>
          </a:prstGeom>
          <a:noFill/>
          <a:ln/>
        </p:spPr>
        <p:txBody>
          <a:bodyPr wrap="square" lIns="0" tIns="0" rIns="0" bIns="0" rtlCol="0" anchor="ctr"/>
          <a:lstStyle/>
          <a:p>
            <a:pPr marL="0" indent="0">
              <a:buNone/>
            </a:pPr>
            <a:r>
              <a:rPr lang="en-US" sz="1500" dirty="0">
                <a:solidFill>
                  <a:srgbClr val="F4F1EA"/>
                </a:solidFill>
              </a:rPr>
              <a:t>Explore extensions: ratio mechanism, convergence, COVID-19</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12</a:t>
            </a:fld>
            <a:endParaRPr lang="en-US"/>
          </a:p>
        </p:txBody>
      </p:sp>
    </p:spTree>
    <p:extLst>
      <p:ext uri="{BB962C8B-B14F-4D97-AF65-F5344CB8AC3E}">
        <p14:creationId xmlns:p14="http://schemas.microsoft.com/office/powerpoint/2010/main" val="1138220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marL="0" indent="0">
              <a:buNone/>
            </a:pPr>
            <a:r>
              <a:rPr lang="en-US" sz="2400" b="1" dirty="0">
                <a:solidFill>
                  <a:srgbClr val="F4F1EA"/>
                </a:solidFill>
                <a:latin typeface="Cambria" pitchFamily="34" charset="0"/>
                <a:ea typeface="Cambria" pitchFamily="34" charset="-122"/>
                <a:cs typeface="Cambria" pitchFamily="34" charset="-120"/>
              </a:rPr>
              <a:t>Model specifications A to E</a:t>
            </a:r>
            <a:endParaRPr lang="en-US" sz="2400" dirty="0"/>
          </a:p>
        </p:txBody>
      </p:sp>
      <p:sp>
        <p:nvSpPr>
          <p:cNvPr id="3" name="Text 1"/>
          <p:cNvSpPr txBox="1"/>
          <p:nvPr/>
        </p:nvSpPr>
        <p:spPr>
          <a:xfrm>
            <a:off x="457200" y="777240"/>
            <a:ext cx="8229600" cy="274320"/>
          </a:xfrm>
          <a:prstGeom prst="rect">
            <a:avLst/>
          </a:prstGeom>
          <a:noFill/>
          <a:ln/>
        </p:spPr>
        <p:txBody>
          <a:bodyPr wrap="square" lIns="0" tIns="0" rIns="0" bIns="0" rtlCol="0" anchor="ctr"/>
          <a:lstStyle/>
          <a:p>
            <a:pPr marL="0" indent="0">
              <a:buNone/>
            </a:pPr>
            <a:r>
              <a:rPr lang="en-US" sz="1300" dirty="0">
                <a:solidFill>
                  <a:srgbClr val="9DB5AE"/>
                </a:solidFill>
              </a:rPr>
              <a:t>Dependent variable: ln per capita NSDP</a:t>
            </a:r>
            <a:endParaRPr lang="en-US" sz="1300" dirty="0"/>
          </a:p>
        </p:txBody>
      </p:sp>
      <p:sp>
        <p:nvSpPr>
          <p:cNvPr id="4" name="spec card"/>
          <p:cNvSpPr/>
          <p:nvPr/>
        </p:nvSpPr>
        <p:spPr>
          <a:xfrm>
            <a:off x="457200" y="1234440"/>
            <a:ext cx="8229600" cy="566928"/>
          </a:xfrm>
          <a:prstGeom prst="roundRect">
            <a:avLst>
              <a:gd name="adj" fmla="val 12903"/>
            </a:avLst>
          </a:prstGeom>
          <a:solidFill>
            <a:srgbClr val="172B27"/>
          </a:solidFill>
          <a:ln w="9525">
            <a:solidFill>
              <a:srgbClr val="2A4540"/>
            </a:solidFill>
            <a:prstDash val="solid"/>
          </a:ln>
        </p:spPr>
      </p:sp>
      <p:sp>
        <p:nvSpPr>
          <p:cNvPr id="5" name="spec marker"/>
          <p:cNvSpPr/>
          <p:nvPr/>
        </p:nvSpPr>
        <p:spPr>
          <a:xfrm>
            <a:off x="594360" y="1325880"/>
            <a:ext cx="384048" cy="384048"/>
          </a:xfrm>
          <a:prstGeom prst="ellipse">
            <a:avLst/>
          </a:prstGeom>
          <a:solidFill>
            <a:srgbClr val="2DD4A7"/>
          </a:solidFill>
          <a:ln w="12700">
            <a:solidFill>
              <a:srgbClr val="0F1C1A"/>
            </a:solidFill>
            <a:prstDash val="solid"/>
          </a:ln>
        </p:spPr>
      </p:sp>
      <p:sp>
        <p:nvSpPr>
          <p:cNvPr id="6" name="Text 4"/>
          <p:cNvSpPr txBox="1"/>
          <p:nvPr/>
        </p:nvSpPr>
        <p:spPr>
          <a:xfrm>
            <a:off x="594360" y="1325880"/>
            <a:ext cx="384048" cy="384048"/>
          </a:xfrm>
          <a:prstGeom prst="rect">
            <a:avLst/>
          </a:prstGeom>
          <a:noFill/>
          <a:ln/>
        </p:spPr>
        <p:txBody>
          <a:bodyPr wrap="square" lIns="0" tIns="0" rIns="0" bIns="0" rtlCol="0" anchor="ctr"/>
          <a:lstStyle/>
          <a:p>
            <a:pPr marL="0" indent="0" algn="ctr">
              <a:buNone/>
            </a:pPr>
            <a:r>
              <a:rPr lang="en-US" sz="1400" b="1" dirty="0">
                <a:solidFill>
                  <a:srgbClr val="0F1C1A"/>
                </a:solidFill>
              </a:rPr>
              <a:t>A</a:t>
            </a:r>
            <a:endParaRPr lang="en-US" sz="1400" dirty="0"/>
          </a:p>
        </p:txBody>
      </p:sp>
      <p:sp>
        <p:nvSpPr>
          <p:cNvPr id="7" name="Text 5"/>
          <p:cNvSpPr txBox="1"/>
          <p:nvPr/>
        </p:nvSpPr>
        <p:spPr>
          <a:xfrm>
            <a:off x="1188720" y="1234440"/>
            <a:ext cx="7315200" cy="566928"/>
          </a:xfrm>
          <a:prstGeom prst="rect">
            <a:avLst/>
          </a:prstGeom>
          <a:noFill/>
          <a:ln/>
        </p:spPr>
        <p:txBody>
          <a:bodyPr wrap="square" lIns="0" tIns="0" rIns="0" bIns="0" rtlCol="0" anchor="ctr"/>
          <a:lstStyle/>
          <a:p>
            <a:pPr marL="0" indent="0">
              <a:buNone/>
            </a:pPr>
            <a:r>
              <a:rPr lang="en-US" sz="1500" dirty="0">
                <a:solidFill>
                  <a:srgbClr val="F4F1EA"/>
                </a:solidFill>
              </a:rPr>
              <a:t>Spending ratios plus ln GSDP</a:t>
            </a:r>
            <a:endParaRPr lang="en-US" sz="1500" dirty="0"/>
          </a:p>
        </p:txBody>
      </p:sp>
      <p:sp>
        <p:nvSpPr>
          <p:cNvPr id="8" name="spec card"/>
          <p:cNvSpPr/>
          <p:nvPr/>
        </p:nvSpPr>
        <p:spPr>
          <a:xfrm>
            <a:off x="457200" y="1920240"/>
            <a:ext cx="8229600" cy="566928"/>
          </a:xfrm>
          <a:prstGeom prst="roundRect">
            <a:avLst>
              <a:gd name="adj" fmla="val 12903"/>
            </a:avLst>
          </a:prstGeom>
          <a:solidFill>
            <a:srgbClr val="172B27"/>
          </a:solidFill>
          <a:ln w="9525">
            <a:solidFill>
              <a:srgbClr val="2A4540"/>
            </a:solidFill>
            <a:prstDash val="solid"/>
          </a:ln>
        </p:spPr>
      </p:sp>
      <p:sp>
        <p:nvSpPr>
          <p:cNvPr id="9" name="spec marker"/>
          <p:cNvSpPr/>
          <p:nvPr/>
        </p:nvSpPr>
        <p:spPr>
          <a:xfrm>
            <a:off x="594360" y="2011680"/>
            <a:ext cx="384048" cy="384048"/>
          </a:xfrm>
          <a:prstGeom prst="ellipse">
            <a:avLst/>
          </a:prstGeom>
          <a:solidFill>
            <a:srgbClr val="F5B83D"/>
          </a:solidFill>
          <a:ln w="12700">
            <a:solidFill>
              <a:srgbClr val="0F1C1A"/>
            </a:solidFill>
            <a:prstDash val="solid"/>
          </a:ln>
        </p:spPr>
      </p:sp>
      <p:sp>
        <p:nvSpPr>
          <p:cNvPr id="10" name="Text 8"/>
          <p:cNvSpPr txBox="1"/>
          <p:nvPr/>
        </p:nvSpPr>
        <p:spPr>
          <a:xfrm>
            <a:off x="594360" y="2011680"/>
            <a:ext cx="384048" cy="384048"/>
          </a:xfrm>
          <a:prstGeom prst="rect">
            <a:avLst/>
          </a:prstGeom>
          <a:noFill/>
          <a:ln/>
        </p:spPr>
        <p:txBody>
          <a:bodyPr wrap="square" lIns="0" tIns="0" rIns="0" bIns="0" rtlCol="0" anchor="ctr"/>
          <a:lstStyle/>
          <a:p>
            <a:pPr marL="0" indent="0" algn="ctr">
              <a:buNone/>
            </a:pPr>
            <a:r>
              <a:rPr lang="en-US" sz="1400" b="1" dirty="0">
                <a:solidFill>
                  <a:srgbClr val="0F1C1A"/>
                </a:solidFill>
              </a:rPr>
              <a:t>B</a:t>
            </a:r>
            <a:endParaRPr lang="en-US" sz="1400" dirty="0"/>
          </a:p>
        </p:txBody>
      </p:sp>
      <p:sp>
        <p:nvSpPr>
          <p:cNvPr id="11" name="Text 9"/>
          <p:cNvSpPr txBox="1"/>
          <p:nvPr/>
        </p:nvSpPr>
        <p:spPr>
          <a:xfrm>
            <a:off x="1188720" y="1920240"/>
            <a:ext cx="7315200" cy="566928"/>
          </a:xfrm>
          <a:prstGeom prst="rect">
            <a:avLst/>
          </a:prstGeom>
          <a:noFill/>
          <a:ln/>
        </p:spPr>
        <p:txBody>
          <a:bodyPr wrap="square" lIns="0" tIns="0" rIns="0" bIns="0" rtlCol="0" anchor="ctr"/>
          <a:lstStyle/>
          <a:p>
            <a:pPr marL="0" indent="0">
              <a:buNone/>
            </a:pPr>
            <a:r>
              <a:rPr lang="en-US" sz="1500" dirty="0">
                <a:solidFill>
                  <a:srgbClr val="F4F1EA"/>
                </a:solidFill>
              </a:rPr>
              <a:t>Main: social, capital, revenue, deficit, liabilities</a:t>
            </a:r>
            <a:endParaRPr lang="en-US" sz="1500" dirty="0"/>
          </a:p>
        </p:txBody>
      </p:sp>
      <p:sp>
        <p:nvSpPr>
          <p:cNvPr id="12" name="spec card"/>
          <p:cNvSpPr/>
          <p:nvPr/>
        </p:nvSpPr>
        <p:spPr>
          <a:xfrm>
            <a:off x="457200" y="2606040"/>
            <a:ext cx="8229600" cy="566928"/>
          </a:xfrm>
          <a:prstGeom prst="roundRect">
            <a:avLst>
              <a:gd name="adj" fmla="val 12903"/>
            </a:avLst>
          </a:prstGeom>
          <a:solidFill>
            <a:srgbClr val="172B27"/>
          </a:solidFill>
          <a:ln w="9525">
            <a:solidFill>
              <a:srgbClr val="2A4540"/>
            </a:solidFill>
            <a:prstDash val="solid"/>
          </a:ln>
        </p:spPr>
      </p:sp>
      <p:sp>
        <p:nvSpPr>
          <p:cNvPr id="13" name="spec marker"/>
          <p:cNvSpPr/>
          <p:nvPr/>
        </p:nvSpPr>
        <p:spPr>
          <a:xfrm>
            <a:off x="594360" y="2697480"/>
            <a:ext cx="384048" cy="384048"/>
          </a:xfrm>
          <a:prstGeom prst="ellipse">
            <a:avLst/>
          </a:prstGeom>
          <a:solidFill>
            <a:srgbClr val="2DD4A7"/>
          </a:solidFill>
          <a:ln w="12700">
            <a:solidFill>
              <a:srgbClr val="0F1C1A"/>
            </a:solidFill>
            <a:prstDash val="solid"/>
          </a:ln>
        </p:spPr>
      </p:sp>
      <p:sp>
        <p:nvSpPr>
          <p:cNvPr id="14" name="Text 12"/>
          <p:cNvSpPr txBox="1"/>
          <p:nvPr/>
        </p:nvSpPr>
        <p:spPr>
          <a:xfrm>
            <a:off x="594360" y="2697480"/>
            <a:ext cx="384048" cy="384048"/>
          </a:xfrm>
          <a:prstGeom prst="rect">
            <a:avLst/>
          </a:prstGeom>
          <a:noFill/>
          <a:ln/>
        </p:spPr>
        <p:txBody>
          <a:bodyPr wrap="square" lIns="0" tIns="0" rIns="0" bIns="0" rtlCol="0" anchor="ctr"/>
          <a:lstStyle/>
          <a:p>
            <a:pPr marL="0" indent="0" algn="ctr">
              <a:buNone/>
            </a:pPr>
            <a:r>
              <a:rPr lang="en-US" sz="1400" b="1" dirty="0">
                <a:solidFill>
                  <a:srgbClr val="0F1C1A"/>
                </a:solidFill>
              </a:rPr>
              <a:t>C</a:t>
            </a:r>
            <a:endParaRPr lang="en-US" sz="1400" dirty="0"/>
          </a:p>
        </p:txBody>
      </p:sp>
      <p:sp>
        <p:nvSpPr>
          <p:cNvPr id="15" name="Text 13"/>
          <p:cNvSpPr txBox="1"/>
          <p:nvPr/>
        </p:nvSpPr>
        <p:spPr>
          <a:xfrm>
            <a:off x="1188720" y="2606040"/>
            <a:ext cx="7315200" cy="566928"/>
          </a:xfrm>
          <a:prstGeom prst="rect">
            <a:avLst/>
          </a:prstGeom>
          <a:noFill/>
          <a:ln/>
        </p:spPr>
        <p:txBody>
          <a:bodyPr wrap="square" lIns="0" tIns="0" rIns="0" bIns="0" rtlCol="0" anchor="ctr"/>
          <a:lstStyle/>
          <a:p>
            <a:pPr marL="0" indent="0">
              <a:buNone/>
            </a:pPr>
            <a:r>
              <a:rPr lang="en-US" sz="1500" dirty="0">
                <a:solidFill>
                  <a:srgbClr val="F4F1EA"/>
                </a:solidFill>
              </a:rPr>
              <a:t>Spec B without revenue spending</a:t>
            </a:r>
            <a:endParaRPr lang="en-US" sz="1500" dirty="0"/>
          </a:p>
        </p:txBody>
      </p:sp>
      <p:sp>
        <p:nvSpPr>
          <p:cNvPr id="16" name="spec card"/>
          <p:cNvSpPr/>
          <p:nvPr/>
        </p:nvSpPr>
        <p:spPr>
          <a:xfrm>
            <a:off x="457200" y="3291840"/>
            <a:ext cx="8229600" cy="566928"/>
          </a:xfrm>
          <a:prstGeom prst="roundRect">
            <a:avLst>
              <a:gd name="adj" fmla="val 12903"/>
            </a:avLst>
          </a:prstGeom>
          <a:solidFill>
            <a:srgbClr val="172B27"/>
          </a:solidFill>
          <a:ln w="9525">
            <a:solidFill>
              <a:srgbClr val="2A4540"/>
            </a:solidFill>
            <a:prstDash val="solid"/>
          </a:ln>
        </p:spPr>
      </p:sp>
      <p:sp>
        <p:nvSpPr>
          <p:cNvPr id="17" name="spec marker"/>
          <p:cNvSpPr/>
          <p:nvPr/>
        </p:nvSpPr>
        <p:spPr>
          <a:xfrm>
            <a:off x="594360" y="3383280"/>
            <a:ext cx="384048" cy="384048"/>
          </a:xfrm>
          <a:prstGeom prst="ellipse">
            <a:avLst/>
          </a:prstGeom>
          <a:solidFill>
            <a:srgbClr val="2DD4A7"/>
          </a:solidFill>
          <a:ln w="12700">
            <a:solidFill>
              <a:srgbClr val="0F1C1A"/>
            </a:solidFill>
            <a:prstDash val="solid"/>
          </a:ln>
        </p:spPr>
      </p:sp>
      <p:sp>
        <p:nvSpPr>
          <p:cNvPr id="18" name="Text 16"/>
          <p:cNvSpPr txBox="1"/>
          <p:nvPr/>
        </p:nvSpPr>
        <p:spPr>
          <a:xfrm>
            <a:off x="594360" y="3383280"/>
            <a:ext cx="384048" cy="384048"/>
          </a:xfrm>
          <a:prstGeom prst="rect">
            <a:avLst/>
          </a:prstGeom>
          <a:noFill/>
          <a:ln/>
        </p:spPr>
        <p:txBody>
          <a:bodyPr wrap="square" lIns="0" tIns="0" rIns="0" bIns="0" rtlCol="0" anchor="ctr"/>
          <a:lstStyle/>
          <a:p>
            <a:pPr marL="0" indent="0" algn="ctr">
              <a:buNone/>
            </a:pPr>
            <a:r>
              <a:rPr lang="en-US" sz="1400" b="1" dirty="0">
                <a:solidFill>
                  <a:srgbClr val="0F1C1A"/>
                </a:solidFill>
              </a:rPr>
              <a:t>D</a:t>
            </a:r>
            <a:endParaRPr lang="en-US" sz="1400" dirty="0"/>
          </a:p>
        </p:txBody>
      </p:sp>
      <p:sp>
        <p:nvSpPr>
          <p:cNvPr id="19" name="Text 17"/>
          <p:cNvSpPr txBox="1"/>
          <p:nvPr/>
        </p:nvSpPr>
        <p:spPr>
          <a:xfrm>
            <a:off x="1188720" y="3291840"/>
            <a:ext cx="7315200" cy="566928"/>
          </a:xfrm>
          <a:prstGeom prst="rect">
            <a:avLst/>
          </a:prstGeom>
          <a:noFill/>
          <a:ln/>
        </p:spPr>
        <p:txBody>
          <a:bodyPr wrap="square" lIns="0" tIns="0" rIns="0" bIns="0" rtlCol="0" anchor="ctr"/>
          <a:lstStyle/>
          <a:p>
            <a:pPr marL="0" indent="0">
              <a:buNone/>
            </a:pPr>
            <a:r>
              <a:rPr lang="en-US" sz="1500" dirty="0">
                <a:solidFill>
                  <a:srgbClr val="F4F1EA"/>
                </a:solidFill>
              </a:rPr>
              <a:t>Total spending plus composition shares</a:t>
            </a:r>
            <a:endParaRPr lang="en-US" sz="1500" dirty="0"/>
          </a:p>
        </p:txBody>
      </p:sp>
      <p:sp>
        <p:nvSpPr>
          <p:cNvPr id="20" name="spec card"/>
          <p:cNvSpPr/>
          <p:nvPr/>
        </p:nvSpPr>
        <p:spPr>
          <a:xfrm>
            <a:off x="457200" y="3977640"/>
            <a:ext cx="8229600" cy="566928"/>
          </a:xfrm>
          <a:prstGeom prst="roundRect">
            <a:avLst>
              <a:gd name="adj" fmla="val 12903"/>
            </a:avLst>
          </a:prstGeom>
          <a:solidFill>
            <a:srgbClr val="172B27"/>
          </a:solidFill>
          <a:ln w="9525">
            <a:solidFill>
              <a:srgbClr val="2A4540"/>
            </a:solidFill>
            <a:prstDash val="solid"/>
          </a:ln>
        </p:spPr>
      </p:sp>
      <p:sp>
        <p:nvSpPr>
          <p:cNvPr id="21" name="spec marker"/>
          <p:cNvSpPr/>
          <p:nvPr/>
        </p:nvSpPr>
        <p:spPr>
          <a:xfrm>
            <a:off x="594360" y="4069080"/>
            <a:ext cx="384048" cy="384048"/>
          </a:xfrm>
          <a:prstGeom prst="ellipse">
            <a:avLst/>
          </a:prstGeom>
          <a:solidFill>
            <a:srgbClr val="2DD4A7"/>
          </a:solidFill>
          <a:ln w="12700">
            <a:solidFill>
              <a:srgbClr val="0F1C1A"/>
            </a:solidFill>
            <a:prstDash val="solid"/>
          </a:ln>
        </p:spPr>
      </p:sp>
      <p:sp>
        <p:nvSpPr>
          <p:cNvPr id="22" name="Text 20"/>
          <p:cNvSpPr txBox="1"/>
          <p:nvPr/>
        </p:nvSpPr>
        <p:spPr>
          <a:xfrm>
            <a:off x="594360" y="4069080"/>
            <a:ext cx="384048" cy="384048"/>
          </a:xfrm>
          <a:prstGeom prst="rect">
            <a:avLst/>
          </a:prstGeom>
          <a:noFill/>
          <a:ln/>
        </p:spPr>
        <p:txBody>
          <a:bodyPr wrap="square" lIns="0" tIns="0" rIns="0" bIns="0" rtlCol="0" anchor="ctr"/>
          <a:lstStyle/>
          <a:p>
            <a:pPr marL="0" indent="0" algn="ctr">
              <a:buNone/>
            </a:pPr>
            <a:r>
              <a:rPr lang="en-US" sz="1400" b="1" dirty="0">
                <a:solidFill>
                  <a:srgbClr val="0F1C1A"/>
                </a:solidFill>
              </a:rPr>
              <a:t>E</a:t>
            </a:r>
            <a:endParaRPr lang="en-US" sz="1400" dirty="0"/>
          </a:p>
        </p:txBody>
      </p:sp>
      <p:sp>
        <p:nvSpPr>
          <p:cNvPr id="23" name="Text 21"/>
          <p:cNvSpPr txBox="1"/>
          <p:nvPr/>
        </p:nvSpPr>
        <p:spPr>
          <a:xfrm>
            <a:off x="1188720" y="3977640"/>
            <a:ext cx="7315200" cy="566928"/>
          </a:xfrm>
          <a:prstGeom prst="rect">
            <a:avLst/>
          </a:prstGeom>
          <a:noFill/>
          <a:ln/>
        </p:spPr>
        <p:txBody>
          <a:bodyPr wrap="square" lIns="0" tIns="0" rIns="0" bIns="0" rtlCol="0" anchor="ctr"/>
          <a:lstStyle/>
          <a:p>
            <a:pPr marL="0" indent="0">
              <a:buNone/>
            </a:pPr>
            <a:r>
              <a:rPr lang="en-US" sz="1500" dirty="0">
                <a:solidFill>
                  <a:srgbClr val="F4F1EA"/>
                </a:solidFill>
              </a:rPr>
              <a:t>Log ratios (elasticities)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 number"/>
          <p:cNvSpPr txBox="1"/>
          <p:nvPr/>
        </p:nvSpPr>
        <p:spPr>
          <a:xfrm>
            <a:off x="548640" y="1325880"/>
            <a:ext cx="2743200" cy="822960"/>
          </a:xfrm>
          <a:prstGeom prst="rect">
            <a:avLst/>
          </a:prstGeom>
          <a:noFill/>
        </p:spPr>
        <p:txBody>
          <a:bodyPr wrap="square" lIns="0" tIns="0" rIns="0" bIns="0" anchor="t">
            <a:spAutoFit/>
          </a:bodyPr>
          <a:lstStyle/>
          <a:p>
            <a:pPr algn="l"/>
            <a:r>
              <a:rPr sz="5400" b="1" i="0">
                <a:solidFill>
                  <a:srgbClr val="2DD4A7"/>
                </a:solidFill>
                <a:latin typeface="Cambria"/>
              </a:rPr>
              <a:t>02</a:t>
            </a:r>
          </a:p>
        </p:txBody>
      </p:sp>
      <p:sp>
        <p:nvSpPr>
          <p:cNvPr id="3" name="Title"/>
          <p:cNvSpPr txBox="1"/>
          <p:nvPr/>
        </p:nvSpPr>
        <p:spPr>
          <a:xfrm>
            <a:off x="548640" y="2240280"/>
            <a:ext cx="7680960" cy="640080"/>
          </a:xfrm>
          <a:prstGeom prst="rect">
            <a:avLst/>
          </a:prstGeom>
          <a:noFill/>
        </p:spPr>
        <p:txBody>
          <a:bodyPr wrap="square" lIns="0" tIns="0" rIns="0" bIns="0" anchor="t">
            <a:spAutoFit/>
          </a:bodyPr>
          <a:lstStyle/>
          <a:p>
            <a:pPr algn="l"/>
            <a:r>
              <a:rPr sz="3400" b="1" i="0">
                <a:solidFill>
                  <a:srgbClr val="F4F1EA"/>
                </a:solidFill>
                <a:latin typeface="Cambria"/>
              </a:rPr>
              <a:t>The landscape</a:t>
            </a:r>
          </a:p>
        </p:txBody>
      </p:sp>
      <p:sp>
        <p:nvSpPr>
          <p:cNvPr id="4" name="Subtitle"/>
          <p:cNvSpPr txBox="1"/>
          <p:nvPr/>
        </p:nvSpPr>
        <p:spPr>
          <a:xfrm>
            <a:off x="548640" y="3017520"/>
            <a:ext cx="7132320" cy="548640"/>
          </a:xfrm>
          <a:prstGeom prst="rect">
            <a:avLst/>
          </a:prstGeom>
          <a:noFill/>
        </p:spPr>
        <p:txBody>
          <a:bodyPr wrap="square" lIns="0" tIns="0" rIns="0" bIns="0" anchor="t">
            <a:spAutoFit/>
          </a:bodyPr>
          <a:lstStyle/>
          <a:p>
            <a:pPr algn="l"/>
            <a:r>
              <a:rPr sz="1400" b="0" i="0">
                <a:solidFill>
                  <a:srgbClr val="9DB5AE"/>
                </a:solidFill>
              </a:rPr>
              <a:t>Objective 1: describe income gaps and fiscal positions across states</a:t>
            </a:r>
          </a:p>
        </p:txBody>
      </p:sp>
      <p:sp>
        <p:nvSpPr>
          <p:cNvPr id="5" name="progress dot"/>
          <p:cNvSpPr/>
          <p:nvPr/>
        </p:nvSpPr>
        <p:spPr>
          <a:xfrm>
            <a:off x="548640" y="4343400"/>
            <a:ext cx="128016" cy="128016"/>
          </a:xfrm>
          <a:prstGeom prst="ellipse">
            <a:avLst/>
          </a:prstGeom>
          <a:solidFill>
            <a:srgbClr val="2A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rogress dot"/>
          <p:cNvSpPr/>
          <p:nvPr/>
        </p:nvSpPr>
        <p:spPr>
          <a:xfrm>
            <a:off x="804672" y="4343400"/>
            <a:ext cx="128016" cy="128016"/>
          </a:xfrm>
          <a:prstGeom prst="ellipse">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rogress dot"/>
          <p:cNvSpPr/>
          <p:nvPr/>
        </p:nvSpPr>
        <p:spPr>
          <a:xfrm>
            <a:off x="1060704" y="4343400"/>
            <a:ext cx="128016" cy="128016"/>
          </a:xfrm>
          <a:prstGeom prst="ellipse">
            <a:avLst/>
          </a:prstGeom>
          <a:solidFill>
            <a:srgbClr val="2A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progress dot"/>
          <p:cNvSpPr/>
          <p:nvPr/>
        </p:nvSpPr>
        <p:spPr>
          <a:xfrm>
            <a:off x="1316736" y="4343400"/>
            <a:ext cx="128016" cy="128016"/>
          </a:xfrm>
          <a:prstGeom prst="ellipse">
            <a:avLst/>
          </a:prstGeom>
          <a:solidFill>
            <a:srgbClr val="2A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progress dot"/>
          <p:cNvSpPr/>
          <p:nvPr/>
        </p:nvSpPr>
        <p:spPr>
          <a:xfrm>
            <a:off x="1572768" y="4343400"/>
            <a:ext cx="128016" cy="128016"/>
          </a:xfrm>
          <a:prstGeom prst="ellipse">
            <a:avLst/>
          </a:prstGeom>
          <a:solidFill>
            <a:srgbClr val="2A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8229600" cy="502920"/>
          </a:xfrm>
          <a:prstGeom prst="rect">
            <a:avLst/>
          </a:prstGeom>
          <a:noFill/>
        </p:spPr>
        <p:txBody>
          <a:bodyPr wrap="square" lIns="0" tIns="0" rIns="0" bIns="0" anchor="t">
            <a:spAutoFit/>
          </a:bodyPr>
          <a:lstStyle/>
          <a:p>
            <a:pPr algn="l"/>
            <a:r>
              <a:rPr sz="2400" b="1" i="0">
                <a:solidFill>
                  <a:srgbClr val="F4F1EA"/>
                </a:solidFill>
                <a:latin typeface="Cambria"/>
              </a:rPr>
              <a:t>The richest state earns 10.6× the poorest</a:t>
            </a:r>
          </a:p>
        </p:txBody>
      </p:sp>
      <p:sp>
        <p:nvSpPr>
          <p:cNvPr id="3" name="Subtitle"/>
          <p:cNvSpPr txBox="1"/>
          <p:nvPr/>
        </p:nvSpPr>
        <p:spPr>
          <a:xfrm>
            <a:off x="457200" y="777240"/>
            <a:ext cx="8229600" cy="274320"/>
          </a:xfrm>
          <a:prstGeom prst="rect">
            <a:avLst/>
          </a:prstGeom>
          <a:noFill/>
        </p:spPr>
        <p:txBody>
          <a:bodyPr wrap="square" lIns="0" tIns="0" rIns="0" bIns="0" anchor="ctr">
            <a:spAutoFit/>
          </a:bodyPr>
          <a:lstStyle/>
          <a:p>
            <a:pPr algn="l"/>
            <a:r>
              <a:rPr sz="1300" b="0" i="0">
                <a:solidFill>
                  <a:srgbClr val="9DB5AE"/>
                </a:solidFill>
              </a:rPr>
              <a:t>Real per-capita NSDP for selected states against the all-state median</a:t>
            </a:r>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15</a:t>
            </a:fld>
            <a:endParaRPr lang="en-US"/>
          </a:p>
        </p:txBody>
      </p:sp>
      <p:sp>
        <p:nvSpPr>
          <p:cNvPr id="26" name="figure panel"/>
          <p:cNvSpPr/>
          <p:nvPr/>
        </p:nvSpPr>
        <p:spPr>
          <a:xfrm>
            <a:off x="457200" y="1188720"/>
            <a:ext cx="5669280" cy="3474720"/>
          </a:xfrm>
          <a:prstGeom prst="roundRect">
            <a:avLst>
              <a:gd name="adj" fmla="val 2105"/>
            </a:avLst>
          </a:prstGeom>
          <a:solidFill>
            <a:srgbClr val="FFFFFF"/>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er-capita income by state over time" descr="Per-capita income by state over time"/>
          <p:cNvPicPr>
            <a:picLocks noChangeAspect="1"/>
          </p:cNvPicPr>
          <p:nvPr/>
        </p:nvPicPr>
        <p:blipFill>
          <a:blip r:embed="rId3"/>
          <a:stretch>
            <a:fillRect/>
          </a:stretch>
        </p:blipFill>
        <p:spPr>
          <a:xfrm>
            <a:off x="548640" y="1286652"/>
            <a:ext cx="5486400" cy="3278854"/>
          </a:xfrm>
          <a:prstGeom prst="rect">
            <a:avLst/>
          </a:prstGeom>
        </p:spPr>
      </p:pic>
      <p:sp>
        <p:nvSpPr>
          <p:cNvPr id="28" name="kpi card"/>
          <p:cNvSpPr/>
          <p:nvPr/>
        </p:nvSpPr>
        <p:spPr>
          <a:xfrm>
            <a:off x="6355080" y="1188720"/>
            <a:ext cx="2331720" cy="1051560"/>
          </a:xfrm>
          <a:prstGeom prst="roundRect">
            <a:avLst>
              <a:gd name="adj" fmla="val 5217"/>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92240" y="1261872"/>
            <a:ext cx="2057400" cy="457200"/>
          </a:xfrm>
          <a:prstGeom prst="rect">
            <a:avLst/>
          </a:prstGeom>
          <a:noFill/>
        </p:spPr>
        <p:txBody>
          <a:bodyPr wrap="square" lIns="0" tIns="0" rIns="0" bIns="0" anchor="ctr">
            <a:spAutoFit/>
          </a:bodyPr>
          <a:lstStyle/>
          <a:p>
            <a:pPr algn="l"/>
            <a:r>
              <a:rPr sz="2800" b="1" i="0">
                <a:solidFill>
                  <a:srgbClr val="F5B83D"/>
                </a:solidFill>
                <a:latin typeface="Cambria"/>
              </a:rPr>
              <a:t>10.6×</a:t>
            </a:r>
          </a:p>
        </p:txBody>
      </p:sp>
      <p:sp>
        <p:nvSpPr>
          <p:cNvPr id="30" name="TextBox 29"/>
          <p:cNvSpPr txBox="1"/>
          <p:nvPr/>
        </p:nvSpPr>
        <p:spPr>
          <a:xfrm>
            <a:off x="6492240" y="1755648"/>
            <a:ext cx="2057400" cy="429767"/>
          </a:xfrm>
          <a:prstGeom prst="rect">
            <a:avLst/>
          </a:prstGeom>
          <a:noFill/>
        </p:spPr>
        <p:txBody>
          <a:bodyPr wrap="square" lIns="0" tIns="0" rIns="0" bIns="0" anchor="t">
            <a:spAutoFit/>
          </a:bodyPr>
          <a:lstStyle/>
          <a:p>
            <a:pPr algn="l"/>
            <a:r>
              <a:rPr sz="1050" b="0" i="0">
                <a:solidFill>
                  <a:srgbClr val="9DB5AE"/>
                </a:solidFill>
              </a:rPr>
              <a:t>Goa vs Bihar, 2021–22</a:t>
            </a:r>
          </a:p>
        </p:txBody>
      </p:sp>
      <p:sp>
        <p:nvSpPr>
          <p:cNvPr id="31" name="kpi card"/>
          <p:cNvSpPr/>
          <p:nvPr/>
        </p:nvSpPr>
        <p:spPr>
          <a:xfrm>
            <a:off x="6355080" y="2331720"/>
            <a:ext cx="2331720" cy="1051560"/>
          </a:xfrm>
          <a:prstGeom prst="roundRect">
            <a:avLst>
              <a:gd name="adj" fmla="val 5217"/>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92240" y="2404872"/>
            <a:ext cx="2057400" cy="457200"/>
          </a:xfrm>
          <a:prstGeom prst="rect">
            <a:avLst/>
          </a:prstGeom>
          <a:noFill/>
        </p:spPr>
        <p:txBody>
          <a:bodyPr wrap="square" lIns="0" tIns="0" rIns="0" bIns="0" anchor="ctr">
            <a:spAutoFit/>
          </a:bodyPr>
          <a:lstStyle/>
          <a:p>
            <a:pPr algn="l"/>
            <a:r>
              <a:rPr sz="2800" b="1" i="0">
                <a:solidFill>
                  <a:srgbClr val="2DD4A7"/>
                </a:solidFill>
                <a:latin typeface="Cambria"/>
              </a:rPr>
              <a:t>+71%</a:t>
            </a:r>
          </a:p>
        </p:txBody>
      </p:sp>
      <p:sp>
        <p:nvSpPr>
          <p:cNvPr id="33" name="TextBox 32"/>
          <p:cNvSpPr txBox="1"/>
          <p:nvPr/>
        </p:nvSpPr>
        <p:spPr>
          <a:xfrm>
            <a:off x="6492240" y="2898648"/>
            <a:ext cx="2057400" cy="429767"/>
          </a:xfrm>
          <a:prstGeom prst="rect">
            <a:avLst/>
          </a:prstGeom>
          <a:noFill/>
        </p:spPr>
        <p:txBody>
          <a:bodyPr wrap="square" lIns="0" tIns="0" rIns="0" bIns="0" anchor="t">
            <a:spAutoFit/>
          </a:bodyPr>
          <a:lstStyle/>
          <a:p>
            <a:pPr algn="l"/>
            <a:r>
              <a:rPr sz="1050" b="0" i="0">
                <a:solidFill>
                  <a:srgbClr val="9DB5AE"/>
                </a:solidFill>
              </a:rPr>
              <a:t>Real growth of the median state, 2011–12 to 2021–22</a:t>
            </a:r>
          </a:p>
        </p:txBody>
      </p:sp>
      <p:sp>
        <p:nvSpPr>
          <p:cNvPr id="34" name="so what card"/>
          <p:cNvSpPr/>
          <p:nvPr/>
        </p:nvSpPr>
        <p:spPr>
          <a:xfrm>
            <a:off x="6355080" y="3474720"/>
            <a:ext cx="2331720" cy="1188720"/>
          </a:xfrm>
          <a:prstGeom prst="roundRect">
            <a:avLst>
              <a:gd name="adj" fmla="val 4615"/>
            </a:avLst>
          </a:prstGeom>
          <a:solidFill>
            <a:srgbClr val="12362F"/>
          </a:solidFill>
          <a:ln w="9525">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92240" y="3566160"/>
            <a:ext cx="2057400" cy="182880"/>
          </a:xfrm>
          <a:prstGeom prst="rect">
            <a:avLst/>
          </a:prstGeom>
          <a:noFill/>
        </p:spPr>
        <p:txBody>
          <a:bodyPr wrap="square" lIns="0" tIns="0" rIns="0" bIns="0" anchor="t">
            <a:spAutoFit/>
          </a:bodyPr>
          <a:lstStyle/>
          <a:p>
            <a:pPr algn="l"/>
            <a:r>
              <a:rPr sz="900" b="1" i="0">
                <a:solidFill>
                  <a:srgbClr val="2DD4A7"/>
                </a:solidFill>
              </a:rPr>
              <a:t>SO WHAT</a:t>
            </a:r>
          </a:p>
        </p:txBody>
      </p:sp>
      <p:sp>
        <p:nvSpPr>
          <p:cNvPr id="36" name="TextBox 35"/>
          <p:cNvSpPr txBox="1"/>
          <p:nvPr/>
        </p:nvSpPr>
        <p:spPr>
          <a:xfrm>
            <a:off x="6492240" y="3785615"/>
            <a:ext cx="2057400" cy="804672"/>
          </a:xfrm>
          <a:prstGeom prst="rect">
            <a:avLst/>
          </a:prstGeom>
          <a:noFill/>
        </p:spPr>
        <p:txBody>
          <a:bodyPr wrap="square" lIns="0" tIns="0" rIns="0" bIns="0" anchor="t">
            <a:spAutoFit/>
          </a:bodyPr>
          <a:lstStyle/>
          <a:p>
            <a:pPr algn="l"/>
            <a:r>
              <a:rPr sz="1050" b="0" i="0">
                <a:solidFill>
                  <a:srgbClr val="F4F1EA"/>
                </a:solidFill>
              </a:rPr>
              <a:t>Every state dipped in 2020–21, but the ranking barely moved. The gap is structural, not cyclical.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8229600" cy="502920"/>
          </a:xfrm>
          <a:prstGeom prst="rect">
            <a:avLst/>
          </a:prstGeom>
          <a:noFill/>
        </p:spPr>
        <p:txBody>
          <a:bodyPr wrap="square" lIns="0" tIns="0" rIns="0" bIns="0" anchor="t">
            <a:spAutoFit/>
          </a:bodyPr>
          <a:lstStyle/>
          <a:p>
            <a:pPr algn="l"/>
            <a:r>
              <a:rPr sz="2400" b="1" i="0">
                <a:solidFill>
                  <a:srgbClr val="F4F1EA"/>
                </a:solidFill>
                <a:latin typeface="Cambria"/>
              </a:rPr>
              <a:t>Two Indias: Goa earns 2.5× the median</a:t>
            </a:r>
          </a:p>
        </p:txBody>
      </p:sp>
      <p:sp>
        <p:nvSpPr>
          <p:cNvPr id="3" name="Subtitle"/>
          <p:cNvSpPr txBox="1"/>
          <p:nvPr/>
        </p:nvSpPr>
        <p:spPr>
          <a:xfrm>
            <a:off x="457200" y="777240"/>
            <a:ext cx="8229600" cy="274320"/>
          </a:xfrm>
          <a:prstGeom prst="rect">
            <a:avLst/>
          </a:prstGeom>
          <a:noFill/>
        </p:spPr>
        <p:txBody>
          <a:bodyPr wrap="square" lIns="0" tIns="0" rIns="0" bIns="0" anchor="ctr">
            <a:spAutoFit/>
          </a:bodyPr>
          <a:lstStyle/>
          <a:p>
            <a:pPr algn="l"/>
            <a:r>
              <a:rPr sz="1300" b="0" i="0">
                <a:solidFill>
                  <a:srgbClr val="9DB5AE"/>
                </a:solidFill>
              </a:rPr>
              <a:t>Bihar earns under a quarter of the median; real per-capita NSDP trend vs all-state median</a:t>
            </a:r>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16</a:t>
            </a:fld>
            <a:endParaRPr lang="en-US"/>
          </a:p>
        </p:txBody>
      </p:sp>
      <p:sp>
        <p:nvSpPr>
          <p:cNvPr id="26" name="state card"/>
          <p:cNvSpPr/>
          <p:nvPr/>
        </p:nvSpPr>
        <p:spPr>
          <a:xfrm>
            <a:off x="457200" y="1188720"/>
            <a:ext cx="4023360" cy="2926080"/>
          </a:xfrm>
          <a:prstGeom prst="roundRect">
            <a:avLst>
              <a:gd name="adj" fmla="val 1875"/>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map panel"/>
          <p:cNvSpPr/>
          <p:nvPr/>
        </p:nvSpPr>
        <p:spPr>
          <a:xfrm>
            <a:off x="594360" y="1298448"/>
            <a:ext cx="896112" cy="813816"/>
          </a:xfrm>
          <a:prstGeom prst="roundRect">
            <a:avLst>
              <a:gd name="adj" fmla="val 674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Locator map: Goa" descr="Locator map: Goa"/>
          <p:cNvPicPr>
            <a:picLocks noChangeAspect="1"/>
          </p:cNvPicPr>
          <p:nvPr/>
        </p:nvPicPr>
        <p:blipFill>
          <a:blip r:embed="rId3"/>
          <a:stretch>
            <a:fillRect/>
          </a:stretch>
        </p:blipFill>
        <p:spPr>
          <a:xfrm>
            <a:off x="612648" y="1317026"/>
            <a:ext cx="859536" cy="776658"/>
          </a:xfrm>
          <a:prstGeom prst="rect">
            <a:avLst/>
          </a:prstGeom>
        </p:spPr>
      </p:pic>
      <p:sp>
        <p:nvSpPr>
          <p:cNvPr id="29" name="TextBox 28"/>
          <p:cNvSpPr txBox="1"/>
          <p:nvPr/>
        </p:nvSpPr>
        <p:spPr>
          <a:xfrm>
            <a:off x="1645920" y="1280160"/>
            <a:ext cx="2743200" cy="237744"/>
          </a:xfrm>
          <a:prstGeom prst="rect">
            <a:avLst/>
          </a:prstGeom>
          <a:noFill/>
        </p:spPr>
        <p:txBody>
          <a:bodyPr wrap="square" lIns="0" tIns="0" rIns="0" bIns="0" anchor="t">
            <a:spAutoFit/>
          </a:bodyPr>
          <a:lstStyle/>
          <a:p>
            <a:pPr algn="l"/>
            <a:r>
              <a:rPr sz="1300" b="1" i="0">
                <a:solidFill>
                  <a:srgbClr val="F4F1EA"/>
                </a:solidFill>
                <a:latin typeface="Cambria"/>
              </a:rPr>
              <a:t>Goa</a:t>
            </a:r>
          </a:p>
        </p:txBody>
      </p:sp>
      <p:sp>
        <p:nvSpPr>
          <p:cNvPr id="30" name="TextBox 29"/>
          <p:cNvSpPr txBox="1"/>
          <p:nvPr/>
        </p:nvSpPr>
        <p:spPr>
          <a:xfrm>
            <a:off x="1645920" y="1517904"/>
            <a:ext cx="2743200" cy="329184"/>
          </a:xfrm>
          <a:prstGeom prst="rect">
            <a:avLst/>
          </a:prstGeom>
          <a:noFill/>
        </p:spPr>
        <p:txBody>
          <a:bodyPr wrap="square" lIns="0" tIns="0" rIns="0" bIns="0" anchor="ctr">
            <a:spAutoFit/>
          </a:bodyPr>
          <a:lstStyle/>
          <a:p>
            <a:pPr algn="l"/>
            <a:r>
              <a:rPr sz="2200" b="1" i="0">
                <a:solidFill>
                  <a:srgbClr val="2DD4A7"/>
                </a:solidFill>
                <a:latin typeface="Cambria"/>
              </a:rPr>
              <a:t>₹2.95 lakh</a:t>
            </a:r>
          </a:p>
        </p:txBody>
      </p:sp>
      <p:sp>
        <p:nvSpPr>
          <p:cNvPr id="31" name="TextBox 30"/>
          <p:cNvSpPr txBox="1"/>
          <p:nvPr/>
        </p:nvSpPr>
        <p:spPr>
          <a:xfrm>
            <a:off x="1645920" y="1865376"/>
            <a:ext cx="2743200" cy="274320"/>
          </a:xfrm>
          <a:prstGeom prst="rect">
            <a:avLst/>
          </a:prstGeom>
          <a:noFill/>
        </p:spPr>
        <p:txBody>
          <a:bodyPr wrap="square" lIns="0" tIns="0" rIns="0" bIns="0" anchor="t">
            <a:spAutoFit/>
          </a:bodyPr>
          <a:lstStyle/>
          <a:p>
            <a:pPr algn="l"/>
            <a:r>
              <a:rPr sz="950" b="0" i="0">
                <a:solidFill>
                  <a:srgbClr val="9DB5AE"/>
                </a:solidFill>
              </a:rPr>
              <a:t>2.5× the all-state median in 2021–22</a:t>
            </a:r>
          </a:p>
          <a:p>
            <a:pPr algn="l"/>
            <a:r>
              <a:rPr sz="950" b="0" i="0">
                <a:solidFill>
                  <a:srgbClr val="9DB5AE"/>
                </a:solidFill>
              </a:rPr>
              <a:t>+13.5% real growth over the decade</a:t>
            </a:r>
          </a:p>
        </p:txBody>
      </p:sp>
      <p:sp>
        <p:nvSpPr>
          <p:cNvPr id="32" name="figure panel"/>
          <p:cNvSpPr/>
          <p:nvPr/>
        </p:nvSpPr>
        <p:spPr>
          <a:xfrm>
            <a:off x="594360" y="2240280"/>
            <a:ext cx="3749039" cy="1737360"/>
          </a:xfrm>
          <a:prstGeom prst="roundRect">
            <a:avLst>
              <a:gd name="adj" fmla="val 4210"/>
            </a:avLst>
          </a:prstGeom>
          <a:solidFill>
            <a:srgbClr val="FFFFFF"/>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Income trend: Goa" descr="Income trend: Goa"/>
          <p:cNvPicPr>
            <a:picLocks noChangeAspect="1"/>
          </p:cNvPicPr>
          <p:nvPr/>
        </p:nvPicPr>
        <p:blipFill>
          <a:blip r:embed="rId4"/>
          <a:stretch>
            <a:fillRect/>
          </a:stretch>
        </p:blipFill>
        <p:spPr>
          <a:xfrm>
            <a:off x="640080" y="2367263"/>
            <a:ext cx="3657599" cy="1483392"/>
          </a:xfrm>
          <a:prstGeom prst="rect">
            <a:avLst/>
          </a:prstGeom>
        </p:spPr>
      </p:pic>
      <p:sp>
        <p:nvSpPr>
          <p:cNvPr id="34" name="state card"/>
          <p:cNvSpPr/>
          <p:nvPr/>
        </p:nvSpPr>
        <p:spPr>
          <a:xfrm>
            <a:off x="4663440" y="1188720"/>
            <a:ext cx="4023360" cy="2926080"/>
          </a:xfrm>
          <a:prstGeom prst="roundRect">
            <a:avLst>
              <a:gd name="adj" fmla="val 1875"/>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map panel"/>
          <p:cNvSpPr/>
          <p:nvPr/>
        </p:nvSpPr>
        <p:spPr>
          <a:xfrm>
            <a:off x="4800600" y="1298448"/>
            <a:ext cx="896112" cy="813816"/>
          </a:xfrm>
          <a:prstGeom prst="roundRect">
            <a:avLst>
              <a:gd name="adj" fmla="val 674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Locator map: Bihar" descr="Locator map: Bihar"/>
          <p:cNvPicPr>
            <a:picLocks noChangeAspect="1"/>
          </p:cNvPicPr>
          <p:nvPr/>
        </p:nvPicPr>
        <p:blipFill>
          <a:blip r:embed="rId5"/>
          <a:stretch>
            <a:fillRect/>
          </a:stretch>
        </p:blipFill>
        <p:spPr>
          <a:xfrm>
            <a:off x="4818888" y="1317026"/>
            <a:ext cx="859536" cy="776658"/>
          </a:xfrm>
          <a:prstGeom prst="rect">
            <a:avLst/>
          </a:prstGeom>
        </p:spPr>
      </p:pic>
      <p:sp>
        <p:nvSpPr>
          <p:cNvPr id="37" name="TextBox 36"/>
          <p:cNvSpPr txBox="1"/>
          <p:nvPr/>
        </p:nvSpPr>
        <p:spPr>
          <a:xfrm>
            <a:off x="5852159" y="1280160"/>
            <a:ext cx="2743200" cy="237744"/>
          </a:xfrm>
          <a:prstGeom prst="rect">
            <a:avLst/>
          </a:prstGeom>
          <a:noFill/>
        </p:spPr>
        <p:txBody>
          <a:bodyPr wrap="square" lIns="0" tIns="0" rIns="0" bIns="0" anchor="t">
            <a:spAutoFit/>
          </a:bodyPr>
          <a:lstStyle/>
          <a:p>
            <a:pPr algn="l"/>
            <a:r>
              <a:rPr sz="1300" b="1" i="0">
                <a:solidFill>
                  <a:srgbClr val="F4F1EA"/>
                </a:solidFill>
                <a:latin typeface="Cambria"/>
              </a:rPr>
              <a:t>Bihar</a:t>
            </a:r>
          </a:p>
        </p:txBody>
      </p:sp>
      <p:sp>
        <p:nvSpPr>
          <p:cNvPr id="38" name="TextBox 37"/>
          <p:cNvSpPr txBox="1"/>
          <p:nvPr/>
        </p:nvSpPr>
        <p:spPr>
          <a:xfrm>
            <a:off x="5852159" y="1517904"/>
            <a:ext cx="2743200" cy="329184"/>
          </a:xfrm>
          <a:prstGeom prst="rect">
            <a:avLst/>
          </a:prstGeom>
          <a:noFill/>
        </p:spPr>
        <p:txBody>
          <a:bodyPr wrap="square" lIns="0" tIns="0" rIns="0" bIns="0" anchor="ctr">
            <a:spAutoFit/>
          </a:bodyPr>
          <a:lstStyle/>
          <a:p>
            <a:pPr algn="l"/>
            <a:r>
              <a:rPr sz="2200" b="1" i="0">
                <a:solidFill>
                  <a:srgbClr val="F5B83D"/>
                </a:solidFill>
                <a:latin typeface="Cambria"/>
              </a:rPr>
              <a:t>₹27,674</a:t>
            </a:r>
          </a:p>
        </p:txBody>
      </p:sp>
      <p:sp>
        <p:nvSpPr>
          <p:cNvPr id="39" name="TextBox 38"/>
          <p:cNvSpPr txBox="1"/>
          <p:nvPr/>
        </p:nvSpPr>
        <p:spPr>
          <a:xfrm>
            <a:off x="5852159" y="1865376"/>
            <a:ext cx="2743200" cy="274320"/>
          </a:xfrm>
          <a:prstGeom prst="rect">
            <a:avLst/>
          </a:prstGeom>
          <a:noFill/>
        </p:spPr>
        <p:txBody>
          <a:bodyPr wrap="square" lIns="0" tIns="0" rIns="0" bIns="0" anchor="t">
            <a:spAutoFit/>
          </a:bodyPr>
          <a:lstStyle/>
          <a:p>
            <a:pPr algn="l"/>
            <a:r>
              <a:rPr sz="950" b="0" i="0">
                <a:solidFill>
                  <a:srgbClr val="9DB5AE"/>
                </a:solidFill>
              </a:rPr>
              <a:t>0.23× the all-state median in 2021–22</a:t>
            </a:r>
          </a:p>
          <a:p>
            <a:pPr algn="l"/>
            <a:r>
              <a:rPr sz="950" b="0" i="0">
                <a:solidFill>
                  <a:srgbClr val="9DB5AE"/>
                </a:solidFill>
              </a:rPr>
              <a:t>+27% real growth, from a very low base</a:t>
            </a:r>
          </a:p>
        </p:txBody>
      </p:sp>
      <p:sp>
        <p:nvSpPr>
          <p:cNvPr id="40" name="figure panel"/>
          <p:cNvSpPr/>
          <p:nvPr/>
        </p:nvSpPr>
        <p:spPr>
          <a:xfrm>
            <a:off x="4800600" y="2240280"/>
            <a:ext cx="3749039" cy="1737360"/>
          </a:xfrm>
          <a:prstGeom prst="roundRect">
            <a:avLst>
              <a:gd name="adj" fmla="val 4210"/>
            </a:avLst>
          </a:prstGeom>
          <a:solidFill>
            <a:srgbClr val="FFFFFF"/>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Income trend: Bihar" descr="Income trend: Bihar"/>
          <p:cNvPicPr>
            <a:picLocks noChangeAspect="1"/>
          </p:cNvPicPr>
          <p:nvPr/>
        </p:nvPicPr>
        <p:blipFill>
          <a:blip r:embed="rId6"/>
          <a:stretch>
            <a:fillRect/>
          </a:stretch>
        </p:blipFill>
        <p:spPr>
          <a:xfrm>
            <a:off x="4846320" y="2367263"/>
            <a:ext cx="3657599" cy="1483392"/>
          </a:xfrm>
          <a:prstGeom prst="rect">
            <a:avLst/>
          </a:prstGeom>
        </p:spPr>
      </p:pic>
      <p:sp>
        <p:nvSpPr>
          <p:cNvPr id="42" name="TextBox 41"/>
          <p:cNvSpPr txBox="1"/>
          <p:nvPr/>
        </p:nvSpPr>
        <p:spPr>
          <a:xfrm>
            <a:off x="457200" y="4224528"/>
            <a:ext cx="8229600" cy="411480"/>
          </a:xfrm>
          <a:prstGeom prst="rect">
            <a:avLst/>
          </a:prstGeom>
          <a:noFill/>
        </p:spPr>
        <p:txBody>
          <a:bodyPr wrap="square" lIns="0" tIns="0" rIns="0" bIns="0" anchor="ctr">
            <a:spAutoFit/>
          </a:bodyPr>
          <a:lstStyle/>
          <a:p>
            <a:pPr algn="l"/>
            <a:r>
              <a:rPr sz="1200" b="0" i="1">
                <a:solidFill>
                  <a:srgbClr val="F4F1EA"/>
                </a:solidFill>
              </a:rPr>
              <a:t>Bihar grew, yet its rupee gap with the median nearly doubled: from ₹47,000 to ₹91,000 per person.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marL="0" indent="0">
              <a:buNone/>
            </a:pPr>
            <a:r>
              <a:rPr lang="en-US" sz="2400" b="1" dirty="0">
                <a:solidFill>
                  <a:srgbClr val="F4F1EA"/>
                </a:solidFill>
                <a:latin typeface="Cambria" pitchFamily="34" charset="0"/>
                <a:ea typeface="Cambria" pitchFamily="34" charset="-122"/>
                <a:cs typeface="Cambria" pitchFamily="34" charset="-120"/>
              </a:rPr>
              <a:t>Spending ratios over time</a:t>
            </a:r>
            <a:endParaRPr lang="en-US" sz="2400" dirty="0"/>
          </a:p>
        </p:txBody>
      </p:sp>
      <p:sp>
        <p:nvSpPr>
          <p:cNvPr id="3" name="Text 1"/>
          <p:cNvSpPr txBox="1"/>
          <p:nvPr/>
        </p:nvSpPr>
        <p:spPr>
          <a:xfrm>
            <a:off x="457200" y="777240"/>
            <a:ext cx="8229600" cy="274320"/>
          </a:xfrm>
          <a:prstGeom prst="rect">
            <a:avLst/>
          </a:prstGeom>
          <a:noFill/>
          <a:ln/>
        </p:spPr>
        <p:txBody>
          <a:bodyPr wrap="square" lIns="0" tIns="0" rIns="0" bIns="0" rtlCol="0" anchor="ctr"/>
          <a:lstStyle/>
          <a:p>
            <a:pPr marL="0" indent="0">
              <a:buNone/>
            </a:pPr>
            <a:r>
              <a:rPr lang="en-US" sz="1300" dirty="0">
                <a:solidFill>
                  <a:srgbClr val="9DB5AE"/>
                </a:solidFill>
              </a:rPr>
              <a:t>Median share of current-price GSDP across 28 states/UTs (%)</a:t>
            </a:r>
            <a:endParaRPr lang="en-US" sz="1300" dirty="0"/>
          </a:p>
        </p:txBody>
      </p:sp>
      <p:sp>
        <p:nvSpPr>
          <p:cNvPr id="4" name="line card"/>
          <p:cNvSpPr/>
          <p:nvPr/>
        </p:nvSpPr>
        <p:spPr>
          <a:xfrm>
            <a:off x="457200" y="1188720"/>
            <a:ext cx="5669280" cy="3474720"/>
          </a:xfrm>
          <a:prstGeom prst="roundRect">
            <a:avLst>
              <a:gd name="adj" fmla="val 2105"/>
            </a:avLst>
          </a:prstGeom>
          <a:solidFill>
            <a:srgbClr val="172B27"/>
          </a:solidFill>
          <a:ln w="9525">
            <a:solidFill>
              <a:srgbClr val="2A4540"/>
            </a:solidFill>
            <a:prstDash val="solid"/>
          </a:ln>
        </p:spPr>
      </p:sp>
      <p:graphicFrame>
        <p:nvGraphicFramePr>
          <p:cNvPr id="5" name="Chart 0"/>
          <p:cNvGraphicFramePr/>
          <p:nvPr/>
        </p:nvGraphicFramePr>
        <p:xfrm>
          <a:off x="548640" y="1280160"/>
          <a:ext cx="54864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6" name="kpi card"/>
          <p:cNvSpPr/>
          <p:nvPr/>
        </p:nvSpPr>
        <p:spPr>
          <a:xfrm>
            <a:off x="6309360" y="1188720"/>
            <a:ext cx="2377440" cy="1097280"/>
          </a:xfrm>
          <a:prstGeom prst="roundRect">
            <a:avLst>
              <a:gd name="adj" fmla="val 6667"/>
            </a:avLst>
          </a:prstGeom>
          <a:solidFill>
            <a:srgbClr val="172B27"/>
          </a:solidFill>
          <a:ln w="9525">
            <a:solidFill>
              <a:srgbClr val="2A4540"/>
            </a:solidFill>
            <a:prstDash val="solid"/>
          </a:ln>
        </p:spPr>
      </p:sp>
      <p:sp>
        <p:nvSpPr>
          <p:cNvPr id="7" name="Text 4"/>
          <p:cNvSpPr txBox="1"/>
          <p:nvPr/>
        </p:nvSpPr>
        <p:spPr>
          <a:xfrm>
            <a:off x="6492240" y="1325880"/>
            <a:ext cx="2011680" cy="228600"/>
          </a:xfrm>
          <a:prstGeom prst="rect">
            <a:avLst/>
          </a:prstGeom>
          <a:noFill/>
          <a:ln/>
        </p:spPr>
        <p:txBody>
          <a:bodyPr wrap="square" lIns="0" tIns="0" rIns="0" bIns="0" rtlCol="0" anchor="ctr"/>
          <a:lstStyle/>
          <a:p>
            <a:pPr marL="0" indent="0">
              <a:buNone/>
            </a:pPr>
            <a:r>
              <a:rPr lang="en-US" sz="1000" b="1" kern="0" spc="100" dirty="0">
                <a:solidFill>
                  <a:srgbClr val="9DB5AE"/>
                </a:solidFill>
              </a:rPr>
              <a:t>REVENUE / GSDP</a:t>
            </a:r>
            <a:endParaRPr lang="en-US" sz="1000" dirty="0"/>
          </a:p>
        </p:txBody>
      </p:sp>
      <p:sp>
        <p:nvSpPr>
          <p:cNvPr id="8" name="Text 5"/>
          <p:cNvSpPr txBox="1"/>
          <p:nvPr/>
        </p:nvSpPr>
        <p:spPr>
          <a:xfrm>
            <a:off x="6492240" y="1572768"/>
            <a:ext cx="2011680" cy="640080"/>
          </a:xfrm>
          <a:prstGeom prst="rect">
            <a:avLst/>
          </a:prstGeom>
          <a:noFill/>
          <a:ln/>
        </p:spPr>
        <p:txBody>
          <a:bodyPr wrap="square" lIns="0" tIns="0" rIns="0" bIns="0" rtlCol="0" anchor="ctr"/>
          <a:lstStyle/>
          <a:p>
            <a:pPr marL="0" indent="0">
              <a:buNone/>
            </a:pPr>
            <a:r>
              <a:rPr lang="en-US" sz="3400" b="1" dirty="0">
                <a:solidFill>
                  <a:srgbClr val="F5B83D"/>
                </a:solidFill>
                <a:latin typeface="Cambria" pitchFamily="34" charset="0"/>
                <a:ea typeface="Cambria" pitchFamily="34" charset="-122"/>
                <a:cs typeface="Cambria" pitchFamily="34" charset="-120"/>
              </a:rPr>
              <a:t>19.2%</a:t>
            </a:r>
            <a:endParaRPr lang="en-US" sz="3400" dirty="0"/>
          </a:p>
        </p:txBody>
      </p:sp>
      <p:sp>
        <p:nvSpPr>
          <p:cNvPr id="9" name="kpi card"/>
          <p:cNvSpPr/>
          <p:nvPr/>
        </p:nvSpPr>
        <p:spPr>
          <a:xfrm>
            <a:off x="6309360" y="2423160"/>
            <a:ext cx="2377440" cy="1097280"/>
          </a:xfrm>
          <a:prstGeom prst="roundRect">
            <a:avLst>
              <a:gd name="adj" fmla="val 6667"/>
            </a:avLst>
          </a:prstGeom>
          <a:solidFill>
            <a:srgbClr val="172B27"/>
          </a:solidFill>
          <a:ln w="9525">
            <a:solidFill>
              <a:srgbClr val="2A4540"/>
            </a:solidFill>
            <a:prstDash val="solid"/>
          </a:ln>
        </p:spPr>
      </p:sp>
      <p:sp>
        <p:nvSpPr>
          <p:cNvPr id="10" name="Text 7"/>
          <p:cNvSpPr txBox="1"/>
          <p:nvPr/>
        </p:nvSpPr>
        <p:spPr>
          <a:xfrm>
            <a:off x="6492240" y="2560320"/>
            <a:ext cx="2011680" cy="228600"/>
          </a:xfrm>
          <a:prstGeom prst="rect">
            <a:avLst/>
          </a:prstGeom>
          <a:noFill/>
          <a:ln/>
        </p:spPr>
        <p:txBody>
          <a:bodyPr wrap="square" lIns="0" tIns="0" rIns="0" bIns="0" rtlCol="0" anchor="ctr"/>
          <a:lstStyle/>
          <a:p>
            <a:pPr marL="0" indent="0">
              <a:buNone/>
            </a:pPr>
            <a:r>
              <a:rPr lang="en-US" sz="1000" b="1" kern="0" spc="100" dirty="0">
                <a:solidFill>
                  <a:srgbClr val="9DB5AE"/>
                </a:solidFill>
              </a:rPr>
              <a:t>SOCIAL / GSDP</a:t>
            </a:r>
            <a:endParaRPr lang="en-US" sz="1000" dirty="0"/>
          </a:p>
        </p:txBody>
      </p:sp>
      <p:sp>
        <p:nvSpPr>
          <p:cNvPr id="11" name="Text 8"/>
          <p:cNvSpPr txBox="1"/>
          <p:nvPr/>
        </p:nvSpPr>
        <p:spPr>
          <a:xfrm>
            <a:off x="6492240" y="2807208"/>
            <a:ext cx="2011680" cy="640080"/>
          </a:xfrm>
          <a:prstGeom prst="rect">
            <a:avLst/>
          </a:prstGeom>
          <a:noFill/>
          <a:ln/>
        </p:spPr>
        <p:txBody>
          <a:bodyPr wrap="square" lIns="0" tIns="0" rIns="0" bIns="0" rtlCol="0" anchor="ctr"/>
          <a:lstStyle/>
          <a:p>
            <a:pPr marL="0" indent="0">
              <a:buNone/>
            </a:pPr>
            <a:r>
              <a:rPr lang="en-US" sz="3400" b="1" dirty="0">
                <a:solidFill>
                  <a:srgbClr val="2DD4A7"/>
                </a:solidFill>
                <a:latin typeface="Cambria" pitchFamily="34" charset="0"/>
                <a:ea typeface="Cambria" pitchFamily="34" charset="-122"/>
                <a:cs typeface="Cambria" pitchFamily="34" charset="-120"/>
              </a:rPr>
              <a:t>9.6%</a:t>
            </a:r>
            <a:endParaRPr lang="en-US" sz="3400" dirty="0"/>
          </a:p>
        </p:txBody>
      </p:sp>
      <p:sp>
        <p:nvSpPr>
          <p:cNvPr id="12" name="kpi card"/>
          <p:cNvSpPr/>
          <p:nvPr/>
        </p:nvSpPr>
        <p:spPr>
          <a:xfrm>
            <a:off x="6309360" y="3657600"/>
            <a:ext cx="2377440" cy="1005840"/>
          </a:xfrm>
          <a:prstGeom prst="roundRect">
            <a:avLst>
              <a:gd name="adj" fmla="val 7273"/>
            </a:avLst>
          </a:prstGeom>
          <a:solidFill>
            <a:srgbClr val="172B27"/>
          </a:solidFill>
          <a:ln w="9525">
            <a:solidFill>
              <a:srgbClr val="2A4540"/>
            </a:solidFill>
            <a:prstDash val="solid"/>
          </a:ln>
        </p:spPr>
      </p:sp>
      <p:sp>
        <p:nvSpPr>
          <p:cNvPr id="13" name="Text 10"/>
          <p:cNvSpPr txBox="1"/>
          <p:nvPr/>
        </p:nvSpPr>
        <p:spPr>
          <a:xfrm>
            <a:off x="6492240" y="3794760"/>
            <a:ext cx="2011680" cy="228600"/>
          </a:xfrm>
          <a:prstGeom prst="rect">
            <a:avLst/>
          </a:prstGeom>
          <a:noFill/>
          <a:ln/>
        </p:spPr>
        <p:txBody>
          <a:bodyPr wrap="square" lIns="0" tIns="0" rIns="0" bIns="0" rtlCol="0" anchor="ctr"/>
          <a:lstStyle/>
          <a:p>
            <a:pPr marL="0" indent="0">
              <a:buNone/>
            </a:pPr>
            <a:r>
              <a:rPr lang="en-US" sz="1000" b="1" kern="0" spc="100" dirty="0">
                <a:solidFill>
                  <a:srgbClr val="9DB5AE"/>
                </a:solidFill>
              </a:rPr>
              <a:t>CAPITAL / GSDP</a:t>
            </a:r>
            <a:endParaRPr lang="en-US" sz="1000" dirty="0"/>
          </a:p>
        </p:txBody>
      </p:sp>
      <p:sp>
        <p:nvSpPr>
          <p:cNvPr id="14" name="Text 11"/>
          <p:cNvSpPr txBox="1"/>
          <p:nvPr/>
        </p:nvSpPr>
        <p:spPr>
          <a:xfrm>
            <a:off x="6492240" y="4041648"/>
            <a:ext cx="2011680" cy="640080"/>
          </a:xfrm>
          <a:prstGeom prst="rect">
            <a:avLst/>
          </a:prstGeom>
          <a:noFill/>
          <a:ln/>
        </p:spPr>
        <p:txBody>
          <a:bodyPr wrap="square" lIns="0" tIns="0" rIns="0" bIns="0" rtlCol="0" anchor="ctr"/>
          <a:lstStyle/>
          <a:p>
            <a:pPr marL="0" indent="0">
              <a:buNone/>
            </a:pPr>
            <a:r>
              <a:rPr lang="en-US" sz="3400" b="1" dirty="0">
                <a:solidFill>
                  <a:srgbClr val="B79CFF"/>
                </a:solidFill>
                <a:latin typeface="Cambria" pitchFamily="34" charset="0"/>
                <a:ea typeface="Cambria" pitchFamily="34" charset="-122"/>
                <a:cs typeface="Cambria" pitchFamily="34" charset="-120"/>
              </a:rPr>
              <a:t>5.0%</a:t>
            </a:r>
            <a:endParaRPr lang="en-US" sz="3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82004"/>
            <a:ext cx="8229600" cy="502920"/>
          </a:xfrm>
          <a:prstGeom prst="rect">
            <a:avLst/>
          </a:prstGeom>
          <a:noFill/>
          <a:ln/>
        </p:spPr>
        <p:txBody>
          <a:bodyPr wrap="square" lIns="0" tIns="0" rIns="0" bIns="0" rtlCol="0" anchor="t"/>
          <a:lstStyle/>
          <a:p>
            <a:pPr marL="0" indent="0">
              <a:buNone/>
            </a:pPr>
            <a:r>
              <a:rPr lang="en-US" sz="2400" b="1" dirty="0">
                <a:solidFill>
                  <a:srgbClr val="F4F1EA"/>
                </a:solidFill>
                <a:latin typeface="Cambria" pitchFamily="34" charset="0"/>
                <a:ea typeface="Cambria" pitchFamily="34" charset="-122"/>
                <a:cs typeface="Cambria" pitchFamily="34" charset="-120"/>
              </a:rPr>
              <a:t>Spending and income across states</a:t>
            </a:r>
            <a:endParaRPr lang="en-US" sz="2400" dirty="0"/>
          </a:p>
        </p:txBody>
      </p:sp>
      <p:sp>
        <p:nvSpPr>
          <p:cNvPr id="3" name="Text 1"/>
          <p:cNvSpPr txBox="1"/>
          <p:nvPr/>
        </p:nvSpPr>
        <p:spPr>
          <a:xfrm>
            <a:off x="457200" y="777240"/>
            <a:ext cx="8229600" cy="274320"/>
          </a:xfrm>
          <a:prstGeom prst="rect">
            <a:avLst/>
          </a:prstGeom>
          <a:noFill/>
          <a:ln/>
        </p:spPr>
        <p:txBody>
          <a:bodyPr wrap="square" lIns="0" tIns="0" rIns="0" bIns="0" rtlCol="0" anchor="ctr"/>
          <a:lstStyle/>
          <a:p>
            <a:pPr marL="0" indent="0">
              <a:buNone/>
            </a:pPr>
            <a:r>
              <a:rPr lang="en-US" sz="1300" dirty="0">
                <a:solidFill>
                  <a:srgbClr val="9DB5AE"/>
                </a:solidFill>
              </a:rPr>
              <a:t>State averages: higher-income states spend a smaller share of GSDP</a:t>
            </a:r>
            <a:endParaRPr lang="en-US" sz="1300" dirty="0"/>
          </a:p>
        </p:txBody>
      </p:sp>
      <p:sp>
        <p:nvSpPr>
          <p:cNvPr id="4" name="fig card"/>
          <p:cNvSpPr/>
          <p:nvPr/>
        </p:nvSpPr>
        <p:spPr>
          <a:xfrm>
            <a:off x="457200" y="1188720"/>
            <a:ext cx="8229600" cy="3017520"/>
          </a:xfrm>
          <a:prstGeom prst="roundRect">
            <a:avLst>
              <a:gd name="adj" fmla="val 2424"/>
            </a:avLst>
          </a:prstGeom>
          <a:solidFill>
            <a:srgbClr val="172B27"/>
          </a:solidFill>
          <a:ln w="9525">
            <a:solidFill>
              <a:srgbClr val="2A4540"/>
            </a:solidFill>
            <a:prstDash val="solid"/>
          </a:ln>
        </p:spPr>
      </p:sp>
      <p:pic>
        <p:nvPicPr>
          <p:cNvPr id="5" name="Image 0" descr="scatter between png"/>
          <p:cNvPicPr>
            <a:picLocks noChangeAspect="1"/>
          </p:cNvPicPr>
          <p:nvPr/>
        </p:nvPicPr>
        <p:blipFill>
          <a:blip r:embed="rId3"/>
          <a:stretch>
            <a:fillRect/>
          </a:stretch>
        </p:blipFill>
        <p:spPr>
          <a:xfrm>
            <a:off x="1263684" y="1234440"/>
            <a:ext cx="7234857" cy="2926080"/>
          </a:xfrm>
          <a:prstGeom prst="rect">
            <a:avLst/>
          </a:prstGeom>
        </p:spPr>
      </p:pic>
      <p:sp>
        <p:nvSpPr>
          <p:cNvPr id="6" name="Text 3"/>
          <p:cNvSpPr txBox="1"/>
          <p:nvPr/>
        </p:nvSpPr>
        <p:spPr>
          <a:xfrm>
            <a:off x="457200" y="4343400"/>
            <a:ext cx="8229600" cy="274320"/>
          </a:xfrm>
          <a:prstGeom prst="rect">
            <a:avLst/>
          </a:prstGeom>
          <a:noFill/>
          <a:ln/>
        </p:spPr>
        <p:txBody>
          <a:bodyPr wrap="square" lIns="0" tIns="0" rIns="0" bIns="0" rtlCol="0" anchor="ctr"/>
          <a:lstStyle/>
          <a:p>
            <a:pPr marL="0" indent="0">
              <a:buNone/>
            </a:pPr>
            <a:r>
              <a:rPr lang="en-US" sz="1200" dirty="0">
                <a:solidFill>
                  <a:srgbClr val="9DB5AE"/>
                </a:solidFill>
              </a:rPr>
              <a:t>A small GSDP base mechanically raises a ratio, so read these as associations, not effects.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8229600" cy="502920"/>
          </a:xfrm>
          <a:prstGeom prst="rect">
            <a:avLst/>
          </a:prstGeom>
          <a:noFill/>
        </p:spPr>
        <p:txBody>
          <a:bodyPr wrap="square" lIns="0" tIns="0" rIns="0" bIns="0" anchor="t">
            <a:spAutoFit/>
          </a:bodyPr>
          <a:lstStyle/>
          <a:p>
            <a:pPr algn="l"/>
            <a:r>
              <a:rPr sz="2400" b="1" i="0">
                <a:solidFill>
                  <a:srgbClr val="F4F1EA"/>
                </a:solidFill>
                <a:latin typeface="Cambria"/>
              </a:rPr>
              <a:t>Deficits and debt vary five- to sixfold</a:t>
            </a:r>
          </a:p>
        </p:txBody>
      </p:sp>
      <p:sp>
        <p:nvSpPr>
          <p:cNvPr id="3" name="Subtitle"/>
          <p:cNvSpPr txBox="1"/>
          <p:nvPr/>
        </p:nvSpPr>
        <p:spPr>
          <a:xfrm>
            <a:off x="457200" y="777240"/>
            <a:ext cx="8229600" cy="274320"/>
          </a:xfrm>
          <a:prstGeom prst="rect">
            <a:avLst/>
          </a:prstGeom>
          <a:noFill/>
        </p:spPr>
        <p:txBody>
          <a:bodyPr wrap="square" lIns="0" tIns="0" rIns="0" bIns="0" anchor="ctr">
            <a:spAutoFit/>
          </a:bodyPr>
          <a:lstStyle/>
          <a:p>
            <a:pPr algn="l"/>
            <a:r>
              <a:rPr sz="1300" b="0" i="0">
                <a:solidFill>
                  <a:srgbClr val="9DB5AE"/>
                </a:solidFill>
              </a:rPr>
              <a:t>State averages, % of GSDP, 2011–12 to 2021–22</a:t>
            </a:r>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19</a:t>
            </a:fld>
            <a:endParaRPr lang="en-US"/>
          </a:p>
        </p:txBody>
      </p:sp>
      <p:sp>
        <p:nvSpPr>
          <p:cNvPr id="26" name="figure panel"/>
          <p:cNvSpPr/>
          <p:nvPr/>
        </p:nvSpPr>
        <p:spPr>
          <a:xfrm>
            <a:off x="457200" y="1188720"/>
            <a:ext cx="5212080" cy="3474720"/>
          </a:xfrm>
          <a:prstGeom prst="roundRect">
            <a:avLst>
              <a:gd name="adj" fmla="val 2105"/>
            </a:avLst>
          </a:prstGeom>
          <a:solidFill>
            <a:srgbClr val="FFFFFF"/>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Average fiscal deficit and liabilities by state" descr="Average fiscal deficit and liabilities by state"/>
          <p:cNvPicPr>
            <a:picLocks noChangeAspect="1"/>
          </p:cNvPicPr>
          <p:nvPr/>
        </p:nvPicPr>
        <p:blipFill>
          <a:blip r:embed="rId3"/>
          <a:stretch>
            <a:fillRect/>
          </a:stretch>
        </p:blipFill>
        <p:spPr>
          <a:xfrm>
            <a:off x="588317" y="1280160"/>
            <a:ext cx="4949844" cy="3291839"/>
          </a:xfrm>
          <a:prstGeom prst="rect">
            <a:avLst/>
          </a:prstGeom>
        </p:spPr>
      </p:pic>
      <p:sp>
        <p:nvSpPr>
          <p:cNvPr id="28" name="kpi card"/>
          <p:cNvSpPr/>
          <p:nvPr/>
        </p:nvSpPr>
        <p:spPr>
          <a:xfrm>
            <a:off x="5897880" y="1188720"/>
            <a:ext cx="2788920" cy="1024128"/>
          </a:xfrm>
          <a:prstGeom prst="roundRect">
            <a:avLst>
              <a:gd name="adj" fmla="val 5357"/>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035040" y="1261872"/>
            <a:ext cx="2514600" cy="457200"/>
          </a:xfrm>
          <a:prstGeom prst="rect">
            <a:avLst/>
          </a:prstGeom>
          <a:noFill/>
        </p:spPr>
        <p:txBody>
          <a:bodyPr wrap="square" lIns="0" tIns="0" rIns="0" bIns="0" anchor="ctr">
            <a:spAutoFit/>
          </a:bodyPr>
          <a:lstStyle/>
          <a:p>
            <a:pPr algn="l"/>
            <a:r>
              <a:rPr sz="2600" b="1" i="0">
                <a:solidFill>
                  <a:srgbClr val="F5B83D"/>
                </a:solidFill>
                <a:latin typeface="Cambria"/>
              </a:rPr>
              <a:t>5.5%</a:t>
            </a:r>
          </a:p>
        </p:txBody>
      </p:sp>
      <p:sp>
        <p:nvSpPr>
          <p:cNvPr id="30" name="TextBox 29"/>
          <p:cNvSpPr txBox="1"/>
          <p:nvPr/>
        </p:nvSpPr>
        <p:spPr>
          <a:xfrm>
            <a:off x="6035040" y="1755648"/>
            <a:ext cx="2514600" cy="402336"/>
          </a:xfrm>
          <a:prstGeom prst="rect">
            <a:avLst/>
          </a:prstGeom>
          <a:noFill/>
        </p:spPr>
        <p:txBody>
          <a:bodyPr wrap="square" lIns="0" tIns="0" rIns="0" bIns="0" anchor="t">
            <a:spAutoFit/>
          </a:bodyPr>
          <a:lstStyle/>
          <a:p>
            <a:pPr algn="l"/>
            <a:r>
              <a:rPr sz="1050" b="0" i="0">
                <a:solidFill>
                  <a:srgbClr val="9DB5AE"/>
                </a:solidFill>
              </a:rPr>
              <a:t>Jammu &amp; Kashmir: highest average fiscal deficit</a:t>
            </a:r>
          </a:p>
        </p:txBody>
      </p:sp>
      <p:sp>
        <p:nvSpPr>
          <p:cNvPr id="31" name="kpi card"/>
          <p:cNvSpPr/>
          <p:nvPr/>
        </p:nvSpPr>
        <p:spPr>
          <a:xfrm>
            <a:off x="5897880" y="2304288"/>
            <a:ext cx="2788920" cy="1024128"/>
          </a:xfrm>
          <a:prstGeom prst="roundRect">
            <a:avLst>
              <a:gd name="adj" fmla="val 5357"/>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035040" y="2377440"/>
            <a:ext cx="2514600" cy="457200"/>
          </a:xfrm>
          <a:prstGeom prst="rect">
            <a:avLst/>
          </a:prstGeom>
          <a:noFill/>
        </p:spPr>
        <p:txBody>
          <a:bodyPr wrap="square" lIns="0" tIns="0" rIns="0" bIns="0" anchor="ctr">
            <a:spAutoFit/>
          </a:bodyPr>
          <a:lstStyle/>
          <a:p>
            <a:pPr algn="l"/>
            <a:r>
              <a:rPr sz="2600" b="1" i="0">
                <a:solidFill>
                  <a:srgbClr val="B79CFF"/>
                </a:solidFill>
                <a:latin typeface="Cambria"/>
              </a:rPr>
              <a:t>52.7%</a:t>
            </a:r>
          </a:p>
        </p:txBody>
      </p:sp>
      <p:sp>
        <p:nvSpPr>
          <p:cNvPr id="33" name="TextBox 32"/>
          <p:cNvSpPr txBox="1"/>
          <p:nvPr/>
        </p:nvSpPr>
        <p:spPr>
          <a:xfrm>
            <a:off x="6035040" y="2871216"/>
            <a:ext cx="2514600" cy="402336"/>
          </a:xfrm>
          <a:prstGeom prst="rect">
            <a:avLst/>
          </a:prstGeom>
          <a:noFill/>
        </p:spPr>
        <p:txBody>
          <a:bodyPr wrap="square" lIns="0" tIns="0" rIns="0" bIns="0" anchor="t">
            <a:spAutoFit/>
          </a:bodyPr>
          <a:lstStyle/>
          <a:p>
            <a:pPr algn="l"/>
            <a:r>
              <a:rPr sz="1050" b="0" i="0">
                <a:solidFill>
                  <a:srgbClr val="9DB5AE"/>
                </a:solidFill>
              </a:rPr>
              <a:t>Tripura: highest average liabilities / GSDP</a:t>
            </a:r>
          </a:p>
        </p:txBody>
      </p:sp>
      <p:sp>
        <p:nvSpPr>
          <p:cNvPr id="34" name="so what card"/>
          <p:cNvSpPr/>
          <p:nvPr/>
        </p:nvSpPr>
        <p:spPr>
          <a:xfrm>
            <a:off x="5897880" y="3419856"/>
            <a:ext cx="2788920" cy="1243584"/>
          </a:xfrm>
          <a:prstGeom prst="roundRect">
            <a:avLst>
              <a:gd name="adj" fmla="val 4411"/>
            </a:avLst>
          </a:prstGeom>
          <a:solidFill>
            <a:srgbClr val="12362F"/>
          </a:solidFill>
          <a:ln w="9525">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035040" y="3511296"/>
            <a:ext cx="2514600" cy="182880"/>
          </a:xfrm>
          <a:prstGeom prst="rect">
            <a:avLst/>
          </a:prstGeom>
          <a:noFill/>
        </p:spPr>
        <p:txBody>
          <a:bodyPr wrap="square" lIns="0" tIns="0" rIns="0" bIns="0" anchor="t">
            <a:spAutoFit/>
          </a:bodyPr>
          <a:lstStyle/>
          <a:p>
            <a:pPr algn="l"/>
            <a:r>
              <a:rPr sz="900" b="1" i="0">
                <a:solidFill>
                  <a:srgbClr val="2DD4A7"/>
                </a:solidFill>
              </a:rPr>
              <a:t>SO WHAT</a:t>
            </a:r>
          </a:p>
        </p:txBody>
      </p:sp>
      <p:sp>
        <p:nvSpPr>
          <p:cNvPr id="36" name="TextBox 35"/>
          <p:cNvSpPr txBox="1"/>
          <p:nvPr/>
        </p:nvSpPr>
        <p:spPr>
          <a:xfrm>
            <a:off x="6035040" y="3730752"/>
            <a:ext cx="2514600" cy="859536"/>
          </a:xfrm>
          <a:prstGeom prst="rect">
            <a:avLst/>
          </a:prstGeom>
          <a:noFill/>
        </p:spPr>
        <p:txBody>
          <a:bodyPr wrap="square" lIns="0" tIns="0" rIns="0" bIns="0" anchor="t">
            <a:spAutoFit/>
          </a:bodyPr>
          <a:lstStyle/>
          <a:p>
            <a:pPr algn="l"/>
            <a:r>
              <a:rPr sz="1050" b="0" i="0">
                <a:solidFill>
                  <a:srgbClr val="F4F1EA"/>
                </a:solidFill>
              </a:rPr>
              <a:t>Hill and north-eastern states borrow and spend far more relative to output. We test whether results survive dropping them.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8229600" cy="502920"/>
          </a:xfrm>
          <a:prstGeom prst="rect">
            <a:avLst/>
          </a:prstGeom>
          <a:noFill/>
        </p:spPr>
        <p:txBody>
          <a:bodyPr wrap="square" lIns="0" tIns="0" rIns="0" bIns="0" anchor="t">
            <a:spAutoFit/>
          </a:bodyPr>
          <a:lstStyle/>
          <a:p>
            <a:pPr algn="l"/>
            <a:r>
              <a:rPr sz="2400" b="1" i="0">
                <a:solidFill>
                  <a:srgbClr val="F4F1EA"/>
                </a:solidFill>
                <a:latin typeface="Cambria"/>
              </a:rPr>
              <a:t>COVID lifted the median deficit to 4.3%</a:t>
            </a:r>
          </a:p>
        </p:txBody>
      </p:sp>
      <p:sp>
        <p:nvSpPr>
          <p:cNvPr id="3" name="Subtitle"/>
          <p:cNvSpPr txBox="1"/>
          <p:nvPr/>
        </p:nvSpPr>
        <p:spPr>
          <a:xfrm>
            <a:off x="457200" y="777240"/>
            <a:ext cx="8229600" cy="274320"/>
          </a:xfrm>
          <a:prstGeom prst="rect">
            <a:avLst/>
          </a:prstGeom>
          <a:noFill/>
        </p:spPr>
        <p:txBody>
          <a:bodyPr wrap="square" lIns="0" tIns="0" rIns="0" bIns="0" anchor="ctr">
            <a:spAutoFit/>
          </a:bodyPr>
          <a:lstStyle/>
          <a:p>
            <a:pPr algn="l"/>
            <a:r>
              <a:rPr sz="1300" b="0" i="0">
                <a:solidFill>
                  <a:srgbClr val="9DB5AE"/>
                </a:solidFill>
              </a:rPr>
              <a:t>Median state (line) and middle 50% of states (band); debt rose to 36% of GSDP</a:t>
            </a:r>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20</a:t>
            </a:fld>
            <a:endParaRPr lang="en-US"/>
          </a:p>
        </p:txBody>
      </p:sp>
      <p:sp>
        <p:nvSpPr>
          <p:cNvPr id="26" name="figure panel"/>
          <p:cNvSpPr/>
          <p:nvPr/>
        </p:nvSpPr>
        <p:spPr>
          <a:xfrm>
            <a:off x="457200" y="1188720"/>
            <a:ext cx="8229600" cy="2926080"/>
          </a:xfrm>
          <a:prstGeom prst="roundRect">
            <a:avLst>
              <a:gd name="adj" fmla="val 2500"/>
            </a:avLst>
          </a:prstGeom>
          <a:solidFill>
            <a:srgbClr val="FFFFFF"/>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Deficit and debt bands over time" descr="Deficit and debt bands over time"/>
          <p:cNvPicPr>
            <a:picLocks noChangeAspect="1"/>
          </p:cNvPicPr>
          <p:nvPr/>
        </p:nvPicPr>
        <p:blipFill>
          <a:blip r:embed="rId3"/>
          <a:stretch>
            <a:fillRect/>
          </a:stretch>
        </p:blipFill>
        <p:spPr>
          <a:xfrm>
            <a:off x="989044" y="1280160"/>
            <a:ext cx="7165910" cy="2743200"/>
          </a:xfrm>
          <a:prstGeom prst="rect">
            <a:avLst/>
          </a:prstGeom>
        </p:spPr>
      </p:pic>
      <p:sp>
        <p:nvSpPr>
          <p:cNvPr id="28" name="callout strip"/>
          <p:cNvSpPr/>
          <p:nvPr/>
        </p:nvSpPr>
        <p:spPr>
          <a:xfrm>
            <a:off x="457200" y="4224528"/>
            <a:ext cx="4041648" cy="457200"/>
          </a:xfrm>
          <a:prstGeom prst="roundRect">
            <a:avLst>
              <a:gd name="adj" fmla="val 12000"/>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 y="4224528"/>
            <a:ext cx="3675887" cy="457200"/>
          </a:xfrm>
          <a:prstGeom prst="rect">
            <a:avLst/>
          </a:prstGeom>
          <a:noFill/>
        </p:spPr>
        <p:txBody>
          <a:bodyPr wrap="square" lIns="0" tIns="0" rIns="0" bIns="0" anchor="ctr">
            <a:spAutoFit/>
          </a:bodyPr>
          <a:lstStyle/>
          <a:p>
            <a:pPr algn="l"/>
            <a:r>
              <a:rPr sz="1300" b="1" i="0">
                <a:solidFill>
                  <a:srgbClr val="F5B83D"/>
                </a:solidFill>
                <a:latin typeface="Cambria"/>
              </a:rPr>
              <a:t>2.1% → 4.3%</a:t>
            </a:r>
            <a:r>
              <a:rPr sz="1100" b="0" i="0">
                <a:solidFill>
                  <a:srgbClr val="F4F1EA"/>
                </a:solidFill>
              </a:rPr>
              <a:t>  median deficit, 2011–12 to the COVID year</a:t>
            </a:r>
          </a:p>
        </p:txBody>
      </p:sp>
      <p:sp>
        <p:nvSpPr>
          <p:cNvPr id="30" name="callout strip"/>
          <p:cNvSpPr/>
          <p:nvPr/>
        </p:nvSpPr>
        <p:spPr>
          <a:xfrm>
            <a:off x="4645152" y="4224528"/>
            <a:ext cx="4041648" cy="457200"/>
          </a:xfrm>
          <a:prstGeom prst="roundRect">
            <a:avLst>
              <a:gd name="adj" fmla="val 12000"/>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828032" y="4224528"/>
            <a:ext cx="3675887" cy="457200"/>
          </a:xfrm>
          <a:prstGeom prst="rect">
            <a:avLst/>
          </a:prstGeom>
          <a:noFill/>
        </p:spPr>
        <p:txBody>
          <a:bodyPr wrap="square" lIns="0" tIns="0" rIns="0" bIns="0" anchor="ctr">
            <a:spAutoFit/>
          </a:bodyPr>
          <a:lstStyle/>
          <a:p>
            <a:pPr algn="l"/>
            <a:r>
              <a:rPr sz="1300" b="1" i="0">
                <a:solidFill>
                  <a:srgbClr val="B79CFF"/>
                </a:solidFill>
                <a:latin typeface="Cambria"/>
              </a:rPr>
              <a:t>26% → 36%</a:t>
            </a:r>
            <a:r>
              <a:rPr sz="1100" b="0" i="0">
                <a:solidFill>
                  <a:srgbClr val="F4F1EA"/>
                </a:solidFill>
              </a:rPr>
              <a:t>  median debt ratio, same period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marL="0" indent="0">
              <a:buNone/>
            </a:pPr>
            <a:r>
              <a:rPr lang="en-US" sz="2400" b="1" dirty="0">
                <a:solidFill>
                  <a:srgbClr val="F4F1EA"/>
                </a:solidFill>
                <a:latin typeface="Cambria" pitchFamily="34" charset="0"/>
                <a:ea typeface="Cambria" pitchFamily="34" charset="-122"/>
                <a:cs typeface="Cambria" pitchFamily="34" charset="-120"/>
              </a:rPr>
              <a:t>Animation: spending versus income</a:t>
            </a:r>
            <a:endParaRPr lang="en-US" sz="2400" dirty="0"/>
          </a:p>
        </p:txBody>
      </p:sp>
      <p:sp>
        <p:nvSpPr>
          <p:cNvPr id="3" name="Text 1"/>
          <p:cNvSpPr txBox="1"/>
          <p:nvPr/>
        </p:nvSpPr>
        <p:spPr>
          <a:xfrm>
            <a:off x="457200" y="777240"/>
            <a:ext cx="8229600" cy="274320"/>
          </a:xfrm>
          <a:prstGeom prst="rect">
            <a:avLst/>
          </a:prstGeom>
          <a:noFill/>
          <a:ln/>
        </p:spPr>
        <p:txBody>
          <a:bodyPr wrap="square" lIns="0" tIns="0" rIns="0" bIns="0" rtlCol="0" anchor="ctr"/>
          <a:lstStyle/>
          <a:p>
            <a:pPr marL="0" indent="0">
              <a:buNone/>
            </a:pPr>
            <a:r>
              <a:rPr lang="en-US" sz="1300" dirty="0">
                <a:solidFill>
                  <a:srgbClr val="9DB5AE"/>
                </a:solidFill>
              </a:rPr>
              <a:t>Each bubble is a state; bubble size is current-price GSDP</a:t>
            </a:r>
            <a:endParaRPr lang="en-US" sz="1300" dirty="0"/>
          </a:p>
        </p:txBody>
      </p:sp>
      <p:sp>
        <p:nvSpPr>
          <p:cNvPr id="4" name="anim card"/>
          <p:cNvSpPr/>
          <p:nvPr/>
        </p:nvSpPr>
        <p:spPr>
          <a:xfrm>
            <a:off x="457200" y="1188720"/>
            <a:ext cx="4023360" cy="3200400"/>
          </a:xfrm>
          <a:prstGeom prst="roundRect">
            <a:avLst>
              <a:gd name="adj" fmla="val 2286"/>
            </a:avLst>
          </a:prstGeom>
          <a:solidFill>
            <a:srgbClr val="172B27"/>
          </a:solidFill>
          <a:ln w="9525">
            <a:solidFill>
              <a:srgbClr val="2A4540"/>
            </a:solidFill>
            <a:prstDash val="solid"/>
          </a:ln>
        </p:spPr>
      </p:sp>
      <p:sp>
        <p:nvSpPr>
          <p:cNvPr id="5" name="Text 3"/>
          <p:cNvSpPr txBox="1"/>
          <p:nvPr/>
        </p:nvSpPr>
        <p:spPr>
          <a:xfrm>
            <a:off x="640080" y="1280160"/>
            <a:ext cx="3657600" cy="228600"/>
          </a:xfrm>
          <a:prstGeom prst="rect">
            <a:avLst/>
          </a:prstGeom>
          <a:noFill/>
          <a:ln/>
        </p:spPr>
        <p:txBody>
          <a:bodyPr wrap="square" lIns="0" tIns="0" rIns="0" bIns="0" rtlCol="0" anchor="ctr"/>
          <a:lstStyle/>
          <a:p>
            <a:pPr marL="0" indent="0">
              <a:buNone/>
            </a:pPr>
            <a:r>
              <a:rPr lang="en-US" sz="1000" b="1" kern="0" spc="100" dirty="0">
                <a:solidFill>
                  <a:srgbClr val="9DB5AE"/>
                </a:solidFill>
              </a:rPr>
              <a:t>CAPITAL SPENDING VS INCOME</a:t>
            </a:r>
            <a:endParaRPr lang="en-US" sz="1000" dirty="0"/>
          </a:p>
        </p:txBody>
      </p:sp>
      <p:pic>
        <p:nvPicPr>
          <p:cNvPr id="6" name="Image 0" descr="Capital spending vs income animation"/>
          <p:cNvPicPr>
            <a:picLocks noChangeAspect="1"/>
          </p:cNvPicPr>
          <p:nvPr/>
        </p:nvPicPr>
        <p:blipFill>
          <a:blip r:embed="rId3"/>
          <a:stretch>
            <a:fillRect/>
          </a:stretch>
        </p:blipFill>
        <p:spPr>
          <a:xfrm>
            <a:off x="548640" y="1554480"/>
            <a:ext cx="3840480" cy="2240280"/>
          </a:xfrm>
          <a:prstGeom prst="rect">
            <a:avLst/>
          </a:prstGeom>
        </p:spPr>
      </p:pic>
      <p:sp>
        <p:nvSpPr>
          <p:cNvPr id="7" name="anim card"/>
          <p:cNvSpPr/>
          <p:nvPr/>
        </p:nvSpPr>
        <p:spPr>
          <a:xfrm>
            <a:off x="4663440" y="1188720"/>
            <a:ext cx="4023360" cy="3200400"/>
          </a:xfrm>
          <a:prstGeom prst="roundRect">
            <a:avLst>
              <a:gd name="adj" fmla="val 2286"/>
            </a:avLst>
          </a:prstGeom>
          <a:solidFill>
            <a:srgbClr val="172B27"/>
          </a:solidFill>
          <a:ln w="9525">
            <a:solidFill>
              <a:srgbClr val="2A4540"/>
            </a:solidFill>
            <a:prstDash val="solid"/>
          </a:ln>
        </p:spPr>
      </p:sp>
      <p:sp>
        <p:nvSpPr>
          <p:cNvPr id="8" name="Text 5"/>
          <p:cNvSpPr txBox="1"/>
          <p:nvPr/>
        </p:nvSpPr>
        <p:spPr>
          <a:xfrm>
            <a:off x="4846320" y="1280160"/>
            <a:ext cx="3657600" cy="228600"/>
          </a:xfrm>
          <a:prstGeom prst="rect">
            <a:avLst/>
          </a:prstGeom>
          <a:noFill/>
          <a:ln/>
        </p:spPr>
        <p:txBody>
          <a:bodyPr wrap="square" lIns="0" tIns="0" rIns="0" bIns="0" rtlCol="0" anchor="ctr"/>
          <a:lstStyle/>
          <a:p>
            <a:pPr marL="0" indent="0">
              <a:buNone/>
            </a:pPr>
            <a:r>
              <a:rPr lang="en-US" sz="1000" b="1" kern="0" spc="100" dirty="0">
                <a:solidFill>
                  <a:srgbClr val="9DB5AE"/>
                </a:solidFill>
              </a:rPr>
              <a:t>SOCIAL SPENDING VS INCOME</a:t>
            </a:r>
            <a:endParaRPr lang="en-US" sz="1000" dirty="0"/>
          </a:p>
        </p:txBody>
      </p:sp>
      <p:pic>
        <p:nvPicPr>
          <p:cNvPr id="9" name="Image 1" descr="Social spending vs income animation"/>
          <p:cNvPicPr>
            <a:picLocks noChangeAspect="1"/>
          </p:cNvPicPr>
          <p:nvPr/>
        </p:nvPicPr>
        <p:blipFill>
          <a:blip r:embed="rId4"/>
          <a:stretch>
            <a:fillRect/>
          </a:stretch>
        </p:blipFill>
        <p:spPr>
          <a:xfrm>
            <a:off x="4754880" y="1554480"/>
            <a:ext cx="3840480" cy="2240280"/>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marL="0" indent="0">
              <a:buNone/>
            </a:pPr>
            <a:r>
              <a:rPr lang="en-US" sz="2400" b="1" dirty="0">
                <a:solidFill>
                  <a:srgbClr val="F4F1EA"/>
                </a:solidFill>
                <a:latin typeface="Cambria" pitchFamily="34" charset="0"/>
                <a:ea typeface="Cambria" pitchFamily="34" charset="-122"/>
                <a:cs typeface="Cambria" pitchFamily="34" charset="-120"/>
              </a:rPr>
              <a:t>Animation: state rankings, 1</a:t>
            </a:r>
            <a:endParaRPr lang="en-US" sz="2400" dirty="0"/>
          </a:p>
        </p:txBody>
      </p:sp>
      <p:sp>
        <p:nvSpPr>
          <p:cNvPr id="3" name="Text 1"/>
          <p:cNvSpPr txBox="1"/>
          <p:nvPr/>
        </p:nvSpPr>
        <p:spPr>
          <a:xfrm>
            <a:off x="457200" y="777240"/>
            <a:ext cx="8229600" cy="274320"/>
          </a:xfrm>
          <a:prstGeom prst="rect">
            <a:avLst/>
          </a:prstGeom>
          <a:noFill/>
          <a:ln/>
        </p:spPr>
        <p:txBody>
          <a:bodyPr wrap="square" lIns="0" tIns="0" rIns="0" bIns="0" rtlCol="0" anchor="ctr"/>
          <a:lstStyle/>
          <a:p>
            <a:pPr marL="0" indent="0">
              <a:buNone/>
            </a:pPr>
            <a:r>
              <a:rPr lang="en-US" sz="1300" dirty="0">
                <a:solidFill>
                  <a:srgbClr val="9DB5AE"/>
                </a:solidFill>
              </a:rPr>
              <a:t>Top ten states by ratio to GSDP, year by year</a:t>
            </a:r>
            <a:endParaRPr lang="en-US" sz="1300" dirty="0"/>
          </a:p>
        </p:txBody>
      </p:sp>
      <p:sp>
        <p:nvSpPr>
          <p:cNvPr id="4" name="anim card"/>
          <p:cNvSpPr/>
          <p:nvPr/>
        </p:nvSpPr>
        <p:spPr>
          <a:xfrm>
            <a:off x="457200" y="1188720"/>
            <a:ext cx="4023360" cy="3200400"/>
          </a:xfrm>
          <a:prstGeom prst="roundRect">
            <a:avLst>
              <a:gd name="adj" fmla="val 2286"/>
            </a:avLst>
          </a:prstGeom>
          <a:solidFill>
            <a:srgbClr val="172B27"/>
          </a:solidFill>
          <a:ln w="9525">
            <a:solidFill>
              <a:srgbClr val="2A4540"/>
            </a:solidFill>
            <a:prstDash val="solid"/>
          </a:ln>
        </p:spPr>
      </p:sp>
      <p:sp>
        <p:nvSpPr>
          <p:cNvPr id="5" name="Text 3"/>
          <p:cNvSpPr txBox="1"/>
          <p:nvPr/>
        </p:nvSpPr>
        <p:spPr>
          <a:xfrm>
            <a:off x="640080" y="1280160"/>
            <a:ext cx="3657600" cy="228600"/>
          </a:xfrm>
          <a:prstGeom prst="rect">
            <a:avLst/>
          </a:prstGeom>
          <a:noFill/>
          <a:ln/>
        </p:spPr>
        <p:txBody>
          <a:bodyPr wrap="square" lIns="0" tIns="0" rIns="0" bIns="0" rtlCol="0" anchor="ctr"/>
          <a:lstStyle/>
          <a:p>
            <a:pPr marL="0" indent="0">
              <a:buNone/>
            </a:pPr>
            <a:r>
              <a:rPr lang="en-US" sz="1000" b="1" kern="0" spc="100" dirty="0">
                <a:solidFill>
                  <a:srgbClr val="9DB5AE"/>
                </a:solidFill>
              </a:rPr>
              <a:t>CAPITAL EXPENDITURE RATIO</a:t>
            </a:r>
            <a:endParaRPr lang="en-US" sz="1000" dirty="0"/>
          </a:p>
        </p:txBody>
      </p:sp>
      <p:pic>
        <p:nvPicPr>
          <p:cNvPr id="6" name="Image 0" descr="Capital expenditure ratio animation"/>
          <p:cNvPicPr>
            <a:picLocks noChangeAspect="1"/>
          </p:cNvPicPr>
          <p:nvPr/>
        </p:nvPicPr>
        <p:blipFill>
          <a:blip r:embed="rId3"/>
          <a:stretch>
            <a:fillRect/>
          </a:stretch>
        </p:blipFill>
        <p:spPr>
          <a:xfrm>
            <a:off x="548640" y="1554480"/>
            <a:ext cx="3840480" cy="2240280"/>
          </a:xfrm>
          <a:prstGeom prst="rect">
            <a:avLst/>
          </a:prstGeom>
        </p:spPr>
      </p:pic>
      <p:sp>
        <p:nvSpPr>
          <p:cNvPr id="7" name="anim card"/>
          <p:cNvSpPr/>
          <p:nvPr/>
        </p:nvSpPr>
        <p:spPr>
          <a:xfrm>
            <a:off x="4663440" y="1188720"/>
            <a:ext cx="4023360" cy="3200400"/>
          </a:xfrm>
          <a:prstGeom prst="roundRect">
            <a:avLst>
              <a:gd name="adj" fmla="val 2286"/>
            </a:avLst>
          </a:prstGeom>
          <a:solidFill>
            <a:srgbClr val="172B27"/>
          </a:solidFill>
          <a:ln w="9525">
            <a:solidFill>
              <a:srgbClr val="2A4540"/>
            </a:solidFill>
            <a:prstDash val="solid"/>
          </a:ln>
        </p:spPr>
      </p:sp>
      <p:sp>
        <p:nvSpPr>
          <p:cNvPr id="8" name="Text 5"/>
          <p:cNvSpPr txBox="1"/>
          <p:nvPr/>
        </p:nvSpPr>
        <p:spPr>
          <a:xfrm>
            <a:off x="4846320" y="1280160"/>
            <a:ext cx="3657600" cy="228600"/>
          </a:xfrm>
          <a:prstGeom prst="rect">
            <a:avLst/>
          </a:prstGeom>
          <a:noFill/>
          <a:ln/>
        </p:spPr>
        <p:txBody>
          <a:bodyPr wrap="square" lIns="0" tIns="0" rIns="0" bIns="0" rtlCol="0" anchor="ctr"/>
          <a:lstStyle/>
          <a:p>
            <a:pPr marL="0" indent="0">
              <a:buNone/>
            </a:pPr>
            <a:r>
              <a:rPr lang="en-US" sz="1000" b="1" kern="0" spc="100" dirty="0">
                <a:solidFill>
                  <a:srgbClr val="9DB5AE"/>
                </a:solidFill>
              </a:rPr>
              <a:t>FISCAL DEFICIT RATIO</a:t>
            </a:r>
            <a:endParaRPr lang="en-US" sz="1000" dirty="0"/>
          </a:p>
        </p:txBody>
      </p:sp>
      <p:pic>
        <p:nvPicPr>
          <p:cNvPr id="9" name="Image 1" descr="Fiscal deficit ratio animation"/>
          <p:cNvPicPr>
            <a:picLocks noChangeAspect="1"/>
          </p:cNvPicPr>
          <p:nvPr/>
        </p:nvPicPr>
        <p:blipFill>
          <a:blip r:embed="rId4"/>
          <a:stretch>
            <a:fillRect/>
          </a:stretch>
        </p:blipFill>
        <p:spPr>
          <a:xfrm>
            <a:off x="4754880" y="1554480"/>
            <a:ext cx="3840480" cy="2240280"/>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 number"/>
          <p:cNvSpPr txBox="1"/>
          <p:nvPr/>
        </p:nvSpPr>
        <p:spPr>
          <a:xfrm>
            <a:off x="548640" y="1325880"/>
            <a:ext cx="2743200" cy="822960"/>
          </a:xfrm>
          <a:prstGeom prst="rect">
            <a:avLst/>
          </a:prstGeom>
          <a:noFill/>
        </p:spPr>
        <p:txBody>
          <a:bodyPr wrap="square" lIns="0" tIns="0" rIns="0" bIns="0" anchor="t">
            <a:spAutoFit/>
          </a:bodyPr>
          <a:lstStyle/>
          <a:p>
            <a:pPr algn="l"/>
            <a:r>
              <a:rPr sz="5400" b="1" i="0">
                <a:solidFill>
                  <a:srgbClr val="2DD4A7"/>
                </a:solidFill>
                <a:latin typeface="Cambria"/>
              </a:rPr>
              <a:t>03</a:t>
            </a:r>
          </a:p>
        </p:txBody>
      </p:sp>
      <p:sp>
        <p:nvSpPr>
          <p:cNvPr id="3" name="Title"/>
          <p:cNvSpPr txBox="1"/>
          <p:nvPr/>
        </p:nvSpPr>
        <p:spPr>
          <a:xfrm>
            <a:off x="548640" y="2240280"/>
            <a:ext cx="7680960" cy="640080"/>
          </a:xfrm>
          <a:prstGeom prst="rect">
            <a:avLst/>
          </a:prstGeom>
          <a:noFill/>
        </p:spPr>
        <p:txBody>
          <a:bodyPr wrap="square" lIns="0" tIns="0" rIns="0" bIns="0" anchor="t">
            <a:spAutoFit/>
          </a:bodyPr>
          <a:lstStyle/>
          <a:p>
            <a:pPr algn="l"/>
            <a:r>
              <a:rPr sz="3400" b="1" i="0">
                <a:solidFill>
                  <a:srgbClr val="F4F1EA"/>
                </a:solidFill>
                <a:latin typeface="Cambria"/>
              </a:rPr>
              <a:t>The evidence</a:t>
            </a:r>
          </a:p>
        </p:txBody>
      </p:sp>
      <p:sp>
        <p:nvSpPr>
          <p:cNvPr id="4" name="Subtitle"/>
          <p:cNvSpPr txBox="1"/>
          <p:nvPr/>
        </p:nvSpPr>
        <p:spPr>
          <a:xfrm>
            <a:off x="548640" y="3017520"/>
            <a:ext cx="7132320" cy="548640"/>
          </a:xfrm>
          <a:prstGeom prst="rect">
            <a:avLst/>
          </a:prstGeom>
          <a:noFill/>
        </p:spPr>
        <p:txBody>
          <a:bodyPr wrap="square" lIns="0" tIns="0" rIns="0" bIns="0" anchor="t">
            <a:spAutoFit/>
          </a:bodyPr>
          <a:lstStyle/>
          <a:p>
            <a:pPr algn="l"/>
            <a:r>
              <a:rPr sz="1400" b="0" i="0">
                <a:solidFill>
                  <a:srgbClr val="9DB5AE"/>
                </a:solidFill>
              </a:rPr>
              <a:t>Objectives 2–3: estimate within-state links and test their robustness</a:t>
            </a:r>
          </a:p>
        </p:txBody>
      </p:sp>
      <p:sp>
        <p:nvSpPr>
          <p:cNvPr id="5" name="progress dot"/>
          <p:cNvSpPr/>
          <p:nvPr/>
        </p:nvSpPr>
        <p:spPr>
          <a:xfrm>
            <a:off x="548640" y="4343400"/>
            <a:ext cx="128016" cy="128016"/>
          </a:xfrm>
          <a:prstGeom prst="ellipse">
            <a:avLst/>
          </a:prstGeom>
          <a:solidFill>
            <a:srgbClr val="2A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rogress dot"/>
          <p:cNvSpPr/>
          <p:nvPr/>
        </p:nvSpPr>
        <p:spPr>
          <a:xfrm>
            <a:off x="804672" y="4343400"/>
            <a:ext cx="128016" cy="128016"/>
          </a:xfrm>
          <a:prstGeom prst="ellipse">
            <a:avLst/>
          </a:prstGeom>
          <a:solidFill>
            <a:srgbClr val="2A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rogress dot"/>
          <p:cNvSpPr/>
          <p:nvPr/>
        </p:nvSpPr>
        <p:spPr>
          <a:xfrm>
            <a:off x="1060704" y="4343400"/>
            <a:ext cx="128016" cy="128016"/>
          </a:xfrm>
          <a:prstGeom prst="ellipse">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progress dot"/>
          <p:cNvSpPr/>
          <p:nvPr/>
        </p:nvSpPr>
        <p:spPr>
          <a:xfrm>
            <a:off x="1316736" y="4343400"/>
            <a:ext cx="128016" cy="128016"/>
          </a:xfrm>
          <a:prstGeom prst="ellipse">
            <a:avLst/>
          </a:prstGeom>
          <a:solidFill>
            <a:srgbClr val="2A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progress dot"/>
          <p:cNvSpPr/>
          <p:nvPr/>
        </p:nvSpPr>
        <p:spPr>
          <a:xfrm>
            <a:off x="1572768" y="4343400"/>
            <a:ext cx="128016" cy="128016"/>
          </a:xfrm>
          <a:prstGeom prst="ellipse">
            <a:avLst/>
          </a:prstGeom>
          <a:solidFill>
            <a:srgbClr val="2A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8229600" cy="502920"/>
          </a:xfrm>
          <a:prstGeom prst="rect">
            <a:avLst/>
          </a:prstGeom>
          <a:noFill/>
        </p:spPr>
        <p:txBody>
          <a:bodyPr wrap="square" lIns="0" tIns="0" rIns="0" bIns="0" anchor="t">
            <a:spAutoFit/>
          </a:bodyPr>
          <a:lstStyle/>
          <a:p>
            <a:pPr algn="l"/>
            <a:r>
              <a:rPr sz="2400" b="1" i="0">
                <a:solidFill>
                  <a:srgbClr val="F4F1EA"/>
                </a:solidFill>
                <a:latin typeface="Cambria"/>
              </a:rPr>
              <a:t>Only spending size carries a clear signal</a:t>
            </a:r>
          </a:p>
        </p:txBody>
      </p:sp>
      <p:sp>
        <p:nvSpPr>
          <p:cNvPr id="3" name="Subtitle"/>
          <p:cNvSpPr txBox="1"/>
          <p:nvPr/>
        </p:nvSpPr>
        <p:spPr>
          <a:xfrm>
            <a:off x="457200" y="777240"/>
            <a:ext cx="8229600" cy="274320"/>
          </a:xfrm>
          <a:prstGeom prst="rect">
            <a:avLst/>
          </a:prstGeom>
          <a:noFill/>
        </p:spPr>
        <p:txBody>
          <a:bodyPr wrap="square" lIns="0" tIns="0" rIns="0" bIns="0" anchor="ctr">
            <a:spAutoFit/>
          </a:bodyPr>
          <a:lstStyle/>
          <a:p>
            <a:pPr algn="l"/>
            <a:r>
              <a:rPr sz="1300" b="0" i="0">
                <a:solidFill>
                  <a:srgbClr val="9DB5AE"/>
                </a:solidFill>
              </a:rPr>
              <a:t>Random-effects coefficients with 95% CI across Specs B, D and E; filled points significant at 5%</a:t>
            </a:r>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24</a:t>
            </a:fld>
            <a:endParaRPr lang="en-US"/>
          </a:p>
        </p:txBody>
      </p:sp>
      <p:sp>
        <p:nvSpPr>
          <p:cNvPr id="26" name="figure panel"/>
          <p:cNvSpPr/>
          <p:nvPr/>
        </p:nvSpPr>
        <p:spPr>
          <a:xfrm>
            <a:off x="457200" y="1188720"/>
            <a:ext cx="8229600" cy="2606040"/>
          </a:xfrm>
          <a:prstGeom prst="roundRect">
            <a:avLst>
              <a:gd name="adj" fmla="val 2807"/>
            </a:avLst>
          </a:prstGeom>
          <a:solidFill>
            <a:srgbClr val="FFFFFF"/>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Coefficient plot across specifications" descr="Coefficient plot across specifications"/>
          <p:cNvPicPr>
            <a:picLocks noChangeAspect="1"/>
          </p:cNvPicPr>
          <p:nvPr/>
        </p:nvPicPr>
        <p:blipFill>
          <a:blip r:embed="rId3"/>
          <a:stretch>
            <a:fillRect/>
          </a:stretch>
        </p:blipFill>
        <p:spPr>
          <a:xfrm>
            <a:off x="558886" y="1280160"/>
            <a:ext cx="8026227" cy="2423160"/>
          </a:xfrm>
          <a:prstGeom prst="rect">
            <a:avLst/>
          </a:prstGeom>
        </p:spPr>
      </p:pic>
      <p:sp>
        <p:nvSpPr>
          <p:cNvPr id="28" name="spec card"/>
          <p:cNvSpPr/>
          <p:nvPr/>
        </p:nvSpPr>
        <p:spPr>
          <a:xfrm>
            <a:off x="457200" y="3904487"/>
            <a:ext cx="2651760" cy="804672"/>
          </a:xfrm>
          <a:prstGeom prst="roundRect">
            <a:avLst>
              <a:gd name="adj" fmla="val 6818"/>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4360" y="3977639"/>
            <a:ext cx="1097280" cy="411480"/>
          </a:xfrm>
          <a:prstGeom prst="rect">
            <a:avLst/>
          </a:prstGeom>
          <a:noFill/>
        </p:spPr>
        <p:txBody>
          <a:bodyPr wrap="square" lIns="0" tIns="0" rIns="0" bIns="0" anchor="ctr">
            <a:spAutoFit/>
          </a:bodyPr>
          <a:lstStyle/>
          <a:p>
            <a:pPr algn="l"/>
            <a:r>
              <a:rPr sz="2200" b="1" i="0">
                <a:solidFill>
                  <a:srgbClr val="F5B83D"/>
                </a:solidFill>
                <a:latin typeface="Cambria"/>
              </a:rPr>
              <a:t>−1.223</a:t>
            </a:r>
          </a:p>
        </p:txBody>
      </p:sp>
      <p:sp>
        <p:nvSpPr>
          <p:cNvPr id="30" name="TextBox 29"/>
          <p:cNvSpPr txBox="1"/>
          <p:nvPr/>
        </p:nvSpPr>
        <p:spPr>
          <a:xfrm>
            <a:off x="594360" y="4389120"/>
            <a:ext cx="1097280" cy="228600"/>
          </a:xfrm>
          <a:prstGeom prst="rect">
            <a:avLst/>
          </a:prstGeom>
          <a:noFill/>
        </p:spPr>
        <p:txBody>
          <a:bodyPr wrap="square" lIns="0" tIns="0" rIns="0" bIns="0" anchor="t">
            <a:spAutoFit/>
          </a:bodyPr>
          <a:lstStyle/>
          <a:p>
            <a:pPr algn="l"/>
            <a:r>
              <a:rPr sz="1000" b="0" i="0">
                <a:solidFill>
                  <a:srgbClr val="9DB5AE"/>
                </a:solidFill>
              </a:rPr>
              <a:t>p = 0.002</a:t>
            </a:r>
          </a:p>
        </p:txBody>
      </p:sp>
      <p:sp>
        <p:nvSpPr>
          <p:cNvPr id="31" name="TextBox 30"/>
          <p:cNvSpPr txBox="1"/>
          <p:nvPr/>
        </p:nvSpPr>
        <p:spPr>
          <a:xfrm>
            <a:off x="1737360" y="4023360"/>
            <a:ext cx="1280160" cy="594360"/>
          </a:xfrm>
          <a:prstGeom prst="rect">
            <a:avLst/>
          </a:prstGeom>
          <a:noFill/>
        </p:spPr>
        <p:txBody>
          <a:bodyPr wrap="square" lIns="0" tIns="0" rIns="0" bIns="0" anchor="ctr">
            <a:spAutoFit/>
          </a:bodyPr>
          <a:lstStyle/>
          <a:p>
            <a:pPr algn="l">
              <a:spcAft>
                <a:spcPts val="200"/>
              </a:spcAft>
            </a:pPr>
            <a:r>
              <a:rPr sz="850" b="1" i="0">
                <a:solidFill>
                  <a:srgbClr val="9DB5AE"/>
                </a:solidFill>
              </a:rPr>
              <a:t>SPEC B · MAIN</a:t>
            </a:r>
          </a:p>
          <a:p>
            <a:pPr algn="l">
              <a:spcAft>
                <a:spcPts val="200"/>
              </a:spcAft>
            </a:pPr>
            <a:r>
              <a:rPr sz="1100" b="0" i="0">
                <a:solidFill>
                  <a:srgbClr val="F4F1EA"/>
                </a:solidFill>
              </a:rPr>
              <a:t>Revenue exp. / GSDP</a:t>
            </a:r>
          </a:p>
        </p:txBody>
      </p:sp>
      <p:sp>
        <p:nvSpPr>
          <p:cNvPr id="32" name="spec card"/>
          <p:cNvSpPr/>
          <p:nvPr/>
        </p:nvSpPr>
        <p:spPr>
          <a:xfrm>
            <a:off x="3246120" y="3904487"/>
            <a:ext cx="2651760" cy="804672"/>
          </a:xfrm>
          <a:prstGeom prst="roundRect">
            <a:avLst>
              <a:gd name="adj" fmla="val 6818"/>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383279" y="3977639"/>
            <a:ext cx="1097280" cy="411480"/>
          </a:xfrm>
          <a:prstGeom prst="rect">
            <a:avLst/>
          </a:prstGeom>
          <a:noFill/>
        </p:spPr>
        <p:txBody>
          <a:bodyPr wrap="square" lIns="0" tIns="0" rIns="0" bIns="0" anchor="ctr">
            <a:spAutoFit/>
          </a:bodyPr>
          <a:lstStyle/>
          <a:p>
            <a:pPr algn="l"/>
            <a:r>
              <a:rPr sz="2200" b="1" i="0">
                <a:solidFill>
                  <a:srgbClr val="2DD4A7"/>
                </a:solidFill>
                <a:latin typeface="Cambria"/>
              </a:rPr>
              <a:t>−1.318</a:t>
            </a:r>
          </a:p>
        </p:txBody>
      </p:sp>
      <p:sp>
        <p:nvSpPr>
          <p:cNvPr id="34" name="TextBox 33"/>
          <p:cNvSpPr txBox="1"/>
          <p:nvPr/>
        </p:nvSpPr>
        <p:spPr>
          <a:xfrm>
            <a:off x="3383279" y="4389120"/>
            <a:ext cx="1097280" cy="228600"/>
          </a:xfrm>
          <a:prstGeom prst="rect">
            <a:avLst/>
          </a:prstGeom>
          <a:noFill/>
        </p:spPr>
        <p:txBody>
          <a:bodyPr wrap="square" lIns="0" tIns="0" rIns="0" bIns="0" anchor="t">
            <a:spAutoFit/>
          </a:bodyPr>
          <a:lstStyle/>
          <a:p>
            <a:pPr algn="l"/>
            <a:r>
              <a:rPr sz="1000" b="0" i="0">
                <a:solidFill>
                  <a:srgbClr val="9DB5AE"/>
                </a:solidFill>
              </a:rPr>
              <a:t>p &lt; 0.001</a:t>
            </a:r>
          </a:p>
        </p:txBody>
      </p:sp>
      <p:sp>
        <p:nvSpPr>
          <p:cNvPr id="35" name="TextBox 34"/>
          <p:cNvSpPr txBox="1"/>
          <p:nvPr/>
        </p:nvSpPr>
        <p:spPr>
          <a:xfrm>
            <a:off x="4526279" y="4023360"/>
            <a:ext cx="1280160" cy="594360"/>
          </a:xfrm>
          <a:prstGeom prst="rect">
            <a:avLst/>
          </a:prstGeom>
          <a:noFill/>
        </p:spPr>
        <p:txBody>
          <a:bodyPr wrap="square" lIns="0" tIns="0" rIns="0" bIns="0" anchor="ctr">
            <a:spAutoFit/>
          </a:bodyPr>
          <a:lstStyle/>
          <a:p>
            <a:pPr algn="l">
              <a:spcAft>
                <a:spcPts val="200"/>
              </a:spcAft>
            </a:pPr>
            <a:r>
              <a:rPr sz="850" b="1" i="0">
                <a:solidFill>
                  <a:srgbClr val="9DB5AE"/>
                </a:solidFill>
              </a:rPr>
              <a:t>SPEC D · SIZE &amp; MIX</a:t>
            </a:r>
          </a:p>
          <a:p>
            <a:pPr algn="l">
              <a:spcAft>
                <a:spcPts val="200"/>
              </a:spcAft>
            </a:pPr>
            <a:r>
              <a:rPr sz="1100" b="0" i="0">
                <a:solidFill>
                  <a:srgbClr val="F4F1EA"/>
                </a:solidFill>
              </a:rPr>
              <a:t>Total exp. / GSDP</a:t>
            </a:r>
          </a:p>
        </p:txBody>
      </p:sp>
      <p:sp>
        <p:nvSpPr>
          <p:cNvPr id="36" name="spec card"/>
          <p:cNvSpPr/>
          <p:nvPr/>
        </p:nvSpPr>
        <p:spPr>
          <a:xfrm>
            <a:off x="6035040" y="3904487"/>
            <a:ext cx="2651760" cy="804672"/>
          </a:xfrm>
          <a:prstGeom prst="roundRect">
            <a:avLst>
              <a:gd name="adj" fmla="val 6818"/>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172200" y="3977639"/>
            <a:ext cx="1097280" cy="411480"/>
          </a:xfrm>
          <a:prstGeom prst="rect">
            <a:avLst/>
          </a:prstGeom>
          <a:noFill/>
        </p:spPr>
        <p:txBody>
          <a:bodyPr wrap="square" lIns="0" tIns="0" rIns="0" bIns="0" anchor="ctr">
            <a:spAutoFit/>
          </a:bodyPr>
          <a:lstStyle/>
          <a:p>
            <a:pPr algn="l"/>
            <a:r>
              <a:rPr sz="2200" b="1" i="0">
                <a:solidFill>
                  <a:srgbClr val="B79CFF"/>
                </a:solidFill>
                <a:latin typeface="Cambria"/>
              </a:rPr>
              <a:t>−0.318</a:t>
            </a:r>
          </a:p>
        </p:txBody>
      </p:sp>
      <p:sp>
        <p:nvSpPr>
          <p:cNvPr id="38" name="TextBox 37"/>
          <p:cNvSpPr txBox="1"/>
          <p:nvPr/>
        </p:nvSpPr>
        <p:spPr>
          <a:xfrm>
            <a:off x="6172200" y="4389120"/>
            <a:ext cx="1097280" cy="228600"/>
          </a:xfrm>
          <a:prstGeom prst="rect">
            <a:avLst/>
          </a:prstGeom>
          <a:noFill/>
        </p:spPr>
        <p:txBody>
          <a:bodyPr wrap="square" lIns="0" tIns="0" rIns="0" bIns="0" anchor="t">
            <a:spAutoFit/>
          </a:bodyPr>
          <a:lstStyle/>
          <a:p>
            <a:pPr algn="l"/>
            <a:r>
              <a:rPr sz="1000" b="0" i="0">
                <a:solidFill>
                  <a:srgbClr val="9DB5AE"/>
                </a:solidFill>
              </a:rPr>
              <a:t>p = 0.002</a:t>
            </a:r>
          </a:p>
        </p:txBody>
      </p:sp>
      <p:sp>
        <p:nvSpPr>
          <p:cNvPr id="39" name="TextBox 38"/>
          <p:cNvSpPr txBox="1"/>
          <p:nvPr/>
        </p:nvSpPr>
        <p:spPr>
          <a:xfrm>
            <a:off x="7315200" y="4023360"/>
            <a:ext cx="1280160" cy="594360"/>
          </a:xfrm>
          <a:prstGeom prst="rect">
            <a:avLst/>
          </a:prstGeom>
          <a:noFill/>
        </p:spPr>
        <p:txBody>
          <a:bodyPr wrap="square" lIns="0" tIns="0" rIns="0" bIns="0" anchor="ctr">
            <a:spAutoFit/>
          </a:bodyPr>
          <a:lstStyle/>
          <a:p>
            <a:pPr algn="l">
              <a:spcAft>
                <a:spcPts val="200"/>
              </a:spcAft>
            </a:pPr>
            <a:r>
              <a:rPr sz="850" b="1" i="0">
                <a:solidFill>
                  <a:srgbClr val="9DB5AE"/>
                </a:solidFill>
              </a:rPr>
              <a:t>SPEC E · LOG RATIOS</a:t>
            </a:r>
          </a:p>
          <a:p>
            <a:pPr algn="l">
              <a:spcAft>
                <a:spcPts val="200"/>
              </a:spcAft>
            </a:pPr>
            <a:r>
              <a:rPr sz="1100" b="0" i="0">
                <a:solidFill>
                  <a:srgbClr val="F4F1EA"/>
                </a:solidFill>
              </a:rPr>
              <a:t>ln Revenue exp.</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marL="0" indent="0">
              <a:buNone/>
            </a:pPr>
            <a:r>
              <a:rPr lang="en-US" sz="2400" b="1" dirty="0">
                <a:solidFill>
                  <a:srgbClr val="F4F1EA"/>
                </a:solidFill>
                <a:latin typeface="Cambria" pitchFamily="34" charset="0"/>
                <a:ea typeface="Cambria" pitchFamily="34" charset="-122"/>
                <a:cs typeface="Cambria" pitchFamily="34" charset="-120"/>
              </a:rPr>
              <a:t>Results: pooled, fixed and random effects</a:t>
            </a:r>
            <a:endParaRPr lang="en-US" sz="2400" dirty="0"/>
          </a:p>
        </p:txBody>
      </p:sp>
      <p:sp>
        <p:nvSpPr>
          <p:cNvPr id="3" name="Text 1"/>
          <p:cNvSpPr txBox="1"/>
          <p:nvPr/>
        </p:nvSpPr>
        <p:spPr>
          <a:xfrm>
            <a:off x="457200" y="777240"/>
            <a:ext cx="8229600" cy="274320"/>
          </a:xfrm>
          <a:prstGeom prst="rect">
            <a:avLst/>
          </a:prstGeom>
          <a:noFill/>
          <a:ln/>
        </p:spPr>
        <p:txBody>
          <a:bodyPr wrap="square" lIns="0" tIns="0" rIns="0" bIns="0" rtlCol="0" anchor="ctr"/>
          <a:lstStyle/>
          <a:p>
            <a:pPr marL="0" indent="0">
              <a:buNone/>
            </a:pPr>
            <a:r>
              <a:rPr lang="en-US" sz="1300" dirty="0">
                <a:solidFill>
                  <a:srgbClr val="9DB5AE"/>
                </a:solidFill>
              </a:rPr>
              <a:t>Coefficient (cluster-robust SE); revenue spending stays negative once state effects are included</a:t>
            </a:r>
            <a:endParaRPr lang="en-US" sz="1300" dirty="0"/>
          </a:p>
        </p:txBody>
      </p:sp>
      <p:graphicFrame>
        <p:nvGraphicFramePr>
          <p:cNvPr id="20" name="estimator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414016"/>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402336">
                <a:tc>
                  <a:txBody>
                    <a:bodyPr/>
                    <a:lstStyle/>
                    <a:p>
                      <a:pPr marL="0" indent="0">
                        <a:buNone/>
                      </a:pPr>
                      <a:r>
                        <a:rPr lang="en-US" sz="1100" b="1" dirty="0">
                          <a:solidFill>
                            <a:srgbClr val="0F1C1A"/>
                          </a:solidFill>
                        </a:rPr>
                        <a:t>Spec B</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2DD4A7"/>
                    </a:solidFill>
                  </a:tcPr>
                </a:tc>
                <a:tc>
                  <a:txBody>
                    <a:bodyPr/>
                    <a:lstStyle/>
                    <a:p>
                      <a:pPr marL="0" indent="0">
                        <a:buNone/>
                      </a:pPr>
                      <a:r>
                        <a:rPr lang="en-US" sz="1100" b="1" dirty="0">
                          <a:solidFill>
                            <a:srgbClr val="0F1C1A"/>
                          </a:solidFill>
                        </a:rPr>
                        <a:t>Pooled OLS</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2DD4A7"/>
                    </a:solidFill>
                  </a:tcPr>
                </a:tc>
                <a:tc>
                  <a:txBody>
                    <a:bodyPr/>
                    <a:lstStyle/>
                    <a:p>
                      <a:pPr marL="0" indent="0">
                        <a:buNone/>
                      </a:pPr>
                      <a:r>
                        <a:rPr lang="en-US" sz="1100" b="1" dirty="0">
                          <a:solidFill>
                            <a:srgbClr val="0F1C1A"/>
                          </a:solidFill>
                        </a:rPr>
                        <a:t>Fixed effects</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2DD4A7"/>
                    </a:solidFill>
                  </a:tcPr>
                </a:tc>
                <a:tc>
                  <a:txBody>
                    <a:bodyPr/>
                    <a:lstStyle/>
                    <a:p>
                      <a:pPr marL="0" indent="0">
                        <a:buNone/>
                      </a:pPr>
                      <a:r>
                        <a:rPr lang="en-US" sz="1100" b="1" dirty="0">
                          <a:solidFill>
                            <a:srgbClr val="0F1C1A"/>
                          </a:solidFill>
                        </a:rPr>
                        <a:t>Random effects</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2DD4A7"/>
                    </a:solidFill>
                  </a:tcPr>
                </a:tc>
                <a:extLst>
                  <a:ext uri="{0D108BD9-81ED-4DB2-BD59-A6C34878D82A}">
                    <a16:rowId xmlns:a16="http://schemas.microsoft.com/office/drawing/2014/main" val="10000"/>
                  </a:ext>
                </a:extLst>
              </a:tr>
              <a:tr h="402336">
                <a:tc>
                  <a:txBody>
                    <a:bodyPr/>
                    <a:lstStyle/>
                    <a:p>
                      <a:pPr marL="0" indent="0">
                        <a:buNone/>
                      </a:pPr>
                      <a:r>
                        <a:rPr lang="en-US" sz="1100" b="1" dirty="0">
                          <a:solidFill>
                            <a:srgbClr val="F5B83D"/>
                          </a:solidFill>
                        </a:rPr>
                        <a:t>Social sector</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-13.747** (5.734)</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-1.126 (0.694)</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-1.154 (0.707)</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1"/>
                  </a:ext>
                </a:extLst>
              </a:tr>
              <a:tr h="402336">
                <a:tc>
                  <a:txBody>
                    <a:bodyPr/>
                    <a:lstStyle/>
                    <a:p>
                      <a:pPr marL="0" indent="0">
                        <a:buNone/>
                      </a:pPr>
                      <a:r>
                        <a:rPr lang="en-US" sz="1100" b="1" dirty="0">
                          <a:solidFill>
                            <a:srgbClr val="F5B83D"/>
                          </a:solidFill>
                        </a:rPr>
                        <a:t>Capital exp.</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2.638 (3.200)</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0.146 (0.425)</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0.153 (0.434)</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2"/>
                  </a:ext>
                </a:extLst>
              </a:tr>
              <a:tr h="402336">
                <a:tc>
                  <a:txBody>
                    <a:bodyPr/>
                    <a:lstStyle/>
                    <a:p>
                      <a:pPr marL="0" indent="0">
                        <a:buNone/>
                      </a:pPr>
                      <a:r>
                        <a:rPr lang="en-US" sz="1100" b="1" dirty="0">
                          <a:solidFill>
                            <a:srgbClr val="F5B83D"/>
                          </a:solidFill>
                        </a:rPr>
                        <a:t>Revenue exp.</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3.503 (2.568)</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b="1" dirty="0">
                          <a:solidFill>
                            <a:srgbClr val="F5B83D"/>
                          </a:solidFill>
                        </a:rPr>
                        <a:t>-1.229*** (0.362)</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b="1" dirty="0">
                          <a:solidFill>
                            <a:srgbClr val="F5B83D"/>
                          </a:solidFill>
                        </a:rPr>
                        <a:t>-1.223*** (0.364)</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3"/>
                  </a:ext>
                </a:extLst>
              </a:tr>
              <a:tr h="402336">
                <a:tc>
                  <a:txBody>
                    <a:bodyPr/>
                    <a:lstStyle/>
                    <a:p>
                      <a:pPr marL="0" indent="0">
                        <a:buNone/>
                      </a:pPr>
                      <a:r>
                        <a:rPr lang="en-US" sz="1100" b="1" dirty="0">
                          <a:solidFill>
                            <a:srgbClr val="F5B83D"/>
                          </a:solidFill>
                        </a:rPr>
                        <a:t>Fiscal deficit</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-1.877 (1.803)</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0.410 (0.366)</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0.412 (0.377)</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4"/>
                  </a:ext>
                </a:extLst>
              </a:tr>
              <a:tr h="402336">
                <a:tc>
                  <a:txBody>
                    <a:bodyPr/>
                    <a:lstStyle/>
                    <a:p>
                      <a:pPr marL="0" indent="0">
                        <a:buNone/>
                      </a:pPr>
                      <a:r>
                        <a:rPr lang="en-US" sz="1100" b="1" dirty="0">
                          <a:solidFill>
                            <a:srgbClr val="F5B83D"/>
                          </a:solidFill>
                        </a:rPr>
                        <a:t>Liabilities</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0.023 (0.169)</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0.028* (0.016)</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0.028* (0.016)</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5"/>
                  </a:ext>
                </a:extLst>
              </a:tr>
            </a:tbl>
          </a:graphicData>
        </a:graphic>
      </p:graphicFrame>
      <p:graphicFrame>
        <p:nvGraphicFramePr>
          <p:cNvPr id="39" name="spec E table"/>
          <p:cNvGraphicFramePr>
            <a:graphicFrameLocks noGrp="1"/>
          </p:cNvGraphicFramePr>
          <p:nvPr>
            <p:extLst>
              <p:ext uri="{D42A27DB-BD31-4B8C-83A1-F6EECF244321}">
                <p14:modId xmlns:p14="http://schemas.microsoft.com/office/powerpoint/2010/main" val="1579011935"/>
              </p:ext>
            </p:extLst>
          </p:nvPr>
        </p:nvGraphicFramePr>
        <p:xfrm>
          <a:off x="457200" y="3749040"/>
          <a:ext cx="8229600" cy="932688"/>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10896">
                <a:tc>
                  <a:txBody>
                    <a:bodyPr/>
                    <a:lstStyle/>
                    <a:p>
                      <a:pPr marL="0" indent="0">
                        <a:buNone/>
                      </a:pPr>
                      <a:r>
                        <a:rPr lang="en-US" sz="1100" b="1" dirty="0">
                          <a:solidFill>
                            <a:srgbClr val="0F1C1A"/>
                          </a:solidFill>
                        </a:rPr>
                        <a:t>Spec E (logs)</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F5B83D"/>
                    </a:solidFill>
                  </a:tcPr>
                </a:tc>
                <a:tc>
                  <a:txBody>
                    <a:bodyPr/>
                    <a:lstStyle/>
                    <a:p>
                      <a:pPr marL="0" indent="0">
                        <a:buNone/>
                      </a:pPr>
                      <a:r>
                        <a:rPr lang="en-US" sz="1100" b="1" dirty="0">
                          <a:solidFill>
                            <a:srgbClr val="0F1C1A"/>
                          </a:solidFill>
                        </a:rPr>
                        <a:t>Pooled OLS</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F5B83D"/>
                    </a:solidFill>
                  </a:tcPr>
                </a:tc>
                <a:tc>
                  <a:txBody>
                    <a:bodyPr/>
                    <a:lstStyle/>
                    <a:p>
                      <a:pPr marL="0" indent="0">
                        <a:buNone/>
                      </a:pPr>
                      <a:r>
                        <a:rPr lang="en-US" sz="1100" b="1" dirty="0">
                          <a:solidFill>
                            <a:srgbClr val="0F1C1A"/>
                          </a:solidFill>
                        </a:rPr>
                        <a:t>Fixed effects</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F5B83D"/>
                    </a:solidFill>
                  </a:tcPr>
                </a:tc>
                <a:tc>
                  <a:txBody>
                    <a:bodyPr/>
                    <a:lstStyle/>
                    <a:p>
                      <a:pPr marL="0" indent="0">
                        <a:buNone/>
                      </a:pPr>
                      <a:r>
                        <a:rPr lang="en-US" sz="1100" b="1" dirty="0">
                          <a:solidFill>
                            <a:srgbClr val="0F1C1A"/>
                          </a:solidFill>
                        </a:rPr>
                        <a:t>Random effects</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F5B83D"/>
                    </a:solidFill>
                  </a:tcPr>
                </a:tc>
                <a:extLst>
                  <a:ext uri="{0D108BD9-81ED-4DB2-BD59-A6C34878D82A}">
                    <a16:rowId xmlns:a16="http://schemas.microsoft.com/office/drawing/2014/main" val="10000"/>
                  </a:ext>
                </a:extLst>
              </a:tr>
              <a:tr h="310896">
                <a:tc>
                  <a:txBody>
                    <a:bodyPr/>
                    <a:lstStyle/>
                    <a:p>
                      <a:pPr marL="0" indent="0">
                        <a:buNone/>
                      </a:pPr>
                      <a:r>
                        <a:rPr lang="en-US" sz="1100" b="1" dirty="0">
                          <a:solidFill>
                            <a:srgbClr val="2DD4A7"/>
                          </a:solidFill>
                        </a:rPr>
                        <a:t>ln Revenue exp.</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0.455 (0.487)</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b="1" dirty="0">
                          <a:solidFill>
                            <a:srgbClr val="F5B83D"/>
                          </a:solidFill>
                        </a:rPr>
                        <a:t>-0.317*** (0.094)</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b="1" dirty="0">
                          <a:solidFill>
                            <a:srgbClr val="F5B83D"/>
                          </a:solidFill>
                        </a:rPr>
                        <a:t>-0.318*** (0.095)</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1"/>
                  </a:ext>
                </a:extLst>
              </a:tr>
              <a:tr h="310896">
                <a:tc>
                  <a:txBody>
                    <a:bodyPr/>
                    <a:lstStyle/>
                    <a:p>
                      <a:pPr marL="0" indent="0">
                        <a:buNone/>
                      </a:pPr>
                      <a:r>
                        <a:rPr lang="en-US" sz="1100" b="1" dirty="0">
                          <a:solidFill>
                            <a:srgbClr val="2DD4A7"/>
                          </a:solidFill>
                        </a:rPr>
                        <a:t>ln Liabilities</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-0.079 (0.072)</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0.014*** (0.005)</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0.014*** (0.005)</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2"/>
                  </a:ext>
                </a:extLst>
              </a:tr>
            </a:tbl>
          </a:graphicData>
        </a:graphic>
      </p:graphicFrame>
      <p:sp>
        <p:nvSpPr>
          <p:cNvPr id="6" name="Text 2"/>
          <p:cNvSpPr txBox="1"/>
          <p:nvPr/>
        </p:nvSpPr>
        <p:spPr>
          <a:xfrm>
            <a:off x="457200" y="3611880"/>
            <a:ext cx="8229600" cy="9144"/>
          </a:xfrm>
          <a:prstGeom prst="rect">
            <a:avLst/>
          </a:prstGeom>
          <a:noFill/>
          <a:ln/>
        </p:spPr>
        <p:txBody>
          <a:bodyPr wrap="square" lIns="0" tIns="0" rIns="0" bIns="0" rtlCol="0" anchor="ctr"/>
          <a:lstStyle/>
          <a:p>
            <a:pPr marL="0" indent="0">
              <a:buNone/>
            </a:pPr>
            <a:r>
              <a:rPr lang="en-US" sz="100" dirty="0">
                <a:solidFill>
                  <a:srgbClr val="0F1C1A"/>
                </a:solidFill>
              </a:rPr>
              <a:t>Pooled OLS social-sector estimate is driven by between-state differences.</a:t>
            </a:r>
            <a:endParaRPr lang="en-US" sz="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marL="0" indent="0">
              <a:buNone/>
            </a:pPr>
            <a:r>
              <a:rPr lang="en-US" sz="2400" b="1" dirty="0">
                <a:solidFill>
                  <a:srgbClr val="F4F1EA"/>
                </a:solidFill>
                <a:latin typeface="Cambria" pitchFamily="34" charset="0"/>
                <a:ea typeface="Cambria" pitchFamily="34" charset="-122"/>
                <a:cs typeface="Cambria" pitchFamily="34" charset="-120"/>
              </a:rPr>
              <a:t>Model selection</a:t>
            </a:r>
            <a:endParaRPr lang="en-US" sz="2400" dirty="0"/>
          </a:p>
        </p:txBody>
      </p:sp>
      <p:sp>
        <p:nvSpPr>
          <p:cNvPr id="3" name="Text 1"/>
          <p:cNvSpPr txBox="1"/>
          <p:nvPr/>
        </p:nvSpPr>
        <p:spPr>
          <a:xfrm>
            <a:off x="457200" y="777240"/>
            <a:ext cx="8229600" cy="274320"/>
          </a:xfrm>
          <a:prstGeom prst="rect">
            <a:avLst/>
          </a:prstGeom>
          <a:noFill/>
          <a:ln/>
        </p:spPr>
        <p:txBody>
          <a:bodyPr wrap="square" lIns="0" tIns="0" rIns="0" bIns="0" rtlCol="0" anchor="ctr"/>
          <a:lstStyle/>
          <a:p>
            <a:pPr marL="0" indent="0">
              <a:buNone/>
            </a:pPr>
            <a:r>
              <a:rPr lang="en-US" sz="1300" dirty="0">
                <a:solidFill>
                  <a:srgbClr val="9DB5AE"/>
                </a:solidFill>
              </a:rPr>
              <a:t>Specification tests, main model (Spec B)</a:t>
            </a:r>
            <a:endParaRPr lang="en-US" sz="1300" dirty="0"/>
          </a:p>
        </p:txBody>
      </p:sp>
      <p:sp>
        <p:nvSpPr>
          <p:cNvPr id="4" name="kpi card"/>
          <p:cNvSpPr/>
          <p:nvPr/>
        </p:nvSpPr>
        <p:spPr>
          <a:xfrm>
            <a:off x="457200" y="1188720"/>
            <a:ext cx="1920240" cy="1554480"/>
          </a:xfrm>
          <a:prstGeom prst="roundRect">
            <a:avLst>
              <a:gd name="adj" fmla="val 4706"/>
            </a:avLst>
          </a:prstGeom>
          <a:solidFill>
            <a:srgbClr val="172B27"/>
          </a:solidFill>
          <a:ln w="9525">
            <a:solidFill>
              <a:srgbClr val="2A4540"/>
            </a:solidFill>
            <a:prstDash val="solid"/>
          </a:ln>
        </p:spPr>
      </p:sp>
      <p:sp>
        <p:nvSpPr>
          <p:cNvPr id="5" name="Text 3"/>
          <p:cNvSpPr txBox="1"/>
          <p:nvPr/>
        </p:nvSpPr>
        <p:spPr>
          <a:xfrm>
            <a:off x="640080" y="1325880"/>
            <a:ext cx="1554480" cy="228600"/>
          </a:xfrm>
          <a:prstGeom prst="rect">
            <a:avLst/>
          </a:prstGeom>
          <a:noFill/>
          <a:ln/>
        </p:spPr>
        <p:txBody>
          <a:bodyPr wrap="square" lIns="0" tIns="0" rIns="0" bIns="0" rtlCol="0" anchor="ctr"/>
          <a:lstStyle/>
          <a:p>
            <a:pPr marL="0" indent="0">
              <a:buNone/>
            </a:pPr>
            <a:r>
              <a:rPr lang="en-US" sz="1000" b="1" kern="0" spc="100" dirty="0">
                <a:solidFill>
                  <a:srgbClr val="9DB5AE"/>
                </a:solidFill>
              </a:rPr>
              <a:t>HAUSMAN TEST</a:t>
            </a:r>
            <a:endParaRPr lang="en-US" sz="1000" dirty="0"/>
          </a:p>
        </p:txBody>
      </p:sp>
      <p:sp>
        <p:nvSpPr>
          <p:cNvPr id="6" name="Text 4"/>
          <p:cNvSpPr txBox="1"/>
          <p:nvPr/>
        </p:nvSpPr>
        <p:spPr>
          <a:xfrm>
            <a:off x="640080" y="1572768"/>
            <a:ext cx="1554480" cy="640080"/>
          </a:xfrm>
          <a:prstGeom prst="rect">
            <a:avLst/>
          </a:prstGeom>
          <a:noFill/>
          <a:ln/>
        </p:spPr>
        <p:txBody>
          <a:bodyPr wrap="square" lIns="0" tIns="0" rIns="0" bIns="0" rtlCol="0" anchor="ctr"/>
          <a:lstStyle/>
          <a:p>
            <a:pPr marL="0" indent="0">
              <a:buNone/>
            </a:pPr>
            <a:r>
              <a:rPr lang="en-US" sz="3400" b="1" dirty="0">
                <a:solidFill>
                  <a:srgbClr val="2DD4A7"/>
                </a:solidFill>
                <a:latin typeface="Cambria" pitchFamily="34" charset="0"/>
                <a:ea typeface="Cambria" pitchFamily="34" charset="-122"/>
                <a:cs typeface="Cambria" pitchFamily="34" charset="-120"/>
              </a:rPr>
              <a:t>p = .287</a:t>
            </a:r>
            <a:endParaRPr lang="en-US" sz="3400" dirty="0"/>
          </a:p>
        </p:txBody>
      </p:sp>
      <p:sp>
        <p:nvSpPr>
          <p:cNvPr id="7" name="Text 5"/>
          <p:cNvSpPr txBox="1"/>
          <p:nvPr/>
        </p:nvSpPr>
        <p:spPr>
          <a:xfrm>
            <a:off x="640080" y="2212848"/>
            <a:ext cx="1554480" cy="457200"/>
          </a:xfrm>
          <a:prstGeom prst="rect">
            <a:avLst/>
          </a:prstGeom>
          <a:noFill/>
          <a:ln/>
        </p:spPr>
        <p:txBody>
          <a:bodyPr wrap="square" lIns="0" tIns="0" rIns="0" bIns="0" rtlCol="0" anchor="t"/>
          <a:lstStyle/>
          <a:p>
            <a:pPr marL="0" indent="0">
              <a:buNone/>
            </a:pPr>
            <a:r>
              <a:rPr lang="en-US" sz="1100" dirty="0">
                <a:solidFill>
                  <a:srgbClr val="9DB5AE"/>
                </a:solidFill>
              </a:rPr>
              <a:t>Fails to reject: RE is consistent</a:t>
            </a:r>
            <a:endParaRPr lang="en-US" sz="1100" dirty="0"/>
          </a:p>
        </p:txBody>
      </p:sp>
      <p:sp>
        <p:nvSpPr>
          <p:cNvPr id="8" name="kpi card"/>
          <p:cNvSpPr/>
          <p:nvPr/>
        </p:nvSpPr>
        <p:spPr>
          <a:xfrm>
            <a:off x="2514600" y="1188720"/>
            <a:ext cx="1920240" cy="1554480"/>
          </a:xfrm>
          <a:prstGeom prst="roundRect">
            <a:avLst>
              <a:gd name="adj" fmla="val 4706"/>
            </a:avLst>
          </a:prstGeom>
          <a:solidFill>
            <a:srgbClr val="172B27"/>
          </a:solidFill>
          <a:ln w="9525">
            <a:solidFill>
              <a:srgbClr val="2A4540"/>
            </a:solidFill>
            <a:prstDash val="solid"/>
          </a:ln>
        </p:spPr>
      </p:sp>
      <p:sp>
        <p:nvSpPr>
          <p:cNvPr id="9" name="Text 7"/>
          <p:cNvSpPr txBox="1"/>
          <p:nvPr/>
        </p:nvSpPr>
        <p:spPr>
          <a:xfrm>
            <a:off x="2697480" y="1325880"/>
            <a:ext cx="1554480" cy="228600"/>
          </a:xfrm>
          <a:prstGeom prst="rect">
            <a:avLst/>
          </a:prstGeom>
          <a:noFill/>
          <a:ln/>
        </p:spPr>
        <p:txBody>
          <a:bodyPr wrap="square" lIns="0" tIns="0" rIns="0" bIns="0" rtlCol="0" anchor="ctr"/>
          <a:lstStyle/>
          <a:p>
            <a:pPr marL="0" indent="0">
              <a:buNone/>
            </a:pPr>
            <a:r>
              <a:rPr lang="en-US" sz="1000" b="1" kern="0" spc="100" dirty="0">
                <a:solidFill>
                  <a:srgbClr val="9DB5AE"/>
                </a:solidFill>
              </a:rPr>
              <a:t>MUNDLAK (ROBUST)</a:t>
            </a:r>
            <a:endParaRPr lang="en-US" sz="1000" dirty="0"/>
          </a:p>
        </p:txBody>
      </p:sp>
      <p:sp>
        <p:nvSpPr>
          <p:cNvPr id="10" name="Text 8"/>
          <p:cNvSpPr txBox="1"/>
          <p:nvPr/>
        </p:nvSpPr>
        <p:spPr>
          <a:xfrm>
            <a:off x="2697480" y="1572768"/>
            <a:ext cx="1554480" cy="640080"/>
          </a:xfrm>
          <a:prstGeom prst="rect">
            <a:avLst/>
          </a:prstGeom>
          <a:noFill/>
          <a:ln/>
        </p:spPr>
        <p:txBody>
          <a:bodyPr wrap="square" lIns="0" tIns="0" rIns="0" bIns="0" rtlCol="0" anchor="ctr"/>
          <a:lstStyle/>
          <a:p>
            <a:pPr marL="0" indent="0">
              <a:buNone/>
            </a:pPr>
            <a:r>
              <a:rPr lang="en-US" sz="3400" b="1" dirty="0">
                <a:solidFill>
                  <a:srgbClr val="F5B83D"/>
                </a:solidFill>
                <a:latin typeface="Cambria" pitchFamily="34" charset="0"/>
                <a:ea typeface="Cambria" pitchFamily="34" charset="-122"/>
                <a:cs typeface="Cambria" pitchFamily="34" charset="-120"/>
              </a:rPr>
              <a:t>p = .055</a:t>
            </a:r>
            <a:endParaRPr lang="en-US" sz="3400" dirty="0"/>
          </a:p>
        </p:txBody>
      </p:sp>
      <p:sp>
        <p:nvSpPr>
          <p:cNvPr id="11" name="Text 9"/>
          <p:cNvSpPr txBox="1"/>
          <p:nvPr/>
        </p:nvSpPr>
        <p:spPr>
          <a:xfrm>
            <a:off x="2697480" y="2212848"/>
            <a:ext cx="1554480" cy="457200"/>
          </a:xfrm>
          <a:prstGeom prst="rect">
            <a:avLst/>
          </a:prstGeom>
          <a:noFill/>
          <a:ln/>
        </p:spPr>
        <p:txBody>
          <a:bodyPr wrap="square" lIns="0" tIns="0" rIns="0" bIns="0" rtlCol="0" anchor="t"/>
          <a:lstStyle/>
          <a:p>
            <a:pPr marL="0" indent="0">
              <a:buNone/>
            </a:pPr>
            <a:r>
              <a:rPr lang="en-US" sz="1100" dirty="0">
                <a:solidFill>
                  <a:srgbClr val="9DB5AE"/>
                </a:solidFill>
              </a:rPr>
              <a:t>Borderline evidence against RE</a:t>
            </a:r>
            <a:endParaRPr lang="en-US" sz="1100" dirty="0"/>
          </a:p>
        </p:txBody>
      </p:sp>
      <p:sp>
        <p:nvSpPr>
          <p:cNvPr id="12" name="kpi card"/>
          <p:cNvSpPr/>
          <p:nvPr/>
        </p:nvSpPr>
        <p:spPr>
          <a:xfrm>
            <a:off x="4572000" y="1188720"/>
            <a:ext cx="1920240" cy="1554480"/>
          </a:xfrm>
          <a:prstGeom prst="roundRect">
            <a:avLst>
              <a:gd name="adj" fmla="val 4706"/>
            </a:avLst>
          </a:prstGeom>
          <a:solidFill>
            <a:srgbClr val="172B27"/>
          </a:solidFill>
          <a:ln w="9525">
            <a:solidFill>
              <a:srgbClr val="2A4540"/>
            </a:solidFill>
            <a:prstDash val="solid"/>
          </a:ln>
        </p:spPr>
      </p:sp>
      <p:sp>
        <p:nvSpPr>
          <p:cNvPr id="13" name="Text 11"/>
          <p:cNvSpPr txBox="1"/>
          <p:nvPr/>
        </p:nvSpPr>
        <p:spPr>
          <a:xfrm>
            <a:off x="4754880" y="1325880"/>
            <a:ext cx="1554480" cy="228600"/>
          </a:xfrm>
          <a:prstGeom prst="rect">
            <a:avLst/>
          </a:prstGeom>
          <a:noFill/>
          <a:ln/>
        </p:spPr>
        <p:txBody>
          <a:bodyPr wrap="square" lIns="0" tIns="0" rIns="0" bIns="0" rtlCol="0" anchor="ctr"/>
          <a:lstStyle/>
          <a:p>
            <a:pPr marL="0" indent="0">
              <a:buNone/>
            </a:pPr>
            <a:r>
              <a:rPr lang="en-US" sz="1000" b="1" kern="0" spc="100" dirty="0">
                <a:solidFill>
                  <a:srgbClr val="9DB5AE"/>
                </a:solidFill>
              </a:rPr>
              <a:t>FE VS POOLED</a:t>
            </a:r>
            <a:endParaRPr lang="en-US" sz="1000" dirty="0"/>
          </a:p>
        </p:txBody>
      </p:sp>
      <p:sp>
        <p:nvSpPr>
          <p:cNvPr id="14" name="Text 12"/>
          <p:cNvSpPr txBox="1"/>
          <p:nvPr/>
        </p:nvSpPr>
        <p:spPr>
          <a:xfrm>
            <a:off x="4754880" y="1572768"/>
            <a:ext cx="1554480" cy="640080"/>
          </a:xfrm>
          <a:prstGeom prst="rect">
            <a:avLst/>
          </a:prstGeom>
          <a:noFill/>
          <a:ln/>
        </p:spPr>
        <p:txBody>
          <a:bodyPr wrap="square" lIns="0" tIns="0" rIns="0" bIns="0" rtlCol="0" anchor="ctr"/>
          <a:lstStyle/>
          <a:p>
            <a:pPr marL="0" indent="0">
              <a:buNone/>
            </a:pPr>
            <a:r>
              <a:rPr lang="en-US" sz="3400" b="1" dirty="0">
                <a:solidFill>
                  <a:srgbClr val="2DD4A7"/>
                </a:solidFill>
                <a:latin typeface="Cambria" pitchFamily="34" charset="0"/>
                <a:ea typeface="Cambria" pitchFamily="34" charset="-122"/>
                <a:cs typeface="Cambria" pitchFamily="34" charset="-120"/>
              </a:rPr>
              <a:t>p &lt; .001</a:t>
            </a:r>
            <a:endParaRPr lang="en-US" sz="3400" dirty="0"/>
          </a:p>
        </p:txBody>
      </p:sp>
      <p:sp>
        <p:nvSpPr>
          <p:cNvPr id="15" name="Text 13"/>
          <p:cNvSpPr txBox="1"/>
          <p:nvPr/>
        </p:nvSpPr>
        <p:spPr>
          <a:xfrm>
            <a:off x="4754880" y="2212848"/>
            <a:ext cx="1554480" cy="457200"/>
          </a:xfrm>
          <a:prstGeom prst="rect">
            <a:avLst/>
          </a:prstGeom>
          <a:noFill/>
          <a:ln/>
        </p:spPr>
        <p:txBody>
          <a:bodyPr wrap="square" lIns="0" tIns="0" rIns="0" bIns="0" rtlCol="0" anchor="t"/>
          <a:lstStyle/>
          <a:p>
            <a:pPr marL="0" indent="0">
              <a:buNone/>
            </a:pPr>
            <a:r>
              <a:rPr lang="en-US" sz="1100" dirty="0">
                <a:solidFill>
                  <a:srgbClr val="9DB5AE"/>
                </a:solidFill>
              </a:rPr>
              <a:t>F(27,261) = 898.0</a:t>
            </a:r>
            <a:endParaRPr lang="en-US" sz="1100" dirty="0"/>
          </a:p>
        </p:txBody>
      </p:sp>
      <p:sp>
        <p:nvSpPr>
          <p:cNvPr id="16" name="kpi card"/>
          <p:cNvSpPr/>
          <p:nvPr/>
        </p:nvSpPr>
        <p:spPr>
          <a:xfrm>
            <a:off x="6629400" y="1188720"/>
            <a:ext cx="2057400" cy="1554480"/>
          </a:xfrm>
          <a:prstGeom prst="roundRect">
            <a:avLst>
              <a:gd name="adj" fmla="val 4706"/>
            </a:avLst>
          </a:prstGeom>
          <a:solidFill>
            <a:srgbClr val="172B27"/>
          </a:solidFill>
          <a:ln w="9525">
            <a:solidFill>
              <a:srgbClr val="2A4540"/>
            </a:solidFill>
            <a:prstDash val="solid"/>
          </a:ln>
        </p:spPr>
      </p:sp>
      <p:sp>
        <p:nvSpPr>
          <p:cNvPr id="17" name="Text 15"/>
          <p:cNvSpPr txBox="1"/>
          <p:nvPr/>
        </p:nvSpPr>
        <p:spPr>
          <a:xfrm>
            <a:off x="6812280" y="1325880"/>
            <a:ext cx="1691640" cy="228600"/>
          </a:xfrm>
          <a:prstGeom prst="rect">
            <a:avLst/>
          </a:prstGeom>
          <a:noFill/>
          <a:ln/>
        </p:spPr>
        <p:txBody>
          <a:bodyPr wrap="square" lIns="0" tIns="0" rIns="0" bIns="0" rtlCol="0" anchor="ctr"/>
          <a:lstStyle/>
          <a:p>
            <a:pPr marL="0" indent="0">
              <a:buNone/>
            </a:pPr>
            <a:r>
              <a:rPr lang="en-US" sz="1000" b="1" kern="0" spc="100" dirty="0">
                <a:solidFill>
                  <a:srgbClr val="9DB5AE"/>
                </a:solidFill>
              </a:rPr>
              <a:t>RE VS POOLED</a:t>
            </a:r>
            <a:endParaRPr lang="en-US" sz="1000" dirty="0"/>
          </a:p>
        </p:txBody>
      </p:sp>
      <p:sp>
        <p:nvSpPr>
          <p:cNvPr id="18" name="Text 16"/>
          <p:cNvSpPr txBox="1"/>
          <p:nvPr/>
        </p:nvSpPr>
        <p:spPr>
          <a:xfrm>
            <a:off x="6812280" y="1572768"/>
            <a:ext cx="1691640" cy="640080"/>
          </a:xfrm>
          <a:prstGeom prst="rect">
            <a:avLst/>
          </a:prstGeom>
          <a:noFill/>
          <a:ln/>
        </p:spPr>
        <p:txBody>
          <a:bodyPr wrap="square" lIns="0" tIns="0" rIns="0" bIns="0" rtlCol="0" anchor="ctr"/>
          <a:lstStyle/>
          <a:p>
            <a:pPr marL="0" indent="0">
              <a:buNone/>
            </a:pPr>
            <a:r>
              <a:rPr lang="en-US" sz="3400" b="1" dirty="0">
                <a:solidFill>
                  <a:srgbClr val="2DD4A7"/>
                </a:solidFill>
                <a:latin typeface="Cambria" pitchFamily="34" charset="0"/>
                <a:ea typeface="Cambria" pitchFamily="34" charset="-122"/>
                <a:cs typeface="Cambria" pitchFamily="34" charset="-120"/>
              </a:rPr>
              <a:t>p &lt; .001</a:t>
            </a:r>
            <a:endParaRPr lang="en-US" sz="3400" dirty="0"/>
          </a:p>
        </p:txBody>
      </p:sp>
      <p:sp>
        <p:nvSpPr>
          <p:cNvPr id="19" name="Text 17"/>
          <p:cNvSpPr txBox="1"/>
          <p:nvPr/>
        </p:nvSpPr>
        <p:spPr>
          <a:xfrm>
            <a:off x="6812280" y="2212848"/>
            <a:ext cx="1691640" cy="457200"/>
          </a:xfrm>
          <a:prstGeom prst="rect">
            <a:avLst/>
          </a:prstGeom>
          <a:noFill/>
          <a:ln/>
        </p:spPr>
        <p:txBody>
          <a:bodyPr wrap="square" lIns="0" tIns="0" rIns="0" bIns="0" rtlCol="0" anchor="t"/>
          <a:lstStyle/>
          <a:p>
            <a:pPr marL="0" indent="0">
              <a:buNone/>
            </a:pPr>
            <a:r>
              <a:rPr lang="en-US" sz="1100" dirty="0">
                <a:solidFill>
                  <a:srgbClr val="9DB5AE"/>
                </a:solidFill>
              </a:rPr>
              <a:t>Breusch-Pagan LM = 1282</a:t>
            </a:r>
            <a:endParaRPr lang="en-US" sz="1100" dirty="0"/>
          </a:p>
        </p:txBody>
      </p:sp>
      <p:sp>
        <p:nvSpPr>
          <p:cNvPr id="20" name="sel card"/>
          <p:cNvSpPr/>
          <p:nvPr/>
        </p:nvSpPr>
        <p:spPr>
          <a:xfrm>
            <a:off x="457200" y="2926080"/>
            <a:ext cx="8229600" cy="1737360"/>
          </a:xfrm>
          <a:prstGeom prst="roundRect">
            <a:avLst>
              <a:gd name="adj" fmla="val 4211"/>
            </a:avLst>
          </a:prstGeom>
          <a:solidFill>
            <a:srgbClr val="172B27"/>
          </a:solidFill>
          <a:ln w="9525">
            <a:solidFill>
              <a:srgbClr val="2A4540"/>
            </a:solidFill>
            <a:prstDash val="solid"/>
          </a:ln>
        </p:spPr>
      </p:sp>
      <p:sp>
        <p:nvSpPr>
          <p:cNvPr id="21" name="Text 19"/>
          <p:cNvSpPr txBox="1"/>
          <p:nvPr/>
        </p:nvSpPr>
        <p:spPr>
          <a:xfrm>
            <a:off x="685800" y="3063240"/>
            <a:ext cx="7772400" cy="15544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F4F1EA"/>
                </a:solidFill>
              </a:rPr>
              <a:t>State effects matter: pooled OLS is rejected in every specification.</a:t>
            </a:r>
            <a:endParaRPr lang="en-US" sz="1300" dirty="0"/>
          </a:p>
          <a:p>
            <a:pPr marL="342900" indent="-342900">
              <a:spcAft>
                <a:spcPts val="700"/>
              </a:spcAft>
              <a:buSzPct val="100000"/>
              <a:buChar char="•"/>
            </a:pPr>
            <a:r>
              <a:rPr lang="en-US" sz="1300" dirty="0">
                <a:solidFill>
                  <a:srgbClr val="F4F1EA"/>
                </a:solidFill>
              </a:rPr>
              <a:t>FE and RE give almost identical revenue estimates (-1.229 vs -1.223); average RE theta is 0.97.</a:t>
            </a:r>
            <a:endParaRPr lang="en-US" sz="1300" dirty="0"/>
          </a:p>
          <a:p>
            <a:pPr marL="342900" indent="-342900">
              <a:spcAft>
                <a:spcPts val="700"/>
              </a:spcAft>
              <a:buSzPct val="100000"/>
              <a:buChar char="•"/>
            </a:pPr>
            <a:r>
              <a:rPr lang="en-US" sz="1300" dirty="0">
                <a:solidFill>
                  <a:srgbClr val="F4F1EA"/>
                </a:solidFill>
              </a:rPr>
              <a:t>Mundlak is the decision test because standard errors are clustered; random effects is reported as the main estimator.</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marL="0" indent="0">
              <a:buNone/>
            </a:pPr>
            <a:r>
              <a:rPr lang="en-US" sz="2400" b="1" dirty="0">
                <a:solidFill>
                  <a:srgbClr val="F4F1EA"/>
                </a:solidFill>
                <a:latin typeface="Cambria" pitchFamily="34" charset="0"/>
                <a:ea typeface="Cambria" pitchFamily="34" charset="-122"/>
                <a:cs typeface="Cambria" pitchFamily="34" charset="-120"/>
              </a:rPr>
              <a:t>Hypothesis tests</a:t>
            </a:r>
            <a:endParaRPr lang="en-US" sz="2400" dirty="0"/>
          </a:p>
        </p:txBody>
      </p:sp>
      <p:sp>
        <p:nvSpPr>
          <p:cNvPr id="3" name="Text 1"/>
          <p:cNvSpPr txBox="1"/>
          <p:nvPr/>
        </p:nvSpPr>
        <p:spPr>
          <a:xfrm>
            <a:off x="457200" y="777240"/>
            <a:ext cx="8229600" cy="274320"/>
          </a:xfrm>
          <a:prstGeom prst="rect">
            <a:avLst/>
          </a:prstGeom>
          <a:noFill/>
          <a:ln/>
        </p:spPr>
        <p:txBody>
          <a:bodyPr wrap="square" lIns="0" tIns="0" rIns="0" bIns="0" rtlCol="0" anchor="ctr"/>
          <a:lstStyle/>
          <a:p>
            <a:pPr marL="0" indent="0">
              <a:buNone/>
            </a:pPr>
            <a:r>
              <a:rPr lang="en-US" sz="1300" dirty="0">
                <a:solidFill>
                  <a:srgbClr val="9DB5AE"/>
                </a:solidFill>
              </a:rPr>
              <a:t>Spec B results and how many of six robustness variants agree</a:t>
            </a:r>
            <a:endParaRPr lang="en-US" sz="1300" dirty="0"/>
          </a:p>
        </p:txBody>
      </p:sp>
      <p:graphicFrame>
        <p:nvGraphicFramePr>
          <p:cNvPr id="22" name="hypothesis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743200"/>
        </p:xfrm>
        <a:graphic>
          <a:graphicData uri="http://schemas.openxmlformats.org/drawingml/2006/table">
            <a:tbl>
              <a:tblPr/>
              <a:tblGrid>
                <a:gridCol w="5486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457200">
                <a:tc>
                  <a:txBody>
                    <a:bodyPr/>
                    <a:lstStyle/>
                    <a:p>
                      <a:pPr marL="0" indent="0">
                        <a:buNone/>
                      </a:pPr>
                      <a:r>
                        <a:rPr lang="en-US" sz="1100" b="1" dirty="0">
                          <a:solidFill>
                            <a:srgbClr val="0F1C1A"/>
                          </a:solidFill>
                        </a:rPr>
                        <a:t>#</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2DD4A7"/>
                    </a:solidFill>
                  </a:tcPr>
                </a:tc>
                <a:tc>
                  <a:txBody>
                    <a:bodyPr/>
                    <a:lstStyle/>
                    <a:p>
                      <a:pPr marL="0" indent="0">
                        <a:buNone/>
                      </a:pPr>
                      <a:r>
                        <a:rPr lang="en-US" sz="1100" b="1" dirty="0">
                          <a:solidFill>
                            <a:srgbClr val="0F1C1A"/>
                          </a:solidFill>
                        </a:rPr>
                        <a:t>Hypothesis</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2DD4A7"/>
                    </a:solidFill>
                  </a:tcPr>
                </a:tc>
                <a:tc>
                  <a:txBody>
                    <a:bodyPr/>
                    <a:lstStyle/>
                    <a:p>
                      <a:pPr marL="0" indent="0">
                        <a:buNone/>
                      </a:pPr>
                      <a:r>
                        <a:rPr lang="en-US" sz="1100" b="1" dirty="0">
                          <a:solidFill>
                            <a:srgbClr val="0F1C1A"/>
                          </a:solidFill>
                        </a:rPr>
                        <a:t>Coef.</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2DD4A7"/>
                    </a:solidFill>
                  </a:tcPr>
                </a:tc>
                <a:tc>
                  <a:txBody>
                    <a:bodyPr/>
                    <a:lstStyle/>
                    <a:p>
                      <a:pPr marL="0" indent="0">
                        <a:buNone/>
                      </a:pPr>
                      <a:r>
                        <a:rPr lang="en-US" sz="1100" b="1" dirty="0">
                          <a:solidFill>
                            <a:srgbClr val="0F1C1A"/>
                          </a:solidFill>
                        </a:rPr>
                        <a:t>Result</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2DD4A7"/>
                    </a:solidFill>
                  </a:tcPr>
                </a:tc>
                <a:tc>
                  <a:txBody>
                    <a:bodyPr/>
                    <a:lstStyle/>
                    <a:p>
                      <a:pPr marL="0" indent="0">
                        <a:buNone/>
                      </a:pPr>
                      <a:r>
                        <a:rPr lang="en-US" sz="1100" b="1" dirty="0">
                          <a:solidFill>
                            <a:srgbClr val="0F1C1A"/>
                          </a:solidFill>
                        </a:rPr>
                        <a:t>Checks agree</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2DD4A7"/>
                    </a:solidFill>
                  </a:tcPr>
                </a:tc>
                <a:extLst>
                  <a:ext uri="{0D108BD9-81ED-4DB2-BD59-A6C34878D82A}">
                    <a16:rowId xmlns:a16="http://schemas.microsoft.com/office/drawing/2014/main" val="10000"/>
                  </a:ext>
                </a:extLst>
              </a:tr>
              <a:tr h="457200">
                <a:tc>
                  <a:txBody>
                    <a:bodyPr/>
                    <a:lstStyle/>
                    <a:p>
                      <a:pPr marL="0" indent="0">
                        <a:buNone/>
                      </a:pPr>
                      <a:r>
                        <a:rPr lang="en-US" sz="1100" b="1" dirty="0">
                          <a:solidFill>
                            <a:srgbClr val="F5B83D"/>
                          </a:solidFill>
                        </a:rPr>
                        <a:t>H1</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Social spending raises income (+)</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-1.154</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b="1" dirty="0">
                          <a:solidFill>
                            <a:srgbClr val="F2665B"/>
                          </a:solidFill>
                        </a:rPr>
                        <a:t>Not significant</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6 / 6</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1"/>
                  </a:ext>
                </a:extLst>
              </a:tr>
              <a:tr h="457200">
                <a:tc>
                  <a:txBody>
                    <a:bodyPr/>
                    <a:lstStyle/>
                    <a:p>
                      <a:pPr marL="0" indent="0">
                        <a:buNone/>
                      </a:pPr>
                      <a:r>
                        <a:rPr lang="en-US" sz="1100" b="1" dirty="0">
                          <a:solidFill>
                            <a:srgbClr val="F5B83D"/>
                          </a:solidFill>
                        </a:rPr>
                        <a:t>H2</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Capital spending raises income (+)</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0.153</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b="1" dirty="0">
                          <a:solidFill>
                            <a:srgbClr val="F2665B"/>
                          </a:solidFill>
                        </a:rPr>
                        <a:t>Not significant</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6 / 6</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2"/>
                  </a:ext>
                </a:extLst>
              </a:tr>
              <a:tr h="457200">
                <a:tc>
                  <a:txBody>
                    <a:bodyPr/>
                    <a:lstStyle/>
                    <a:p>
                      <a:pPr marL="0" indent="0">
                        <a:buNone/>
                      </a:pPr>
                      <a:r>
                        <a:rPr lang="en-US" sz="1100" b="1" dirty="0">
                          <a:solidFill>
                            <a:srgbClr val="F5B83D"/>
                          </a:solidFill>
                        </a:rPr>
                        <a:t>H3</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Revenue spending is significant</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-1.223***</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b="1" dirty="0">
                          <a:solidFill>
                            <a:srgbClr val="2DD4A7"/>
                          </a:solidFill>
                        </a:rPr>
                        <a:t>Supported (-)</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6 / 6</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3"/>
                  </a:ext>
                </a:extLst>
              </a:tr>
              <a:tr h="457200">
                <a:tc>
                  <a:txBody>
                    <a:bodyPr/>
                    <a:lstStyle/>
                    <a:p>
                      <a:pPr marL="0" indent="0">
                        <a:buNone/>
                      </a:pPr>
                      <a:r>
                        <a:rPr lang="en-US" sz="1100" b="1" dirty="0">
                          <a:solidFill>
                            <a:srgbClr val="F5B83D"/>
                          </a:solidFill>
                        </a:rPr>
                        <a:t>H4</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Fiscal deficit is significant</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0.412</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b="1" dirty="0">
                          <a:solidFill>
                            <a:srgbClr val="F2665B"/>
                          </a:solidFill>
                        </a:rPr>
                        <a:t>Not significant</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5 / 6</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4"/>
                  </a:ext>
                </a:extLst>
              </a:tr>
              <a:tr h="457200">
                <a:tc>
                  <a:txBody>
                    <a:bodyPr/>
                    <a:lstStyle/>
                    <a:p>
                      <a:pPr marL="0" indent="0">
                        <a:buNone/>
                      </a:pPr>
                      <a:r>
                        <a:rPr lang="en-US" sz="1100" b="1" dirty="0">
                          <a:solidFill>
                            <a:srgbClr val="F5B83D"/>
                          </a:solidFill>
                        </a:rPr>
                        <a:t>H5</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Liabilities are significant</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0.028*</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b="1" dirty="0">
                          <a:solidFill>
                            <a:srgbClr val="F2665B"/>
                          </a:solidFill>
                        </a:rPr>
                        <a:t>Not significant</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5 / 6</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5"/>
                  </a:ext>
                </a:extLst>
              </a:tr>
            </a:tbl>
          </a:graphicData>
        </a:graphic>
      </p:graphicFrame>
      <p:sp>
        <p:nvSpPr>
          <p:cNvPr id="5" name="alt card"/>
          <p:cNvSpPr/>
          <p:nvPr/>
        </p:nvSpPr>
        <p:spPr>
          <a:xfrm>
            <a:off x="457200" y="3886200"/>
            <a:ext cx="8229600" cy="777240"/>
          </a:xfrm>
          <a:prstGeom prst="roundRect">
            <a:avLst>
              <a:gd name="adj" fmla="val 9412"/>
            </a:avLst>
          </a:prstGeom>
          <a:solidFill>
            <a:srgbClr val="172B27"/>
          </a:solidFill>
          <a:ln w="9525">
            <a:solidFill>
              <a:srgbClr val="2A4540"/>
            </a:solidFill>
            <a:prstDash val="solid"/>
          </a:ln>
        </p:spPr>
      </p:sp>
      <p:sp>
        <p:nvSpPr>
          <p:cNvPr id="6" name="Text 3"/>
          <p:cNvSpPr txBox="1"/>
          <p:nvPr/>
        </p:nvSpPr>
        <p:spPr>
          <a:xfrm>
            <a:off x="640080" y="3931920"/>
            <a:ext cx="7863840" cy="685800"/>
          </a:xfrm>
          <a:prstGeom prst="rect">
            <a:avLst/>
          </a:prstGeom>
          <a:noFill/>
          <a:ln/>
        </p:spPr>
        <p:txBody>
          <a:bodyPr wrap="square" lIns="0" tIns="0" rIns="0" bIns="0" rtlCol="0" anchor="ctr"/>
          <a:lstStyle/>
          <a:p>
            <a:pPr marL="0" indent="0">
              <a:buNone/>
            </a:pPr>
            <a:r>
              <a:rPr lang="en-US" sz="1200" dirty="0">
                <a:solidFill>
                  <a:srgbClr val="F4F1EA"/>
                </a:solidFill>
              </a:rPr>
              <a:t>Other specifications: capital share of total spending is supported in Spec D (0.292, p = .027, 5 / 6) and ln liabilities in Spec E (0.014, p = .009, 5 / 6).</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marL="0" indent="0">
              <a:buNone/>
            </a:pPr>
            <a:r>
              <a:rPr lang="en-US" sz="2400" b="1" dirty="0">
                <a:solidFill>
                  <a:srgbClr val="F4F1EA"/>
                </a:solidFill>
                <a:latin typeface="Cambria" pitchFamily="34" charset="0"/>
                <a:ea typeface="Cambria" pitchFamily="34" charset="-122"/>
                <a:cs typeface="Cambria" pitchFamily="34" charset="-120"/>
              </a:rPr>
              <a:t>Robustness checks</a:t>
            </a:r>
            <a:endParaRPr lang="en-US" sz="2400" dirty="0"/>
          </a:p>
        </p:txBody>
      </p:sp>
      <p:sp>
        <p:nvSpPr>
          <p:cNvPr id="3" name="Text 1"/>
          <p:cNvSpPr txBox="1"/>
          <p:nvPr/>
        </p:nvSpPr>
        <p:spPr>
          <a:xfrm>
            <a:off x="457200" y="777240"/>
            <a:ext cx="8229600" cy="274320"/>
          </a:xfrm>
          <a:prstGeom prst="rect">
            <a:avLst/>
          </a:prstGeom>
          <a:noFill/>
          <a:ln/>
        </p:spPr>
        <p:txBody>
          <a:bodyPr wrap="square" lIns="0" tIns="0" rIns="0" bIns="0" rtlCol="0" anchor="ctr"/>
          <a:lstStyle/>
          <a:p>
            <a:pPr marL="0" indent="0">
              <a:buNone/>
            </a:pPr>
            <a:r>
              <a:rPr lang="en-US" sz="1300" dirty="0">
                <a:solidFill>
                  <a:srgbClr val="9DB5AE"/>
                </a:solidFill>
              </a:rPr>
              <a:t>The revenue coefficient stays negative and significant in all six variants</a:t>
            </a:r>
            <a:endParaRPr lang="en-US" sz="1300" dirty="0"/>
          </a:p>
        </p:txBody>
      </p:sp>
      <p:sp>
        <p:nvSpPr>
          <p:cNvPr id="4" name="fig card"/>
          <p:cNvSpPr/>
          <p:nvPr/>
        </p:nvSpPr>
        <p:spPr>
          <a:xfrm>
            <a:off x="457200" y="1188720"/>
            <a:ext cx="5303520" cy="3474720"/>
          </a:xfrm>
          <a:prstGeom prst="roundRect">
            <a:avLst>
              <a:gd name="adj" fmla="val 2105"/>
            </a:avLst>
          </a:prstGeom>
          <a:solidFill>
            <a:srgbClr val="172B27"/>
          </a:solidFill>
          <a:ln w="9525">
            <a:solidFill>
              <a:srgbClr val="2A4540"/>
            </a:solidFill>
            <a:prstDash val="solid"/>
          </a:ln>
        </p:spPr>
      </p:sp>
      <p:pic>
        <p:nvPicPr>
          <p:cNvPr id="5" name="Image 0" descr="robust forest png"/>
          <p:cNvPicPr>
            <a:picLocks noChangeAspect="1"/>
          </p:cNvPicPr>
          <p:nvPr/>
        </p:nvPicPr>
        <p:blipFill>
          <a:blip r:embed="rId3"/>
          <a:stretch>
            <a:fillRect/>
          </a:stretch>
        </p:blipFill>
        <p:spPr>
          <a:xfrm>
            <a:off x="548640" y="1674109"/>
            <a:ext cx="5120640" cy="2503942"/>
          </a:xfrm>
          <a:prstGeom prst="rect">
            <a:avLst/>
          </a:prstGeom>
        </p:spPr>
      </p:pic>
      <p:sp>
        <p:nvSpPr>
          <p:cNvPr id="6" name="var card"/>
          <p:cNvSpPr/>
          <p:nvPr/>
        </p:nvSpPr>
        <p:spPr>
          <a:xfrm>
            <a:off x="5943600" y="1188720"/>
            <a:ext cx="2743200" cy="3474720"/>
          </a:xfrm>
          <a:prstGeom prst="roundRect">
            <a:avLst>
              <a:gd name="adj" fmla="val 2667"/>
            </a:avLst>
          </a:prstGeom>
          <a:solidFill>
            <a:srgbClr val="172B27"/>
          </a:solidFill>
          <a:ln w="9525">
            <a:solidFill>
              <a:srgbClr val="2A4540"/>
            </a:solidFill>
            <a:prstDash val="solid"/>
          </a:ln>
        </p:spPr>
      </p:sp>
      <p:sp>
        <p:nvSpPr>
          <p:cNvPr id="7" name="Text 4"/>
          <p:cNvSpPr txBox="1"/>
          <p:nvPr/>
        </p:nvSpPr>
        <p:spPr>
          <a:xfrm>
            <a:off x="6126480" y="1325880"/>
            <a:ext cx="2377440" cy="228600"/>
          </a:xfrm>
          <a:prstGeom prst="rect">
            <a:avLst/>
          </a:prstGeom>
          <a:noFill/>
          <a:ln/>
        </p:spPr>
        <p:txBody>
          <a:bodyPr wrap="square" lIns="0" tIns="0" rIns="0" bIns="0" rtlCol="0" anchor="ctr"/>
          <a:lstStyle/>
          <a:p>
            <a:pPr marL="0" indent="0">
              <a:buNone/>
            </a:pPr>
            <a:r>
              <a:rPr lang="en-US" sz="1000" b="1" kern="0" spc="100" dirty="0">
                <a:solidFill>
                  <a:srgbClr val="9DB5AE"/>
                </a:solidFill>
              </a:rPr>
              <a:t>VARIANTS</a:t>
            </a:r>
            <a:endParaRPr lang="en-US" sz="1000" dirty="0"/>
          </a:p>
        </p:txBody>
      </p:sp>
      <p:sp>
        <p:nvSpPr>
          <p:cNvPr id="8" name="Text 5"/>
          <p:cNvSpPr txBox="1"/>
          <p:nvPr/>
        </p:nvSpPr>
        <p:spPr>
          <a:xfrm>
            <a:off x="6126480" y="1645920"/>
            <a:ext cx="2468880" cy="292608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F4F1EA"/>
                </a:solidFill>
              </a:rPr>
              <a:t>Winsorised 1% / 99%</a:t>
            </a:r>
            <a:endParaRPr lang="en-US" sz="1200" dirty="0"/>
          </a:p>
          <a:p>
            <a:pPr marL="342900" indent="-342900">
              <a:spcAft>
                <a:spcPts val="700"/>
              </a:spcAft>
              <a:buSzPct val="100000"/>
              <a:buChar char="•"/>
            </a:pPr>
            <a:r>
              <a:rPr lang="en-US" sz="1200" dirty="0">
                <a:solidFill>
                  <a:srgbClr val="F4F1EA"/>
                </a:solidFill>
              </a:rPr>
              <a:t>Drop 7 NE states</a:t>
            </a:r>
            <a:endParaRPr lang="en-US" sz="1200" dirty="0"/>
          </a:p>
          <a:p>
            <a:pPr marL="342900" indent="-342900">
              <a:spcAft>
                <a:spcPts val="700"/>
              </a:spcAft>
              <a:buSzPct val="100000"/>
              <a:buChar char="•"/>
            </a:pPr>
            <a:r>
              <a:rPr lang="en-US" sz="1200" dirty="0">
                <a:solidFill>
                  <a:srgbClr val="F4F1EA"/>
                </a:solidFill>
              </a:rPr>
              <a:t>Drop 11 special-category</a:t>
            </a:r>
            <a:endParaRPr lang="en-US" sz="1200" dirty="0"/>
          </a:p>
          <a:p>
            <a:pPr marL="342900" indent="-342900">
              <a:spcAft>
                <a:spcPts val="700"/>
              </a:spcAft>
              <a:buSzPct val="100000"/>
              <a:buChar char="•"/>
            </a:pPr>
            <a:r>
              <a:rPr lang="en-US" sz="1200" dirty="0">
                <a:solidFill>
                  <a:srgbClr val="F4F1EA"/>
                </a:solidFill>
              </a:rPr>
              <a:t>Post-split dummy</a:t>
            </a:r>
            <a:endParaRPr lang="en-US" sz="1200" dirty="0"/>
          </a:p>
          <a:p>
            <a:pPr marL="342900" indent="-342900">
              <a:spcAft>
                <a:spcPts val="700"/>
              </a:spcAft>
              <a:buSzPct val="100000"/>
              <a:buChar char="•"/>
            </a:pPr>
            <a:r>
              <a:rPr lang="en-US" sz="1200" dirty="0">
                <a:solidFill>
                  <a:srgbClr val="F4F1EA"/>
                </a:solidFill>
              </a:rPr>
              <a:t>Lagged regressors</a:t>
            </a:r>
            <a:endParaRPr lang="en-US" sz="1200" dirty="0"/>
          </a:p>
          <a:p>
            <a:pPr marL="342900" indent="-342900">
              <a:spcAft>
                <a:spcPts val="700"/>
              </a:spcAft>
              <a:buSzPct val="100000"/>
              <a:buChar char="•"/>
            </a:pPr>
            <a:r>
              <a:rPr lang="en-US" sz="1200" dirty="0">
                <a:solidFill>
                  <a:srgbClr val="F4F1EA"/>
                </a:solidFill>
              </a:rPr>
              <a:t>Exclude 2020-21</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 number"/>
          <p:cNvSpPr txBox="1"/>
          <p:nvPr/>
        </p:nvSpPr>
        <p:spPr>
          <a:xfrm>
            <a:off x="548640" y="1325880"/>
            <a:ext cx="2743200" cy="822960"/>
          </a:xfrm>
          <a:prstGeom prst="rect">
            <a:avLst/>
          </a:prstGeom>
          <a:noFill/>
        </p:spPr>
        <p:txBody>
          <a:bodyPr wrap="square" lIns="0" tIns="0" rIns="0" bIns="0" anchor="t">
            <a:spAutoFit/>
          </a:bodyPr>
          <a:lstStyle/>
          <a:p>
            <a:pPr algn="l"/>
            <a:r>
              <a:rPr sz="5400" b="1" i="0">
                <a:solidFill>
                  <a:srgbClr val="2DD4A7"/>
                </a:solidFill>
                <a:latin typeface="Cambria"/>
              </a:rPr>
              <a:t>04</a:t>
            </a:r>
          </a:p>
        </p:txBody>
      </p:sp>
      <p:sp>
        <p:nvSpPr>
          <p:cNvPr id="3" name="Title"/>
          <p:cNvSpPr txBox="1"/>
          <p:nvPr/>
        </p:nvSpPr>
        <p:spPr>
          <a:xfrm>
            <a:off x="548640" y="2240280"/>
            <a:ext cx="7680960" cy="640080"/>
          </a:xfrm>
          <a:prstGeom prst="rect">
            <a:avLst/>
          </a:prstGeom>
          <a:noFill/>
        </p:spPr>
        <p:txBody>
          <a:bodyPr wrap="square" lIns="0" tIns="0" rIns="0" bIns="0" anchor="t">
            <a:spAutoFit/>
          </a:bodyPr>
          <a:lstStyle/>
          <a:p>
            <a:pPr algn="l"/>
            <a:r>
              <a:rPr sz="3400" b="1" i="0">
                <a:solidFill>
                  <a:srgbClr val="F4F1EA"/>
                </a:solidFill>
                <a:latin typeface="Cambria"/>
              </a:rPr>
              <a:t>Why the sign is negative</a:t>
            </a:r>
          </a:p>
        </p:txBody>
      </p:sp>
      <p:sp>
        <p:nvSpPr>
          <p:cNvPr id="4" name="Subtitle"/>
          <p:cNvSpPr txBox="1"/>
          <p:nvPr/>
        </p:nvSpPr>
        <p:spPr>
          <a:xfrm>
            <a:off x="548640" y="3017520"/>
            <a:ext cx="7132320" cy="548640"/>
          </a:xfrm>
          <a:prstGeom prst="rect">
            <a:avLst/>
          </a:prstGeom>
          <a:noFill/>
        </p:spPr>
        <p:txBody>
          <a:bodyPr wrap="square" lIns="0" tIns="0" rIns="0" bIns="0" anchor="t">
            <a:spAutoFit/>
          </a:bodyPr>
          <a:lstStyle/>
          <a:p>
            <a:pPr algn="l"/>
            <a:r>
              <a:rPr sz="1400" b="0" i="0">
                <a:solidFill>
                  <a:srgbClr val="9DB5AE"/>
                </a:solidFill>
              </a:rPr>
              <a:t>Objective 4: is the link driven by spending, or by GSDP growth?</a:t>
            </a:r>
          </a:p>
        </p:txBody>
      </p:sp>
      <p:sp>
        <p:nvSpPr>
          <p:cNvPr id="5" name="progress dot"/>
          <p:cNvSpPr/>
          <p:nvPr/>
        </p:nvSpPr>
        <p:spPr>
          <a:xfrm>
            <a:off x="548640" y="4343400"/>
            <a:ext cx="128016" cy="128016"/>
          </a:xfrm>
          <a:prstGeom prst="ellipse">
            <a:avLst/>
          </a:prstGeom>
          <a:solidFill>
            <a:srgbClr val="2A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rogress dot"/>
          <p:cNvSpPr/>
          <p:nvPr/>
        </p:nvSpPr>
        <p:spPr>
          <a:xfrm>
            <a:off x="804672" y="4343400"/>
            <a:ext cx="128016" cy="128016"/>
          </a:xfrm>
          <a:prstGeom prst="ellipse">
            <a:avLst/>
          </a:prstGeom>
          <a:solidFill>
            <a:srgbClr val="2A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rogress dot"/>
          <p:cNvSpPr/>
          <p:nvPr/>
        </p:nvSpPr>
        <p:spPr>
          <a:xfrm>
            <a:off x="1060704" y="4343400"/>
            <a:ext cx="128016" cy="128016"/>
          </a:xfrm>
          <a:prstGeom prst="ellipse">
            <a:avLst/>
          </a:prstGeom>
          <a:solidFill>
            <a:srgbClr val="2A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progress dot"/>
          <p:cNvSpPr/>
          <p:nvPr/>
        </p:nvSpPr>
        <p:spPr>
          <a:xfrm>
            <a:off x="1316736" y="4343400"/>
            <a:ext cx="128016" cy="128016"/>
          </a:xfrm>
          <a:prstGeom prst="ellipse">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progress dot"/>
          <p:cNvSpPr/>
          <p:nvPr/>
        </p:nvSpPr>
        <p:spPr>
          <a:xfrm>
            <a:off x="1572768" y="4343400"/>
            <a:ext cx="128016" cy="128016"/>
          </a:xfrm>
          <a:prstGeom prst="ellipse">
            <a:avLst/>
          </a:prstGeom>
          <a:solidFill>
            <a:srgbClr val="2A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marL="0" indent="0">
              <a:buNone/>
            </a:pPr>
            <a:r>
              <a:rPr lang="en-US" sz="2400" b="1" dirty="0">
                <a:solidFill>
                  <a:srgbClr val="F4F1EA"/>
                </a:solidFill>
                <a:latin typeface="Cambria" pitchFamily="34" charset="0"/>
                <a:ea typeface="Cambria" pitchFamily="34" charset="-122"/>
                <a:cs typeface="Cambria" pitchFamily="34" charset="-120"/>
              </a:rPr>
              <a:t>Extension: is the revenue result arithmetic?</a:t>
            </a:r>
            <a:endParaRPr lang="en-US" sz="2400" dirty="0"/>
          </a:p>
        </p:txBody>
      </p:sp>
      <p:sp>
        <p:nvSpPr>
          <p:cNvPr id="3" name="Text 1"/>
          <p:cNvSpPr txBox="1"/>
          <p:nvPr/>
        </p:nvSpPr>
        <p:spPr>
          <a:xfrm>
            <a:off x="457200" y="777240"/>
            <a:ext cx="8229600" cy="274320"/>
          </a:xfrm>
          <a:prstGeom prst="rect">
            <a:avLst/>
          </a:prstGeom>
          <a:noFill/>
          <a:ln/>
        </p:spPr>
        <p:txBody>
          <a:bodyPr wrap="square" lIns="0" tIns="0" rIns="0" bIns="0" rtlCol="0" anchor="ctr"/>
          <a:lstStyle/>
          <a:p>
            <a:pPr marL="0" indent="0">
              <a:buNone/>
            </a:pPr>
            <a:r>
              <a:rPr lang="en-US" sz="1300" dirty="0">
                <a:solidFill>
                  <a:srgbClr val="9DB5AE"/>
                </a:solidFill>
              </a:rPr>
              <a:t>Splitting the ratio into spending growth and GSDP growth</a:t>
            </a:r>
            <a:endParaRPr lang="en-US" sz="1300" dirty="0"/>
          </a:p>
        </p:txBody>
      </p:sp>
      <p:sp>
        <p:nvSpPr>
          <p:cNvPr id="4" name="kpi card"/>
          <p:cNvSpPr/>
          <p:nvPr/>
        </p:nvSpPr>
        <p:spPr>
          <a:xfrm>
            <a:off x="457200" y="1188720"/>
            <a:ext cx="2651760" cy="1463040"/>
          </a:xfrm>
          <a:prstGeom prst="roundRect">
            <a:avLst>
              <a:gd name="adj" fmla="val 5000"/>
            </a:avLst>
          </a:prstGeom>
          <a:solidFill>
            <a:srgbClr val="172B27"/>
          </a:solidFill>
          <a:ln w="9525">
            <a:solidFill>
              <a:srgbClr val="2A4540"/>
            </a:solidFill>
            <a:prstDash val="solid"/>
          </a:ln>
        </p:spPr>
      </p:sp>
      <p:sp>
        <p:nvSpPr>
          <p:cNvPr id="5" name="Text 3"/>
          <p:cNvSpPr txBox="1"/>
          <p:nvPr/>
        </p:nvSpPr>
        <p:spPr>
          <a:xfrm>
            <a:off x="640080" y="1325880"/>
            <a:ext cx="2286000" cy="228600"/>
          </a:xfrm>
          <a:prstGeom prst="rect">
            <a:avLst/>
          </a:prstGeom>
          <a:noFill/>
          <a:ln/>
        </p:spPr>
        <p:txBody>
          <a:bodyPr wrap="square" lIns="0" tIns="0" rIns="0" bIns="0" rtlCol="0" anchor="ctr"/>
          <a:lstStyle/>
          <a:p>
            <a:pPr marL="0" indent="0">
              <a:buNone/>
            </a:pPr>
            <a:r>
              <a:rPr lang="en-US" sz="1000" b="1" kern="0" spc="100" dirty="0">
                <a:solidFill>
                  <a:srgbClr val="9DB5AE"/>
                </a:solidFill>
              </a:rPr>
              <a:t>CHANGE IN LN REVENUE RATIO</a:t>
            </a:r>
            <a:endParaRPr lang="en-US" sz="1000" dirty="0"/>
          </a:p>
        </p:txBody>
      </p:sp>
      <p:sp>
        <p:nvSpPr>
          <p:cNvPr id="6" name="Text 4"/>
          <p:cNvSpPr txBox="1"/>
          <p:nvPr/>
        </p:nvSpPr>
        <p:spPr>
          <a:xfrm>
            <a:off x="640080" y="1572768"/>
            <a:ext cx="2286000" cy="640080"/>
          </a:xfrm>
          <a:prstGeom prst="rect">
            <a:avLst/>
          </a:prstGeom>
          <a:noFill/>
          <a:ln/>
        </p:spPr>
        <p:txBody>
          <a:bodyPr wrap="square" lIns="0" tIns="0" rIns="0" bIns="0" rtlCol="0" anchor="ctr"/>
          <a:lstStyle/>
          <a:p>
            <a:pPr marL="0" indent="0">
              <a:buNone/>
            </a:pPr>
            <a:r>
              <a:rPr lang="en-US" sz="3400" b="1" dirty="0">
                <a:solidFill>
                  <a:srgbClr val="F5B83D"/>
                </a:solidFill>
                <a:latin typeface="Cambria" pitchFamily="34" charset="0"/>
                <a:ea typeface="Cambria" pitchFamily="34" charset="-122"/>
                <a:cs typeface="Cambria" pitchFamily="34" charset="-120"/>
              </a:rPr>
              <a:t>-0.229</a:t>
            </a:r>
            <a:endParaRPr lang="en-US" sz="3400" dirty="0"/>
          </a:p>
        </p:txBody>
      </p:sp>
      <p:sp>
        <p:nvSpPr>
          <p:cNvPr id="7" name="Text 5"/>
          <p:cNvSpPr txBox="1"/>
          <p:nvPr/>
        </p:nvSpPr>
        <p:spPr>
          <a:xfrm>
            <a:off x="640080" y="2212848"/>
            <a:ext cx="2286000" cy="365760"/>
          </a:xfrm>
          <a:prstGeom prst="rect">
            <a:avLst/>
          </a:prstGeom>
          <a:noFill/>
          <a:ln/>
        </p:spPr>
        <p:txBody>
          <a:bodyPr wrap="square" lIns="0" tIns="0" rIns="0" bIns="0" rtlCol="0" anchor="t"/>
          <a:lstStyle/>
          <a:p>
            <a:pPr marL="0" indent="0">
              <a:buNone/>
            </a:pPr>
            <a:r>
              <a:rPr lang="en-US" sz="1100" dirty="0">
                <a:solidFill>
                  <a:srgbClr val="9DB5AE"/>
                </a:solidFill>
              </a:rPr>
              <a:t>p = .007</a:t>
            </a:r>
            <a:endParaRPr lang="en-US" sz="1100" dirty="0"/>
          </a:p>
        </p:txBody>
      </p:sp>
      <p:sp>
        <p:nvSpPr>
          <p:cNvPr id="8" name="kpi card"/>
          <p:cNvSpPr/>
          <p:nvPr/>
        </p:nvSpPr>
        <p:spPr>
          <a:xfrm>
            <a:off x="3246120" y="1188720"/>
            <a:ext cx="2651760" cy="1463040"/>
          </a:xfrm>
          <a:prstGeom prst="roundRect">
            <a:avLst>
              <a:gd name="adj" fmla="val 5000"/>
            </a:avLst>
          </a:prstGeom>
          <a:solidFill>
            <a:srgbClr val="172B27"/>
          </a:solidFill>
          <a:ln w="9525">
            <a:solidFill>
              <a:srgbClr val="2A4540"/>
            </a:solidFill>
            <a:prstDash val="solid"/>
          </a:ln>
        </p:spPr>
      </p:sp>
      <p:sp>
        <p:nvSpPr>
          <p:cNvPr id="9" name="Text 7"/>
          <p:cNvSpPr txBox="1"/>
          <p:nvPr/>
        </p:nvSpPr>
        <p:spPr>
          <a:xfrm>
            <a:off x="3429000" y="1325880"/>
            <a:ext cx="2286000" cy="228600"/>
          </a:xfrm>
          <a:prstGeom prst="rect">
            <a:avLst/>
          </a:prstGeom>
          <a:noFill/>
          <a:ln/>
        </p:spPr>
        <p:txBody>
          <a:bodyPr wrap="square" lIns="0" tIns="0" rIns="0" bIns="0" rtlCol="0" anchor="ctr"/>
          <a:lstStyle/>
          <a:p>
            <a:pPr marL="0" indent="0">
              <a:buNone/>
            </a:pPr>
            <a:r>
              <a:rPr lang="en-US" sz="1000" b="1" kern="0" spc="100" dirty="0">
                <a:solidFill>
                  <a:srgbClr val="9DB5AE"/>
                </a:solidFill>
              </a:rPr>
              <a:t>REVENUE SPENDING GROWTH</a:t>
            </a:r>
            <a:endParaRPr lang="en-US" sz="1000" dirty="0"/>
          </a:p>
        </p:txBody>
      </p:sp>
      <p:sp>
        <p:nvSpPr>
          <p:cNvPr id="10" name="Text 8"/>
          <p:cNvSpPr txBox="1"/>
          <p:nvPr/>
        </p:nvSpPr>
        <p:spPr>
          <a:xfrm>
            <a:off x="3429000" y="1572768"/>
            <a:ext cx="2286000" cy="640080"/>
          </a:xfrm>
          <a:prstGeom prst="rect">
            <a:avLst/>
          </a:prstGeom>
          <a:noFill/>
          <a:ln/>
        </p:spPr>
        <p:txBody>
          <a:bodyPr wrap="square" lIns="0" tIns="0" rIns="0" bIns="0" rtlCol="0" anchor="ctr"/>
          <a:lstStyle/>
          <a:p>
            <a:pPr marL="0" indent="0">
              <a:buNone/>
            </a:pPr>
            <a:r>
              <a:rPr lang="en-US" sz="3400" b="1" dirty="0">
                <a:solidFill>
                  <a:srgbClr val="9DB5AE"/>
                </a:solidFill>
                <a:latin typeface="Cambria" pitchFamily="34" charset="0"/>
                <a:ea typeface="Cambria" pitchFamily="34" charset="-122"/>
                <a:cs typeface="Cambria" pitchFamily="34" charset="-120"/>
              </a:rPr>
              <a:t>0.052</a:t>
            </a:r>
            <a:endParaRPr lang="en-US" sz="3400" dirty="0"/>
          </a:p>
        </p:txBody>
      </p:sp>
      <p:sp>
        <p:nvSpPr>
          <p:cNvPr id="11" name="Text 9"/>
          <p:cNvSpPr txBox="1"/>
          <p:nvPr/>
        </p:nvSpPr>
        <p:spPr>
          <a:xfrm>
            <a:off x="3429000" y="2212848"/>
            <a:ext cx="2286000" cy="365760"/>
          </a:xfrm>
          <a:prstGeom prst="rect">
            <a:avLst/>
          </a:prstGeom>
          <a:noFill/>
          <a:ln/>
        </p:spPr>
        <p:txBody>
          <a:bodyPr wrap="square" lIns="0" tIns="0" rIns="0" bIns="0" rtlCol="0" anchor="t"/>
          <a:lstStyle/>
          <a:p>
            <a:pPr marL="0" indent="0">
              <a:buNone/>
            </a:pPr>
            <a:r>
              <a:rPr lang="en-US" sz="1100" dirty="0">
                <a:solidFill>
                  <a:srgbClr val="9DB5AE"/>
                </a:solidFill>
              </a:rPr>
              <a:t>p = .206, not significant</a:t>
            </a:r>
            <a:endParaRPr lang="en-US" sz="1100" dirty="0"/>
          </a:p>
        </p:txBody>
      </p:sp>
      <p:sp>
        <p:nvSpPr>
          <p:cNvPr id="12" name="kpi card"/>
          <p:cNvSpPr/>
          <p:nvPr/>
        </p:nvSpPr>
        <p:spPr>
          <a:xfrm>
            <a:off x="6035040" y="1188720"/>
            <a:ext cx="2651760" cy="1463040"/>
          </a:xfrm>
          <a:prstGeom prst="roundRect">
            <a:avLst>
              <a:gd name="adj" fmla="val 5000"/>
            </a:avLst>
          </a:prstGeom>
          <a:solidFill>
            <a:srgbClr val="172B27"/>
          </a:solidFill>
          <a:ln w="9525">
            <a:solidFill>
              <a:srgbClr val="2A4540"/>
            </a:solidFill>
            <a:prstDash val="solid"/>
          </a:ln>
        </p:spPr>
      </p:sp>
      <p:sp>
        <p:nvSpPr>
          <p:cNvPr id="13" name="Text 11"/>
          <p:cNvSpPr txBox="1"/>
          <p:nvPr/>
        </p:nvSpPr>
        <p:spPr>
          <a:xfrm>
            <a:off x="6217920" y="1325880"/>
            <a:ext cx="2286000" cy="228600"/>
          </a:xfrm>
          <a:prstGeom prst="rect">
            <a:avLst/>
          </a:prstGeom>
          <a:noFill/>
          <a:ln/>
        </p:spPr>
        <p:txBody>
          <a:bodyPr wrap="square" lIns="0" tIns="0" rIns="0" bIns="0" rtlCol="0" anchor="ctr"/>
          <a:lstStyle/>
          <a:p>
            <a:pPr marL="0" indent="0">
              <a:buNone/>
            </a:pPr>
            <a:r>
              <a:rPr lang="en-US" sz="1000" b="1" kern="0" spc="100" dirty="0">
                <a:solidFill>
                  <a:srgbClr val="9DB5AE"/>
                </a:solidFill>
              </a:rPr>
              <a:t>GSDP GROWTH</a:t>
            </a:r>
            <a:endParaRPr lang="en-US" sz="1000" dirty="0"/>
          </a:p>
        </p:txBody>
      </p:sp>
      <p:sp>
        <p:nvSpPr>
          <p:cNvPr id="14" name="Text 12"/>
          <p:cNvSpPr txBox="1"/>
          <p:nvPr/>
        </p:nvSpPr>
        <p:spPr>
          <a:xfrm>
            <a:off x="6217920" y="1572768"/>
            <a:ext cx="2286000" cy="640080"/>
          </a:xfrm>
          <a:prstGeom prst="rect">
            <a:avLst/>
          </a:prstGeom>
          <a:noFill/>
          <a:ln/>
        </p:spPr>
        <p:txBody>
          <a:bodyPr wrap="square" lIns="0" tIns="0" rIns="0" bIns="0" rtlCol="0" anchor="ctr"/>
          <a:lstStyle/>
          <a:p>
            <a:pPr marL="0" indent="0">
              <a:buNone/>
            </a:pPr>
            <a:r>
              <a:rPr lang="en-US" sz="3400" b="1" dirty="0">
                <a:solidFill>
                  <a:srgbClr val="2DD4A7"/>
                </a:solidFill>
                <a:latin typeface="Cambria" pitchFamily="34" charset="0"/>
                <a:ea typeface="Cambria" pitchFamily="34" charset="-122"/>
                <a:cs typeface="Cambria" pitchFamily="34" charset="-120"/>
              </a:rPr>
              <a:t>0.868</a:t>
            </a:r>
            <a:endParaRPr lang="en-US" sz="3400" dirty="0"/>
          </a:p>
        </p:txBody>
      </p:sp>
      <p:sp>
        <p:nvSpPr>
          <p:cNvPr id="15" name="Text 13"/>
          <p:cNvSpPr txBox="1"/>
          <p:nvPr/>
        </p:nvSpPr>
        <p:spPr>
          <a:xfrm>
            <a:off x="6217920" y="2212848"/>
            <a:ext cx="2286000" cy="365760"/>
          </a:xfrm>
          <a:prstGeom prst="rect">
            <a:avLst/>
          </a:prstGeom>
          <a:noFill/>
          <a:ln/>
        </p:spPr>
        <p:txBody>
          <a:bodyPr wrap="square" lIns="0" tIns="0" rIns="0" bIns="0" rtlCol="0" anchor="t"/>
          <a:lstStyle/>
          <a:p>
            <a:pPr marL="0" indent="0">
              <a:buNone/>
            </a:pPr>
            <a:r>
              <a:rPr lang="en-US" sz="1100" dirty="0">
                <a:solidFill>
                  <a:srgbClr val="9DB5AE"/>
                </a:solidFill>
              </a:rPr>
              <a:t>p &lt; .001</a:t>
            </a:r>
            <a:endParaRPr lang="en-US" sz="1100" dirty="0"/>
          </a:p>
        </p:txBody>
      </p:sp>
      <p:sp>
        <p:nvSpPr>
          <p:cNvPr id="16" name="mech card"/>
          <p:cNvSpPr/>
          <p:nvPr/>
        </p:nvSpPr>
        <p:spPr>
          <a:xfrm>
            <a:off x="457200" y="2834640"/>
            <a:ext cx="4023360" cy="1828800"/>
          </a:xfrm>
          <a:prstGeom prst="roundRect">
            <a:avLst>
              <a:gd name="adj" fmla="val 4000"/>
            </a:avLst>
          </a:prstGeom>
          <a:solidFill>
            <a:srgbClr val="172B27"/>
          </a:solidFill>
          <a:ln w="9525">
            <a:solidFill>
              <a:srgbClr val="2A4540"/>
            </a:solidFill>
            <a:prstDash val="solid"/>
          </a:ln>
        </p:spPr>
      </p:sp>
      <p:sp>
        <p:nvSpPr>
          <p:cNvPr id="17" name="Text 15"/>
          <p:cNvSpPr txBox="1"/>
          <p:nvPr/>
        </p:nvSpPr>
        <p:spPr>
          <a:xfrm>
            <a:off x="640080" y="2971800"/>
            <a:ext cx="3657600" cy="164592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F4F1EA"/>
                </a:solidFill>
              </a:rPr>
              <a:t>With both parts, spending growth has no effect (0.002, p = .95).</a:t>
            </a:r>
            <a:endParaRPr lang="en-US" sz="1200" dirty="0"/>
          </a:p>
          <a:p>
            <a:pPr marL="342900" indent="-342900">
              <a:spcAft>
                <a:spcPts val="700"/>
              </a:spcAft>
              <a:buSzPct val="100000"/>
              <a:buChar char="•"/>
            </a:pPr>
            <a:r>
              <a:rPr lang="en-US" sz="1200" dirty="0">
                <a:solidFill>
                  <a:srgbClr val="F4F1EA"/>
                </a:solidFill>
              </a:rPr>
              <a:t>The ratio result is consistent with a growing denominator.</a:t>
            </a:r>
            <a:endParaRPr lang="en-US" sz="1200" dirty="0"/>
          </a:p>
        </p:txBody>
      </p:sp>
      <p:sp>
        <p:nvSpPr>
          <p:cNvPr id="18" name="conv card"/>
          <p:cNvSpPr/>
          <p:nvPr/>
        </p:nvSpPr>
        <p:spPr>
          <a:xfrm>
            <a:off x="4663440" y="2834640"/>
            <a:ext cx="4023360" cy="1828800"/>
          </a:xfrm>
          <a:prstGeom prst="roundRect">
            <a:avLst>
              <a:gd name="adj" fmla="val 4000"/>
            </a:avLst>
          </a:prstGeom>
          <a:solidFill>
            <a:srgbClr val="172B27"/>
          </a:solidFill>
          <a:ln w="9525">
            <a:solidFill>
              <a:srgbClr val="2A4540"/>
            </a:solidFill>
            <a:prstDash val="solid"/>
          </a:ln>
        </p:spPr>
      </p:sp>
      <p:sp>
        <p:nvSpPr>
          <p:cNvPr id="19" name="Text 17"/>
          <p:cNvSpPr txBox="1"/>
          <p:nvPr/>
        </p:nvSpPr>
        <p:spPr>
          <a:xfrm>
            <a:off x="4846320" y="2926080"/>
            <a:ext cx="3657600" cy="228600"/>
          </a:xfrm>
          <a:prstGeom prst="rect">
            <a:avLst/>
          </a:prstGeom>
          <a:noFill/>
          <a:ln/>
        </p:spPr>
        <p:txBody>
          <a:bodyPr wrap="square" lIns="0" tIns="0" rIns="0" bIns="0" rtlCol="0" anchor="ctr"/>
          <a:lstStyle/>
          <a:p>
            <a:pPr marL="0" indent="0">
              <a:buNone/>
            </a:pPr>
            <a:r>
              <a:rPr lang="en-US" sz="1000" b="1" kern="0" spc="100" dirty="0">
                <a:solidFill>
                  <a:srgbClr val="9DB5AE"/>
                </a:solidFill>
              </a:rPr>
              <a:t>SIGMA CONVERGENCE</a:t>
            </a:r>
            <a:endParaRPr lang="en-US" sz="1000" dirty="0"/>
          </a:p>
        </p:txBody>
      </p:sp>
      <p:pic>
        <p:nvPicPr>
          <p:cNvPr id="20" name="Image 0" descr="convergence png"/>
          <p:cNvPicPr>
            <a:picLocks noChangeAspect="1"/>
          </p:cNvPicPr>
          <p:nvPr/>
        </p:nvPicPr>
        <p:blipFill>
          <a:blip r:embed="rId3"/>
          <a:stretch>
            <a:fillRect/>
          </a:stretch>
        </p:blipFill>
        <p:spPr>
          <a:xfrm>
            <a:off x="5514442" y="3108960"/>
            <a:ext cx="2321356" cy="1508760"/>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8229600" cy="502920"/>
          </a:xfrm>
          <a:prstGeom prst="rect">
            <a:avLst/>
          </a:prstGeom>
          <a:noFill/>
        </p:spPr>
        <p:txBody>
          <a:bodyPr wrap="square" lIns="0" tIns="0" rIns="0" bIns="0" anchor="t">
            <a:spAutoFit/>
          </a:bodyPr>
          <a:lstStyle/>
          <a:p>
            <a:pPr algn="l"/>
            <a:r>
              <a:rPr sz="2400" b="1" i="0">
                <a:solidFill>
                  <a:srgbClr val="F4F1EA"/>
                </a:solidFill>
                <a:latin typeface="Cambria"/>
              </a:rPr>
              <a:t>Why negative? Income tracks GSDP growth</a:t>
            </a:r>
          </a:p>
        </p:txBody>
      </p:sp>
      <p:sp>
        <p:nvSpPr>
          <p:cNvPr id="3" name="Subtitle"/>
          <p:cNvSpPr txBox="1"/>
          <p:nvPr/>
        </p:nvSpPr>
        <p:spPr>
          <a:xfrm>
            <a:off x="457200" y="777240"/>
            <a:ext cx="8229600" cy="274320"/>
          </a:xfrm>
          <a:prstGeom prst="rect">
            <a:avLst/>
          </a:prstGeom>
          <a:noFill/>
        </p:spPr>
        <p:txBody>
          <a:bodyPr wrap="square" lIns="0" tIns="0" rIns="0" bIns="0" anchor="ctr">
            <a:spAutoFit/>
          </a:bodyPr>
          <a:lstStyle/>
          <a:p>
            <a:pPr algn="l"/>
            <a:r>
              <a:rPr sz="1300" b="0" i="0">
                <a:solidFill>
                  <a:srgbClr val="9DB5AE"/>
                </a:solidFill>
              </a:rPr>
              <a:t>Income growth against revenue-spending growth (left) and current-price GSDP growth (right)</a:t>
            </a:r>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31</a:t>
            </a:fld>
            <a:endParaRPr lang="en-US"/>
          </a:p>
        </p:txBody>
      </p:sp>
      <p:sp>
        <p:nvSpPr>
          <p:cNvPr id="26" name="figure panel"/>
          <p:cNvSpPr/>
          <p:nvPr/>
        </p:nvSpPr>
        <p:spPr>
          <a:xfrm>
            <a:off x="457200" y="1188720"/>
            <a:ext cx="5852160" cy="2743200"/>
          </a:xfrm>
          <a:prstGeom prst="roundRect">
            <a:avLst>
              <a:gd name="adj" fmla="val 2666"/>
            </a:avLst>
          </a:prstGeom>
          <a:solidFill>
            <a:srgbClr val="FFFFFF"/>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Mechanism scatter plots" descr="Mechanism scatter plots"/>
          <p:cNvPicPr>
            <a:picLocks noChangeAspect="1"/>
          </p:cNvPicPr>
          <p:nvPr/>
        </p:nvPicPr>
        <p:blipFill>
          <a:blip r:embed="rId3"/>
          <a:stretch>
            <a:fillRect/>
          </a:stretch>
        </p:blipFill>
        <p:spPr>
          <a:xfrm>
            <a:off x="548640" y="1334006"/>
            <a:ext cx="5669280" cy="2452627"/>
          </a:xfrm>
          <a:prstGeom prst="rect">
            <a:avLst/>
          </a:prstGeom>
        </p:spPr>
      </p:pic>
      <p:sp>
        <p:nvSpPr>
          <p:cNvPr id="28" name="kpi card"/>
          <p:cNvSpPr/>
          <p:nvPr/>
        </p:nvSpPr>
        <p:spPr>
          <a:xfrm>
            <a:off x="6446520" y="1188720"/>
            <a:ext cx="2240280" cy="1325880"/>
          </a:xfrm>
          <a:prstGeom prst="roundRect">
            <a:avLst>
              <a:gd name="adj" fmla="val 4137"/>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83680" y="1261872"/>
            <a:ext cx="1965960" cy="457200"/>
          </a:xfrm>
          <a:prstGeom prst="rect">
            <a:avLst/>
          </a:prstGeom>
          <a:noFill/>
        </p:spPr>
        <p:txBody>
          <a:bodyPr wrap="square" lIns="0" tIns="0" rIns="0" bIns="0" anchor="ctr">
            <a:spAutoFit/>
          </a:bodyPr>
          <a:lstStyle/>
          <a:p>
            <a:pPr algn="l"/>
            <a:r>
              <a:rPr sz="2600" b="1" i="0">
                <a:solidFill>
                  <a:srgbClr val="2DD4A7"/>
                </a:solidFill>
                <a:latin typeface="Cambria"/>
              </a:rPr>
              <a:t>+0.87</a:t>
            </a:r>
          </a:p>
        </p:txBody>
      </p:sp>
      <p:sp>
        <p:nvSpPr>
          <p:cNvPr id="30" name="TextBox 29"/>
          <p:cNvSpPr txBox="1"/>
          <p:nvPr/>
        </p:nvSpPr>
        <p:spPr>
          <a:xfrm>
            <a:off x="6583680" y="1755648"/>
            <a:ext cx="1965960" cy="704087"/>
          </a:xfrm>
          <a:prstGeom prst="rect">
            <a:avLst/>
          </a:prstGeom>
          <a:noFill/>
        </p:spPr>
        <p:txBody>
          <a:bodyPr wrap="square" lIns="0" tIns="0" rIns="0" bIns="0" anchor="t">
            <a:spAutoFit/>
          </a:bodyPr>
          <a:lstStyle/>
          <a:p>
            <a:pPr algn="l"/>
            <a:r>
              <a:rPr sz="1050" b="0" i="0">
                <a:solidFill>
                  <a:srgbClr val="9DB5AE"/>
                </a:solidFill>
              </a:rPr>
              <a:t>Slope on GSDP growth, p &lt; 0.001</a:t>
            </a:r>
          </a:p>
        </p:txBody>
      </p:sp>
      <p:sp>
        <p:nvSpPr>
          <p:cNvPr id="31" name="kpi card"/>
          <p:cNvSpPr/>
          <p:nvPr/>
        </p:nvSpPr>
        <p:spPr>
          <a:xfrm>
            <a:off x="6446520" y="2606040"/>
            <a:ext cx="2240280" cy="1325880"/>
          </a:xfrm>
          <a:prstGeom prst="roundRect">
            <a:avLst>
              <a:gd name="adj" fmla="val 4137"/>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83680" y="2679192"/>
            <a:ext cx="1965960" cy="457200"/>
          </a:xfrm>
          <a:prstGeom prst="rect">
            <a:avLst/>
          </a:prstGeom>
          <a:noFill/>
        </p:spPr>
        <p:txBody>
          <a:bodyPr wrap="square" lIns="0" tIns="0" rIns="0" bIns="0" anchor="ctr">
            <a:spAutoFit/>
          </a:bodyPr>
          <a:lstStyle/>
          <a:p>
            <a:pPr algn="l"/>
            <a:r>
              <a:rPr sz="2600" b="1" i="0">
                <a:solidFill>
                  <a:srgbClr val="F5B83D"/>
                </a:solidFill>
                <a:latin typeface="Cambria"/>
              </a:rPr>
              <a:t>+0.002</a:t>
            </a:r>
          </a:p>
        </p:txBody>
      </p:sp>
      <p:sp>
        <p:nvSpPr>
          <p:cNvPr id="33" name="TextBox 32"/>
          <p:cNvSpPr txBox="1"/>
          <p:nvPr/>
        </p:nvSpPr>
        <p:spPr>
          <a:xfrm>
            <a:off x="6583680" y="3172968"/>
            <a:ext cx="1965960" cy="704087"/>
          </a:xfrm>
          <a:prstGeom prst="rect">
            <a:avLst/>
          </a:prstGeom>
          <a:noFill/>
        </p:spPr>
        <p:txBody>
          <a:bodyPr wrap="square" lIns="0" tIns="0" rIns="0" bIns="0" anchor="t">
            <a:spAutoFit/>
          </a:bodyPr>
          <a:lstStyle/>
          <a:p>
            <a:pPr algn="l"/>
            <a:r>
              <a:rPr sz="1050" b="0" i="0">
                <a:solidFill>
                  <a:srgbClr val="9DB5AE"/>
                </a:solidFill>
              </a:rPr>
              <a:t>Spending-growth slope once GSDP growth is controlled, p = 0.95</a:t>
            </a:r>
          </a:p>
        </p:txBody>
      </p:sp>
      <p:sp>
        <p:nvSpPr>
          <p:cNvPr id="34" name="callout strip"/>
          <p:cNvSpPr/>
          <p:nvPr/>
        </p:nvSpPr>
        <p:spPr>
          <a:xfrm>
            <a:off x="457200" y="4069080"/>
            <a:ext cx="8229600" cy="594360"/>
          </a:xfrm>
          <a:prstGeom prst="roundRect">
            <a:avLst>
              <a:gd name="adj" fmla="val 9230"/>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0080" y="4069080"/>
            <a:ext cx="7863840" cy="594360"/>
          </a:xfrm>
          <a:prstGeom prst="rect">
            <a:avLst/>
          </a:prstGeom>
          <a:noFill/>
        </p:spPr>
        <p:txBody>
          <a:bodyPr wrap="square" lIns="0" tIns="0" rIns="0" bIns="0" anchor="ctr">
            <a:spAutoFit/>
          </a:bodyPr>
          <a:lstStyle/>
          <a:p>
            <a:pPr algn="l"/>
            <a:r>
              <a:rPr sz="1100" b="1" i="0">
                <a:solidFill>
                  <a:srgbClr val="F5B83D"/>
                </a:solidFill>
              </a:rPr>
              <a:t>Revenue ratio = Revenue spending ÷ rising GSDP. </a:t>
            </a:r>
            <a:r>
              <a:rPr sz="1100" b="0" i="0">
                <a:solidFill>
                  <a:srgbClr val="F4F1EA"/>
                </a:solidFill>
              </a:rPr>
              <a:t>Fast-growing states see the ratio shrink: growth drives the ratio, not the other way round.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 number"/>
          <p:cNvSpPr txBox="1"/>
          <p:nvPr/>
        </p:nvSpPr>
        <p:spPr>
          <a:xfrm>
            <a:off x="548640" y="1325880"/>
            <a:ext cx="2743200" cy="822960"/>
          </a:xfrm>
          <a:prstGeom prst="rect">
            <a:avLst/>
          </a:prstGeom>
          <a:noFill/>
        </p:spPr>
        <p:txBody>
          <a:bodyPr wrap="square" lIns="0" tIns="0" rIns="0" bIns="0" anchor="t">
            <a:spAutoFit/>
          </a:bodyPr>
          <a:lstStyle/>
          <a:p>
            <a:pPr algn="l"/>
            <a:r>
              <a:rPr sz="5400" b="1" i="0">
                <a:solidFill>
                  <a:srgbClr val="2DD4A7"/>
                </a:solidFill>
                <a:latin typeface="Cambria"/>
              </a:rPr>
              <a:t>05</a:t>
            </a:r>
          </a:p>
        </p:txBody>
      </p:sp>
      <p:sp>
        <p:nvSpPr>
          <p:cNvPr id="3" name="Title"/>
          <p:cNvSpPr txBox="1"/>
          <p:nvPr/>
        </p:nvSpPr>
        <p:spPr>
          <a:xfrm>
            <a:off x="548640" y="2240280"/>
            <a:ext cx="7680960" cy="640080"/>
          </a:xfrm>
          <a:prstGeom prst="rect">
            <a:avLst/>
          </a:prstGeom>
          <a:noFill/>
        </p:spPr>
        <p:txBody>
          <a:bodyPr wrap="square" lIns="0" tIns="0" rIns="0" bIns="0" anchor="t">
            <a:spAutoFit/>
          </a:bodyPr>
          <a:lstStyle/>
          <a:p>
            <a:pPr algn="l"/>
            <a:r>
              <a:rPr sz="3400" b="1" i="0">
                <a:solidFill>
                  <a:srgbClr val="F4F1EA"/>
                </a:solidFill>
                <a:latin typeface="Cambria"/>
              </a:rPr>
              <a:t>Catching up and COVID</a:t>
            </a:r>
          </a:p>
        </p:txBody>
      </p:sp>
      <p:sp>
        <p:nvSpPr>
          <p:cNvPr id="4" name="Subtitle"/>
          <p:cNvSpPr txBox="1"/>
          <p:nvPr/>
        </p:nvSpPr>
        <p:spPr>
          <a:xfrm>
            <a:off x="548640" y="3017520"/>
            <a:ext cx="7132320" cy="548640"/>
          </a:xfrm>
          <a:prstGeom prst="rect">
            <a:avLst/>
          </a:prstGeom>
          <a:noFill/>
        </p:spPr>
        <p:txBody>
          <a:bodyPr wrap="square" lIns="0" tIns="0" rIns="0" bIns="0" anchor="t">
            <a:spAutoFit/>
          </a:bodyPr>
          <a:lstStyle/>
          <a:p>
            <a:pPr algn="l"/>
            <a:r>
              <a:rPr sz="1400" b="0" i="0">
                <a:solidFill>
                  <a:srgbClr val="9DB5AE"/>
                </a:solidFill>
              </a:rPr>
              <a:t>Objective 5: assess convergence and COVID shock and recovery</a:t>
            </a:r>
          </a:p>
        </p:txBody>
      </p:sp>
      <p:sp>
        <p:nvSpPr>
          <p:cNvPr id="5" name="progress dot"/>
          <p:cNvSpPr/>
          <p:nvPr/>
        </p:nvSpPr>
        <p:spPr>
          <a:xfrm>
            <a:off x="548640" y="4343400"/>
            <a:ext cx="128016" cy="128016"/>
          </a:xfrm>
          <a:prstGeom prst="ellipse">
            <a:avLst/>
          </a:prstGeom>
          <a:solidFill>
            <a:srgbClr val="2A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rogress dot"/>
          <p:cNvSpPr/>
          <p:nvPr/>
        </p:nvSpPr>
        <p:spPr>
          <a:xfrm>
            <a:off x="804672" y="4343400"/>
            <a:ext cx="128016" cy="128016"/>
          </a:xfrm>
          <a:prstGeom prst="ellipse">
            <a:avLst/>
          </a:prstGeom>
          <a:solidFill>
            <a:srgbClr val="2A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rogress dot"/>
          <p:cNvSpPr/>
          <p:nvPr/>
        </p:nvSpPr>
        <p:spPr>
          <a:xfrm>
            <a:off x="1060704" y="4343400"/>
            <a:ext cx="128016" cy="128016"/>
          </a:xfrm>
          <a:prstGeom prst="ellipse">
            <a:avLst/>
          </a:prstGeom>
          <a:solidFill>
            <a:srgbClr val="2A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progress dot"/>
          <p:cNvSpPr/>
          <p:nvPr/>
        </p:nvSpPr>
        <p:spPr>
          <a:xfrm>
            <a:off x="1316736" y="4343400"/>
            <a:ext cx="128016" cy="128016"/>
          </a:xfrm>
          <a:prstGeom prst="ellipse">
            <a:avLst/>
          </a:prstGeom>
          <a:solidFill>
            <a:srgbClr val="2A4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progress dot"/>
          <p:cNvSpPr/>
          <p:nvPr/>
        </p:nvSpPr>
        <p:spPr>
          <a:xfrm>
            <a:off x="1572768" y="4343400"/>
            <a:ext cx="128016" cy="128016"/>
          </a:xfrm>
          <a:prstGeom prst="ellipse">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8229600" cy="502920"/>
          </a:xfrm>
          <a:prstGeom prst="rect">
            <a:avLst/>
          </a:prstGeom>
          <a:noFill/>
        </p:spPr>
        <p:txBody>
          <a:bodyPr wrap="square" lIns="0" tIns="0" rIns="0" bIns="0" anchor="t">
            <a:spAutoFit/>
          </a:bodyPr>
          <a:lstStyle/>
          <a:p>
            <a:pPr algn="l"/>
            <a:r>
              <a:rPr sz="2400" b="1" i="0">
                <a:solidFill>
                  <a:srgbClr val="F4F1EA"/>
                </a:solidFill>
                <a:latin typeface="Cambria"/>
              </a:rPr>
              <a:t>Poorer states are not catching up</a:t>
            </a:r>
          </a:p>
        </p:txBody>
      </p:sp>
      <p:sp>
        <p:nvSpPr>
          <p:cNvPr id="3" name="Subtitle"/>
          <p:cNvSpPr txBox="1"/>
          <p:nvPr/>
        </p:nvSpPr>
        <p:spPr>
          <a:xfrm>
            <a:off x="457200" y="777240"/>
            <a:ext cx="8229600" cy="274320"/>
          </a:xfrm>
          <a:prstGeom prst="rect">
            <a:avLst/>
          </a:prstGeom>
          <a:noFill/>
        </p:spPr>
        <p:txBody>
          <a:bodyPr wrap="square" lIns="0" tIns="0" rIns="0" bIns="0" anchor="ctr">
            <a:spAutoFit/>
          </a:bodyPr>
          <a:lstStyle/>
          <a:p>
            <a:pPr algn="l"/>
            <a:r>
              <a:rPr sz="1300" b="0" i="0">
                <a:solidFill>
                  <a:srgbClr val="9DB5AE"/>
                </a:solidFill>
              </a:rPr>
              <a:t>Sigma dispersion over time (left) and starting income vs growth (right)</a:t>
            </a:r>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33</a:t>
            </a:fld>
            <a:endParaRPr lang="en-US"/>
          </a:p>
        </p:txBody>
      </p:sp>
      <p:sp>
        <p:nvSpPr>
          <p:cNvPr id="26" name="figure panel"/>
          <p:cNvSpPr/>
          <p:nvPr/>
        </p:nvSpPr>
        <p:spPr>
          <a:xfrm>
            <a:off x="457200" y="1188720"/>
            <a:ext cx="5852160" cy="2743200"/>
          </a:xfrm>
          <a:prstGeom prst="roundRect">
            <a:avLst>
              <a:gd name="adj" fmla="val 2666"/>
            </a:avLst>
          </a:prstGeom>
          <a:solidFill>
            <a:srgbClr val="FFFFFF"/>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Sigma and beta convergence" descr="Sigma and beta convergence"/>
          <p:cNvPicPr>
            <a:picLocks noChangeAspect="1"/>
          </p:cNvPicPr>
          <p:nvPr/>
        </p:nvPicPr>
        <p:blipFill>
          <a:blip r:embed="rId3"/>
          <a:stretch>
            <a:fillRect/>
          </a:stretch>
        </p:blipFill>
        <p:spPr>
          <a:xfrm>
            <a:off x="548640" y="1364456"/>
            <a:ext cx="5669280" cy="2391727"/>
          </a:xfrm>
          <a:prstGeom prst="rect">
            <a:avLst/>
          </a:prstGeom>
        </p:spPr>
      </p:pic>
      <p:sp>
        <p:nvSpPr>
          <p:cNvPr id="28" name="kpi card"/>
          <p:cNvSpPr/>
          <p:nvPr/>
        </p:nvSpPr>
        <p:spPr>
          <a:xfrm>
            <a:off x="6446520" y="1188720"/>
            <a:ext cx="2240280" cy="1325880"/>
          </a:xfrm>
          <a:prstGeom prst="roundRect">
            <a:avLst>
              <a:gd name="adj" fmla="val 4137"/>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83680" y="1261872"/>
            <a:ext cx="1965960" cy="457200"/>
          </a:xfrm>
          <a:prstGeom prst="rect">
            <a:avLst/>
          </a:prstGeom>
          <a:noFill/>
        </p:spPr>
        <p:txBody>
          <a:bodyPr wrap="square" lIns="0" tIns="0" rIns="0" bIns="0" anchor="ctr">
            <a:spAutoFit/>
          </a:bodyPr>
          <a:lstStyle/>
          <a:p>
            <a:pPr algn="l"/>
            <a:r>
              <a:rPr sz="2200" b="1" i="0">
                <a:solidFill>
                  <a:srgbClr val="F5B83D"/>
                </a:solidFill>
                <a:latin typeface="Cambria"/>
              </a:rPr>
              <a:t>0.51 → 0.55</a:t>
            </a:r>
          </a:p>
        </p:txBody>
      </p:sp>
      <p:sp>
        <p:nvSpPr>
          <p:cNvPr id="30" name="TextBox 29"/>
          <p:cNvSpPr txBox="1"/>
          <p:nvPr/>
        </p:nvSpPr>
        <p:spPr>
          <a:xfrm>
            <a:off x="6583680" y="1755648"/>
            <a:ext cx="1965960" cy="704087"/>
          </a:xfrm>
          <a:prstGeom prst="rect">
            <a:avLst/>
          </a:prstGeom>
          <a:noFill/>
        </p:spPr>
        <p:txBody>
          <a:bodyPr wrap="square" lIns="0" tIns="0" rIns="0" bIns="0" anchor="t">
            <a:spAutoFit/>
          </a:bodyPr>
          <a:lstStyle/>
          <a:p>
            <a:pPr algn="l"/>
            <a:r>
              <a:rPr sz="1050" b="0" i="0">
                <a:solidFill>
                  <a:srgbClr val="9DB5AE"/>
                </a:solidFill>
              </a:rPr>
              <a:t>Sigma dispersion, 2013–14 to 2019–20: the gap widened</a:t>
            </a:r>
          </a:p>
        </p:txBody>
      </p:sp>
      <p:sp>
        <p:nvSpPr>
          <p:cNvPr id="31" name="kpi card"/>
          <p:cNvSpPr/>
          <p:nvPr/>
        </p:nvSpPr>
        <p:spPr>
          <a:xfrm>
            <a:off x="6446520" y="2606040"/>
            <a:ext cx="2240280" cy="1325880"/>
          </a:xfrm>
          <a:prstGeom prst="roundRect">
            <a:avLst>
              <a:gd name="adj" fmla="val 4137"/>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83680" y="2679192"/>
            <a:ext cx="1965960" cy="457200"/>
          </a:xfrm>
          <a:prstGeom prst="rect">
            <a:avLst/>
          </a:prstGeom>
          <a:noFill/>
        </p:spPr>
        <p:txBody>
          <a:bodyPr wrap="square" lIns="0" tIns="0" rIns="0" bIns="0" anchor="ctr">
            <a:spAutoFit/>
          </a:bodyPr>
          <a:lstStyle/>
          <a:p>
            <a:pPr algn="l"/>
            <a:r>
              <a:rPr sz="2600" b="1" i="0">
                <a:solidFill>
                  <a:srgbClr val="B79CFF"/>
                </a:solidFill>
                <a:latin typeface="Cambria"/>
              </a:rPr>
              <a:t>+0.137</a:t>
            </a:r>
          </a:p>
        </p:txBody>
      </p:sp>
      <p:sp>
        <p:nvSpPr>
          <p:cNvPr id="33" name="TextBox 32"/>
          <p:cNvSpPr txBox="1"/>
          <p:nvPr/>
        </p:nvSpPr>
        <p:spPr>
          <a:xfrm>
            <a:off x="6583680" y="3172968"/>
            <a:ext cx="1965960" cy="704087"/>
          </a:xfrm>
          <a:prstGeom prst="rect">
            <a:avLst/>
          </a:prstGeom>
          <a:noFill/>
        </p:spPr>
        <p:txBody>
          <a:bodyPr wrap="square" lIns="0" tIns="0" rIns="0" bIns="0" anchor="t">
            <a:spAutoFit/>
          </a:bodyPr>
          <a:lstStyle/>
          <a:p>
            <a:pPr algn="l"/>
            <a:r>
              <a:rPr sz="1050" b="0" i="0">
                <a:solidFill>
                  <a:srgbClr val="9DB5AE"/>
                </a:solidFill>
              </a:rPr>
              <a:t>Beta slope on starting income, p = 0.814: no catch-up</a:t>
            </a:r>
          </a:p>
        </p:txBody>
      </p:sp>
      <p:sp>
        <p:nvSpPr>
          <p:cNvPr id="34" name="callout strip"/>
          <p:cNvSpPr/>
          <p:nvPr/>
        </p:nvSpPr>
        <p:spPr>
          <a:xfrm>
            <a:off x="457200" y="4069080"/>
            <a:ext cx="8229600" cy="594360"/>
          </a:xfrm>
          <a:prstGeom prst="roundRect">
            <a:avLst>
              <a:gd name="adj" fmla="val 9230"/>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0080" y="4069080"/>
            <a:ext cx="7863840" cy="594360"/>
          </a:xfrm>
          <a:prstGeom prst="rect">
            <a:avLst/>
          </a:prstGeom>
          <a:noFill/>
        </p:spPr>
        <p:txBody>
          <a:bodyPr wrap="square" lIns="0" tIns="0" rIns="0" bIns="0" anchor="ctr">
            <a:spAutoFit/>
          </a:bodyPr>
          <a:lstStyle/>
          <a:p>
            <a:pPr algn="l"/>
            <a:r>
              <a:rPr sz="1100" b="1" i="0">
                <a:solidFill>
                  <a:srgbClr val="2DD4A7"/>
                </a:solidFill>
              </a:rPr>
              <a:t>So what: </a:t>
            </a:r>
            <a:r>
              <a:rPr sz="1100" b="0" i="0">
                <a:solidFill>
                  <a:srgbClr val="F4F1EA"/>
                </a:solidFill>
              </a:rPr>
              <a:t>growth alone is not closing the gap between states.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8229600" cy="502920"/>
          </a:xfrm>
          <a:prstGeom prst="rect">
            <a:avLst/>
          </a:prstGeom>
          <a:noFill/>
        </p:spPr>
        <p:txBody>
          <a:bodyPr wrap="square" lIns="0" tIns="0" rIns="0" bIns="0" anchor="t">
            <a:spAutoFit/>
          </a:bodyPr>
          <a:lstStyle/>
          <a:p>
            <a:pPr algn="l"/>
            <a:r>
              <a:rPr sz="2400" b="1" i="0">
                <a:solidFill>
                  <a:srgbClr val="F4F1EA"/>
                </a:solidFill>
                <a:latin typeface="Cambria"/>
              </a:rPr>
              <a:t>COVID shock ranged from −15% to +2%</a:t>
            </a:r>
          </a:p>
        </p:txBody>
      </p:sp>
      <p:sp>
        <p:nvSpPr>
          <p:cNvPr id="3" name="Subtitle"/>
          <p:cNvSpPr txBox="1"/>
          <p:nvPr/>
        </p:nvSpPr>
        <p:spPr>
          <a:xfrm>
            <a:off x="457200" y="777240"/>
            <a:ext cx="8229600" cy="274320"/>
          </a:xfrm>
          <a:prstGeom prst="rect">
            <a:avLst/>
          </a:prstGeom>
          <a:noFill/>
        </p:spPr>
        <p:txBody>
          <a:bodyPr wrap="square" lIns="0" tIns="0" rIns="0" bIns="0" anchor="ctr">
            <a:spAutoFit/>
          </a:bodyPr>
          <a:lstStyle/>
          <a:p>
            <a:pPr algn="l"/>
            <a:r>
              <a:rPr sz="1300" b="0" i="0">
                <a:solidFill>
                  <a:srgbClr val="9DB5AE"/>
                </a:solidFill>
              </a:rPr>
              <a:t>Recovery split states in two; shock = 2020–21 growth, recovery = 2021–22 level vs 2019–20</a:t>
            </a:r>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34</a:t>
            </a:fld>
            <a:endParaRPr lang="en-US"/>
          </a:p>
        </p:txBody>
      </p:sp>
      <p:sp>
        <p:nvSpPr>
          <p:cNvPr id="26" name="figure panel"/>
          <p:cNvSpPr/>
          <p:nvPr/>
        </p:nvSpPr>
        <p:spPr>
          <a:xfrm>
            <a:off x="457200" y="1188720"/>
            <a:ext cx="3566160" cy="3474720"/>
          </a:xfrm>
          <a:prstGeom prst="roundRect">
            <a:avLst>
              <a:gd name="adj" fmla="val 2105"/>
            </a:avLst>
          </a:prstGeom>
          <a:solidFill>
            <a:srgbClr val="FFFFFF"/>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COVID shock and recovery by state" descr="COVID shock and recovery by state"/>
          <p:cNvPicPr>
            <a:picLocks noChangeAspect="1"/>
          </p:cNvPicPr>
          <p:nvPr/>
        </p:nvPicPr>
        <p:blipFill>
          <a:blip r:embed="rId3"/>
          <a:stretch>
            <a:fillRect/>
          </a:stretch>
        </p:blipFill>
        <p:spPr>
          <a:xfrm>
            <a:off x="548639" y="1290239"/>
            <a:ext cx="3383280" cy="3271681"/>
          </a:xfrm>
          <a:prstGeom prst="rect">
            <a:avLst/>
          </a:prstGeom>
        </p:spPr>
      </p:pic>
      <p:sp>
        <p:nvSpPr>
          <p:cNvPr id="28" name="kpi card"/>
          <p:cNvSpPr/>
          <p:nvPr/>
        </p:nvSpPr>
        <p:spPr>
          <a:xfrm>
            <a:off x="4251960" y="1188720"/>
            <a:ext cx="2148840" cy="1097280"/>
          </a:xfrm>
          <a:prstGeom prst="roundRect">
            <a:avLst>
              <a:gd name="adj" fmla="val 5000"/>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389120" y="1261872"/>
            <a:ext cx="1874520" cy="457200"/>
          </a:xfrm>
          <a:prstGeom prst="rect">
            <a:avLst/>
          </a:prstGeom>
          <a:noFill/>
        </p:spPr>
        <p:txBody>
          <a:bodyPr wrap="square" lIns="0" tIns="0" rIns="0" bIns="0" anchor="ctr">
            <a:spAutoFit/>
          </a:bodyPr>
          <a:lstStyle/>
          <a:p>
            <a:pPr algn="l"/>
            <a:r>
              <a:rPr sz="2200" b="1" i="0">
                <a:solidFill>
                  <a:srgbClr val="F2665B"/>
                </a:solidFill>
                <a:latin typeface="Cambria"/>
              </a:rPr>
              <a:t>−15.3%</a:t>
            </a:r>
          </a:p>
        </p:txBody>
      </p:sp>
      <p:sp>
        <p:nvSpPr>
          <p:cNvPr id="30" name="TextBox 29"/>
          <p:cNvSpPr txBox="1"/>
          <p:nvPr/>
        </p:nvSpPr>
        <p:spPr>
          <a:xfrm>
            <a:off x="4389120" y="1755648"/>
            <a:ext cx="1874520" cy="475487"/>
          </a:xfrm>
          <a:prstGeom prst="rect">
            <a:avLst/>
          </a:prstGeom>
          <a:noFill/>
        </p:spPr>
        <p:txBody>
          <a:bodyPr wrap="square" lIns="0" tIns="0" rIns="0" bIns="0" anchor="t">
            <a:spAutoFit/>
          </a:bodyPr>
          <a:lstStyle/>
          <a:p>
            <a:pPr algn="l"/>
            <a:r>
              <a:rPr sz="1050" b="0" i="0">
                <a:solidFill>
                  <a:srgbClr val="9DB5AE"/>
                </a:solidFill>
              </a:rPr>
              <a:t>Uttarakhand: deepest fall, still 12.6% below in 2021–22</a:t>
            </a:r>
          </a:p>
        </p:txBody>
      </p:sp>
      <p:sp>
        <p:nvSpPr>
          <p:cNvPr id="31" name="kpi card"/>
          <p:cNvSpPr/>
          <p:nvPr/>
        </p:nvSpPr>
        <p:spPr>
          <a:xfrm>
            <a:off x="6537960" y="1188720"/>
            <a:ext cx="2148840" cy="1097280"/>
          </a:xfrm>
          <a:prstGeom prst="roundRect">
            <a:avLst>
              <a:gd name="adj" fmla="val 5000"/>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675120" y="1261872"/>
            <a:ext cx="1874520" cy="457200"/>
          </a:xfrm>
          <a:prstGeom prst="rect">
            <a:avLst/>
          </a:prstGeom>
          <a:noFill/>
        </p:spPr>
        <p:txBody>
          <a:bodyPr wrap="square" lIns="0" tIns="0" rIns="0" bIns="0" anchor="ctr">
            <a:spAutoFit/>
          </a:bodyPr>
          <a:lstStyle/>
          <a:p>
            <a:pPr algn="l"/>
            <a:r>
              <a:rPr sz="2200" b="1" i="0">
                <a:solidFill>
                  <a:srgbClr val="2DD4A7"/>
                </a:solidFill>
                <a:latin typeface="Cambria"/>
              </a:rPr>
              <a:t>+11.9%</a:t>
            </a:r>
          </a:p>
        </p:txBody>
      </p:sp>
      <p:sp>
        <p:nvSpPr>
          <p:cNvPr id="33" name="TextBox 32"/>
          <p:cNvSpPr txBox="1"/>
          <p:nvPr/>
        </p:nvSpPr>
        <p:spPr>
          <a:xfrm>
            <a:off x="6675120" y="1755648"/>
            <a:ext cx="1874520" cy="475487"/>
          </a:xfrm>
          <a:prstGeom prst="rect">
            <a:avLst/>
          </a:prstGeom>
          <a:noFill/>
        </p:spPr>
        <p:txBody>
          <a:bodyPr wrap="square" lIns="0" tIns="0" rIns="0" bIns="0" anchor="t">
            <a:spAutoFit/>
          </a:bodyPr>
          <a:lstStyle/>
          <a:p>
            <a:pPr algn="l"/>
            <a:r>
              <a:rPr sz="1050" b="0" i="0">
                <a:solidFill>
                  <a:srgbClr val="9DB5AE"/>
                </a:solidFill>
              </a:rPr>
              <a:t>Odisha: strongest rebound vs 2019–20 after a −4.1% shock</a:t>
            </a:r>
          </a:p>
        </p:txBody>
      </p:sp>
      <p:sp>
        <p:nvSpPr>
          <p:cNvPr id="34" name="kpi card"/>
          <p:cNvSpPr/>
          <p:nvPr/>
        </p:nvSpPr>
        <p:spPr>
          <a:xfrm>
            <a:off x="4251960" y="2377440"/>
            <a:ext cx="2148840" cy="1097280"/>
          </a:xfrm>
          <a:prstGeom prst="roundRect">
            <a:avLst>
              <a:gd name="adj" fmla="val 5000"/>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389120" y="2450592"/>
            <a:ext cx="1874520" cy="457200"/>
          </a:xfrm>
          <a:prstGeom prst="rect">
            <a:avLst/>
          </a:prstGeom>
          <a:noFill/>
        </p:spPr>
        <p:txBody>
          <a:bodyPr wrap="square" lIns="0" tIns="0" rIns="0" bIns="0" anchor="ctr">
            <a:spAutoFit/>
          </a:bodyPr>
          <a:lstStyle/>
          <a:p>
            <a:pPr algn="l"/>
            <a:r>
              <a:rPr sz="2200" b="1" i="0">
                <a:solidFill>
                  <a:srgbClr val="F5B83D"/>
                </a:solidFill>
                <a:latin typeface="Cambria"/>
              </a:rPr>
              <a:t>16 / 31</a:t>
            </a:r>
          </a:p>
        </p:txBody>
      </p:sp>
      <p:sp>
        <p:nvSpPr>
          <p:cNvPr id="36" name="TextBox 35"/>
          <p:cNvSpPr txBox="1"/>
          <p:nvPr/>
        </p:nvSpPr>
        <p:spPr>
          <a:xfrm>
            <a:off x="4389120" y="2944368"/>
            <a:ext cx="1874520" cy="475487"/>
          </a:xfrm>
          <a:prstGeom prst="rect">
            <a:avLst/>
          </a:prstGeom>
          <a:noFill/>
        </p:spPr>
        <p:txBody>
          <a:bodyPr wrap="square" lIns="0" tIns="0" rIns="0" bIns="0" anchor="t">
            <a:spAutoFit/>
          </a:bodyPr>
          <a:lstStyle/>
          <a:p>
            <a:pPr algn="l"/>
            <a:r>
              <a:rPr sz="1050" b="0" i="0">
                <a:solidFill>
                  <a:srgbClr val="9DB5AE"/>
                </a:solidFill>
              </a:rPr>
              <a:t>States back above their pre-COVID income by 2021–22</a:t>
            </a:r>
          </a:p>
        </p:txBody>
      </p:sp>
      <p:sp>
        <p:nvSpPr>
          <p:cNvPr id="37" name="kpi card"/>
          <p:cNvSpPr/>
          <p:nvPr/>
        </p:nvSpPr>
        <p:spPr>
          <a:xfrm>
            <a:off x="6537960" y="2377440"/>
            <a:ext cx="2148840" cy="1097280"/>
          </a:xfrm>
          <a:prstGeom prst="roundRect">
            <a:avLst>
              <a:gd name="adj" fmla="val 5000"/>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675120" y="2450592"/>
            <a:ext cx="1874520" cy="457200"/>
          </a:xfrm>
          <a:prstGeom prst="rect">
            <a:avLst/>
          </a:prstGeom>
          <a:noFill/>
        </p:spPr>
        <p:txBody>
          <a:bodyPr wrap="square" lIns="0" tIns="0" rIns="0" bIns="0" anchor="ctr">
            <a:spAutoFit/>
          </a:bodyPr>
          <a:lstStyle/>
          <a:p>
            <a:pPr algn="l"/>
            <a:r>
              <a:rPr sz="2200" b="1" i="0">
                <a:solidFill>
                  <a:srgbClr val="B79CFF"/>
                </a:solidFill>
                <a:latin typeface="Cambria"/>
              </a:rPr>
              <a:t>+20.6 pp</a:t>
            </a:r>
          </a:p>
        </p:txBody>
      </p:sp>
      <p:sp>
        <p:nvSpPr>
          <p:cNvPr id="39" name="TextBox 38"/>
          <p:cNvSpPr txBox="1"/>
          <p:nvPr/>
        </p:nvSpPr>
        <p:spPr>
          <a:xfrm>
            <a:off x="6675120" y="2944368"/>
            <a:ext cx="1874520" cy="475487"/>
          </a:xfrm>
          <a:prstGeom prst="rect">
            <a:avLst/>
          </a:prstGeom>
          <a:noFill/>
        </p:spPr>
        <p:txBody>
          <a:bodyPr wrap="square" lIns="0" tIns="0" rIns="0" bIns="0" anchor="t">
            <a:spAutoFit/>
          </a:bodyPr>
          <a:lstStyle/>
          <a:p>
            <a:pPr algn="l"/>
            <a:r>
              <a:rPr sz="1050" b="0" i="0">
                <a:solidFill>
                  <a:srgbClr val="9DB5AE"/>
                </a:solidFill>
              </a:rPr>
              <a:t>Manipur's swing from −9.8% shock to +10.8% recovery</a:t>
            </a:r>
          </a:p>
        </p:txBody>
      </p:sp>
      <p:sp>
        <p:nvSpPr>
          <p:cNvPr id="40" name="so what card"/>
          <p:cNvSpPr/>
          <p:nvPr/>
        </p:nvSpPr>
        <p:spPr>
          <a:xfrm>
            <a:off x="4251960" y="3611880"/>
            <a:ext cx="4434840" cy="1051560"/>
          </a:xfrm>
          <a:prstGeom prst="roundRect">
            <a:avLst>
              <a:gd name="adj" fmla="val 5217"/>
            </a:avLst>
          </a:prstGeom>
          <a:solidFill>
            <a:srgbClr val="12362F"/>
          </a:solidFill>
          <a:ln w="9525">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389120" y="3703320"/>
            <a:ext cx="4160520" cy="182880"/>
          </a:xfrm>
          <a:prstGeom prst="rect">
            <a:avLst/>
          </a:prstGeom>
          <a:noFill/>
        </p:spPr>
        <p:txBody>
          <a:bodyPr wrap="square" lIns="0" tIns="0" rIns="0" bIns="0" anchor="t">
            <a:spAutoFit/>
          </a:bodyPr>
          <a:lstStyle/>
          <a:p>
            <a:pPr algn="l"/>
            <a:r>
              <a:rPr sz="900" b="1" i="0">
                <a:solidFill>
                  <a:srgbClr val="2DD4A7"/>
                </a:solidFill>
              </a:rPr>
              <a:t>SO WHAT</a:t>
            </a:r>
          </a:p>
        </p:txBody>
      </p:sp>
      <p:sp>
        <p:nvSpPr>
          <p:cNvPr id="42" name="TextBox 41"/>
          <p:cNvSpPr txBox="1"/>
          <p:nvPr/>
        </p:nvSpPr>
        <p:spPr>
          <a:xfrm>
            <a:off x="4389120" y="3922776"/>
            <a:ext cx="4160520" cy="667512"/>
          </a:xfrm>
          <a:prstGeom prst="rect">
            <a:avLst/>
          </a:prstGeom>
          <a:noFill/>
        </p:spPr>
        <p:txBody>
          <a:bodyPr wrap="square" lIns="0" tIns="0" rIns="0" bIns="0" anchor="t">
            <a:spAutoFit/>
          </a:bodyPr>
          <a:lstStyle/>
          <a:p>
            <a:pPr algn="l"/>
            <a:r>
              <a:rPr sz="1050" b="0" i="0">
                <a:solidFill>
                  <a:srgbClr val="F4F1EA"/>
                </a:solidFill>
              </a:rPr>
              <a:t>The size of the fall did not decide the outcome. Pre-COVID social and capital shares did not predict shock or recovery (Holm-adjusted p = 1 for every test).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8229600" cy="502920"/>
          </a:xfrm>
          <a:prstGeom prst="rect">
            <a:avLst/>
          </a:prstGeom>
          <a:noFill/>
        </p:spPr>
        <p:txBody>
          <a:bodyPr wrap="square" lIns="0" tIns="0" rIns="0" bIns="0" anchor="t">
            <a:spAutoFit/>
          </a:bodyPr>
          <a:lstStyle/>
          <a:p>
            <a:pPr algn="l"/>
            <a:r>
              <a:rPr sz="2400" b="1" i="0">
                <a:solidFill>
                  <a:srgbClr val="F4F1EA"/>
                </a:solidFill>
                <a:latin typeface="Cambria"/>
              </a:rPr>
              <a:t>Recovery had no clear geography</a:t>
            </a:r>
          </a:p>
        </p:txBody>
      </p:sp>
      <p:sp>
        <p:nvSpPr>
          <p:cNvPr id="3" name="Subtitle"/>
          <p:cNvSpPr txBox="1"/>
          <p:nvPr/>
        </p:nvSpPr>
        <p:spPr>
          <a:xfrm>
            <a:off x="457200" y="777240"/>
            <a:ext cx="8229600" cy="274320"/>
          </a:xfrm>
          <a:prstGeom prst="rect">
            <a:avLst/>
          </a:prstGeom>
          <a:noFill/>
        </p:spPr>
        <p:txBody>
          <a:bodyPr wrap="square" lIns="0" tIns="0" rIns="0" bIns="0" anchor="ctr">
            <a:spAutoFit/>
          </a:bodyPr>
          <a:lstStyle/>
          <a:p>
            <a:pPr algn="l"/>
            <a:r>
              <a:rPr sz="1300" b="0" i="0">
                <a:solidFill>
                  <a:srgbClr val="9DB5AE"/>
                </a:solidFill>
              </a:rPr>
              <a:t>2021–22 income relative to 2019–20: green above pre-COVID, red still below</a:t>
            </a:r>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35</a:t>
            </a:fld>
            <a:endParaRPr lang="en-US"/>
          </a:p>
        </p:txBody>
      </p:sp>
      <p:sp>
        <p:nvSpPr>
          <p:cNvPr id="26" name="figure panel"/>
          <p:cNvSpPr/>
          <p:nvPr/>
        </p:nvSpPr>
        <p:spPr>
          <a:xfrm>
            <a:off x="457200" y="1188720"/>
            <a:ext cx="4480560" cy="3474720"/>
          </a:xfrm>
          <a:prstGeom prst="roundRect">
            <a:avLst>
              <a:gd name="adj" fmla="val 2105"/>
            </a:avLst>
          </a:prstGeom>
          <a:solidFill>
            <a:srgbClr val="FFFFFF"/>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Map of COVID recovery by state" descr="Map of COVID recovery by state"/>
          <p:cNvPicPr>
            <a:picLocks noChangeAspect="1"/>
          </p:cNvPicPr>
          <p:nvPr/>
        </p:nvPicPr>
        <p:blipFill>
          <a:blip r:embed="rId3"/>
          <a:stretch>
            <a:fillRect/>
          </a:stretch>
        </p:blipFill>
        <p:spPr>
          <a:xfrm>
            <a:off x="556318" y="1280160"/>
            <a:ext cx="4282323" cy="3291839"/>
          </a:xfrm>
          <a:prstGeom prst="rect">
            <a:avLst/>
          </a:prstGeom>
        </p:spPr>
      </p:pic>
      <p:sp>
        <p:nvSpPr>
          <p:cNvPr id="28" name="info card"/>
          <p:cNvSpPr/>
          <p:nvPr/>
        </p:nvSpPr>
        <p:spPr>
          <a:xfrm>
            <a:off x="5166360" y="1188720"/>
            <a:ext cx="3520440" cy="1051560"/>
          </a:xfrm>
          <a:prstGeom prst="roundRect">
            <a:avLst>
              <a:gd name="adj" fmla="val 5217"/>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303520" y="1280160"/>
            <a:ext cx="3246120" cy="182880"/>
          </a:xfrm>
          <a:prstGeom prst="rect">
            <a:avLst/>
          </a:prstGeom>
          <a:noFill/>
        </p:spPr>
        <p:txBody>
          <a:bodyPr wrap="square" lIns="0" tIns="0" rIns="0" bIns="0" anchor="t">
            <a:spAutoFit/>
          </a:bodyPr>
          <a:lstStyle/>
          <a:p>
            <a:pPr algn="l"/>
            <a:r>
              <a:rPr sz="900" b="1" i="0">
                <a:solidFill>
                  <a:srgbClr val="2DD4A7"/>
                </a:solidFill>
              </a:rPr>
              <a:t>ABOVE PRE-COVID</a:t>
            </a:r>
          </a:p>
        </p:txBody>
      </p:sp>
      <p:sp>
        <p:nvSpPr>
          <p:cNvPr id="30" name="TextBox 29"/>
          <p:cNvSpPr txBox="1"/>
          <p:nvPr/>
        </p:nvSpPr>
        <p:spPr>
          <a:xfrm>
            <a:off x="5303520" y="1499616"/>
            <a:ext cx="3246120" cy="667512"/>
          </a:xfrm>
          <a:prstGeom prst="rect">
            <a:avLst/>
          </a:prstGeom>
          <a:noFill/>
        </p:spPr>
        <p:txBody>
          <a:bodyPr wrap="square" lIns="0" tIns="0" rIns="0" bIns="0" anchor="t">
            <a:spAutoFit/>
          </a:bodyPr>
          <a:lstStyle/>
          <a:p>
            <a:pPr algn="l">
              <a:spcAft>
                <a:spcPts val="200"/>
              </a:spcAft>
            </a:pPr>
            <a:r>
              <a:rPr sz="1050" b="0" i="0">
                <a:solidFill>
                  <a:srgbClr val="F4F1EA"/>
                </a:solidFill>
              </a:rPr>
              <a:t>Odisha +11.9%, Manipur +10.8%, Andhra Pradesh +7.0%, Tamil Nadu +6.5%, Karnataka +5.8%</a:t>
            </a:r>
          </a:p>
        </p:txBody>
      </p:sp>
      <p:sp>
        <p:nvSpPr>
          <p:cNvPr id="31" name="info card"/>
          <p:cNvSpPr/>
          <p:nvPr/>
        </p:nvSpPr>
        <p:spPr>
          <a:xfrm>
            <a:off x="5166360" y="2331720"/>
            <a:ext cx="3520440" cy="1051560"/>
          </a:xfrm>
          <a:prstGeom prst="roundRect">
            <a:avLst>
              <a:gd name="adj" fmla="val 5217"/>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303520" y="2423160"/>
            <a:ext cx="3246120" cy="182880"/>
          </a:xfrm>
          <a:prstGeom prst="rect">
            <a:avLst/>
          </a:prstGeom>
          <a:noFill/>
        </p:spPr>
        <p:txBody>
          <a:bodyPr wrap="square" lIns="0" tIns="0" rIns="0" bIns="0" anchor="t">
            <a:spAutoFit/>
          </a:bodyPr>
          <a:lstStyle/>
          <a:p>
            <a:pPr algn="l"/>
            <a:r>
              <a:rPr sz="900" b="1" i="0">
                <a:solidFill>
                  <a:srgbClr val="F2665B"/>
                </a:solidFill>
              </a:rPr>
              <a:t>STILL BELOW</a:t>
            </a:r>
          </a:p>
        </p:txBody>
      </p:sp>
      <p:sp>
        <p:nvSpPr>
          <p:cNvPr id="33" name="TextBox 32"/>
          <p:cNvSpPr txBox="1"/>
          <p:nvPr/>
        </p:nvSpPr>
        <p:spPr>
          <a:xfrm>
            <a:off x="5303520" y="2642615"/>
            <a:ext cx="3246120" cy="667512"/>
          </a:xfrm>
          <a:prstGeom prst="rect">
            <a:avLst/>
          </a:prstGeom>
          <a:noFill/>
        </p:spPr>
        <p:txBody>
          <a:bodyPr wrap="square" lIns="0" tIns="0" rIns="0" bIns="0" anchor="t">
            <a:spAutoFit/>
          </a:bodyPr>
          <a:lstStyle/>
          <a:p>
            <a:pPr algn="l">
              <a:spcAft>
                <a:spcPts val="200"/>
              </a:spcAft>
            </a:pPr>
            <a:r>
              <a:rPr sz="1050" b="0" i="0">
                <a:solidFill>
                  <a:srgbClr val="F4F1EA"/>
                </a:solidFill>
              </a:rPr>
              <a:t>Uttarakhand −12.6%, Puducherry −11.6%, Delhi −8.0%, Arunachal −7.2%, Bihar −7.1%</a:t>
            </a:r>
          </a:p>
        </p:txBody>
      </p:sp>
      <p:sp>
        <p:nvSpPr>
          <p:cNvPr id="34" name="so what card"/>
          <p:cNvSpPr/>
          <p:nvPr/>
        </p:nvSpPr>
        <p:spPr>
          <a:xfrm>
            <a:off x="5166360" y="3474720"/>
            <a:ext cx="3520440" cy="1188720"/>
          </a:xfrm>
          <a:prstGeom prst="roundRect">
            <a:avLst>
              <a:gd name="adj" fmla="val 4615"/>
            </a:avLst>
          </a:prstGeom>
          <a:solidFill>
            <a:srgbClr val="12362F"/>
          </a:solidFill>
          <a:ln w="9525">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303520" y="3566160"/>
            <a:ext cx="3246120" cy="182880"/>
          </a:xfrm>
          <a:prstGeom prst="rect">
            <a:avLst/>
          </a:prstGeom>
          <a:noFill/>
        </p:spPr>
        <p:txBody>
          <a:bodyPr wrap="square" lIns="0" tIns="0" rIns="0" bIns="0" anchor="t">
            <a:spAutoFit/>
          </a:bodyPr>
          <a:lstStyle/>
          <a:p>
            <a:pPr algn="l"/>
            <a:r>
              <a:rPr sz="900" b="1" i="0">
                <a:solidFill>
                  <a:srgbClr val="2DD4A7"/>
                </a:solidFill>
              </a:rPr>
              <a:t>SO WHAT</a:t>
            </a:r>
          </a:p>
        </p:txBody>
      </p:sp>
      <p:sp>
        <p:nvSpPr>
          <p:cNvPr id="36" name="TextBox 35"/>
          <p:cNvSpPr txBox="1"/>
          <p:nvPr/>
        </p:nvSpPr>
        <p:spPr>
          <a:xfrm>
            <a:off x="5303520" y="3785615"/>
            <a:ext cx="3246120" cy="804672"/>
          </a:xfrm>
          <a:prstGeom prst="rect">
            <a:avLst/>
          </a:prstGeom>
          <a:noFill/>
        </p:spPr>
        <p:txBody>
          <a:bodyPr wrap="square" lIns="0" tIns="0" rIns="0" bIns="0" anchor="t">
            <a:spAutoFit/>
          </a:bodyPr>
          <a:lstStyle/>
          <a:p>
            <a:pPr algn="l"/>
            <a:r>
              <a:rPr sz="1050" b="0" i="0">
                <a:solidFill>
                  <a:srgbClr val="F4F1EA"/>
                </a:solidFill>
              </a:rPr>
              <a:t>No fiscal predictor: pre-COVID social share, capital share and starting income do not predict who recovered (Holm-adjusted p = 1.0 for all).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57200" y="274320"/>
            <a:ext cx="8229600" cy="502920"/>
          </a:xfrm>
          <a:prstGeom prst="rect">
            <a:avLst/>
          </a:prstGeom>
          <a:noFill/>
          <a:ln/>
        </p:spPr>
        <p:txBody>
          <a:bodyPr wrap="square" lIns="0" tIns="0" rIns="0" bIns="0" rtlCol="0" anchor="t"/>
          <a:lstStyle/>
          <a:p>
            <a:pPr marL="0" indent="0">
              <a:buNone/>
            </a:pPr>
            <a:r>
              <a:rPr lang="en-US" sz="2400" b="1" dirty="0">
                <a:solidFill>
                  <a:srgbClr val="F4F1EA"/>
                </a:solidFill>
                <a:latin typeface="Cambria" pitchFamily="34" charset="0"/>
                <a:ea typeface="Cambria" pitchFamily="34" charset="-122"/>
                <a:cs typeface="Cambria" pitchFamily="34" charset="-120"/>
              </a:rPr>
              <a:t>Data quality and limitations</a:t>
            </a:r>
            <a:endParaRPr lang="en-US" sz="2400" dirty="0"/>
          </a:p>
        </p:txBody>
      </p:sp>
      <p:sp>
        <p:nvSpPr>
          <p:cNvPr id="3" name="Text 1"/>
          <p:cNvSpPr txBox="1"/>
          <p:nvPr/>
        </p:nvSpPr>
        <p:spPr>
          <a:xfrm>
            <a:off x="457200" y="777240"/>
            <a:ext cx="8229600" cy="274320"/>
          </a:xfrm>
          <a:prstGeom prst="rect">
            <a:avLst/>
          </a:prstGeom>
          <a:noFill/>
          <a:ln/>
        </p:spPr>
        <p:txBody>
          <a:bodyPr wrap="square" lIns="0" tIns="0" rIns="0" bIns="0" rtlCol="0" anchor="ctr"/>
          <a:lstStyle/>
          <a:p>
            <a:pPr marL="0" indent="0">
              <a:buNone/>
            </a:pPr>
            <a:r>
              <a:rPr lang="en-US" sz="1300" dirty="0">
                <a:solidFill>
                  <a:srgbClr val="9DB5AE"/>
                </a:solidFill>
              </a:rPr>
              <a:t>What to check before relying on the results</a:t>
            </a:r>
            <a:endParaRPr lang="en-US" sz="1300" dirty="0"/>
          </a:p>
        </p:txBody>
      </p:sp>
      <p:graphicFrame>
        <p:nvGraphicFramePr>
          <p:cNvPr id="26" name="flag table"/>
          <p:cNvGraphicFramePr>
            <a:graphicFrameLocks noGrp="1"/>
          </p:cNvGraphicFramePr>
          <p:nvPr>
            <p:extLst>
              <p:ext uri="{D42A27DB-BD31-4B8C-83A1-F6EECF244321}">
                <p14:modId xmlns:p14="http://schemas.microsoft.com/office/powerpoint/2010/main" val="1579011935"/>
              </p:ext>
            </p:extLst>
          </p:nvPr>
        </p:nvGraphicFramePr>
        <p:xfrm>
          <a:off x="457200" y="1188720"/>
          <a:ext cx="4206240" cy="1920240"/>
        </p:xfrm>
        <a:graphic>
          <a:graphicData uri="http://schemas.openxmlformats.org/drawingml/2006/table">
            <a:tbl>
              <a:tblPr/>
              <a:tblGrid>
                <a:gridCol w="20116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84048">
                <a:tc>
                  <a:txBody>
                    <a:bodyPr/>
                    <a:lstStyle/>
                    <a:p>
                      <a:pPr marL="0" indent="0">
                        <a:buNone/>
                      </a:pPr>
                      <a:r>
                        <a:rPr lang="en-US" sz="1100" b="1" dirty="0">
                          <a:solidFill>
                            <a:srgbClr val="0F1C1A"/>
                          </a:solidFill>
                        </a:rPr>
                        <a:t>Flagged liabilities, 2014-15</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F5B83D"/>
                    </a:solidFill>
                  </a:tcPr>
                </a:tc>
                <a:tc>
                  <a:txBody>
                    <a:bodyPr/>
                    <a:lstStyle/>
                    <a:p>
                      <a:pPr marL="0" indent="0">
                        <a:buNone/>
                      </a:pPr>
                      <a:r>
                        <a:rPr lang="en-US" sz="1100" b="1" dirty="0">
                          <a:solidFill>
                            <a:srgbClr val="0F1C1A"/>
                          </a:solidFill>
                        </a:rPr>
                        <a:t>Ratio</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F5B83D"/>
                    </a:solidFill>
                  </a:tcPr>
                </a:tc>
                <a:tc>
                  <a:txBody>
                    <a:bodyPr/>
                    <a:lstStyle/>
                    <a:p>
                      <a:pPr marL="0" indent="0">
                        <a:buNone/>
                      </a:pPr>
                      <a:r>
                        <a:rPr lang="en-US" sz="1100" b="1" dirty="0">
                          <a:solidFill>
                            <a:srgbClr val="0F1C1A"/>
                          </a:solidFill>
                        </a:rPr>
                        <a:t>vs median</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F5B83D"/>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F4F1EA"/>
                          </a:solidFill>
                        </a:rPr>
                        <a:t>Tripura</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2.46</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2665B"/>
                          </a:solidFill>
                        </a:rPr>
                        <a:t>7.2x</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rgbClr val="F4F1EA"/>
                          </a:solidFill>
                        </a:rPr>
                        <a:t>Uttarakhand</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1.95</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2665B"/>
                          </a:solidFill>
                        </a:rPr>
                        <a:t>8.1x</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rgbClr val="F4F1EA"/>
                          </a:solidFill>
                        </a:rPr>
                        <a:t>Puducherry</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1.44</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2665B"/>
                          </a:solidFill>
                        </a:rPr>
                        <a:t>4.9x</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3"/>
                  </a:ext>
                </a:extLst>
              </a:tr>
              <a:tr h="384048">
                <a:tc>
                  <a:txBody>
                    <a:bodyPr/>
                    <a:lstStyle/>
                    <a:p>
                      <a:pPr marL="0" indent="0">
                        <a:buNone/>
                      </a:pPr>
                      <a:r>
                        <a:rPr lang="en-US" sz="1100" dirty="0">
                          <a:solidFill>
                            <a:srgbClr val="F4F1EA"/>
                          </a:solidFill>
                        </a:rPr>
                        <a:t>Delhi</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4F1EA"/>
                          </a:solidFill>
                        </a:rPr>
                        <a:t>0.56</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tc>
                  <a:txBody>
                    <a:bodyPr/>
                    <a:lstStyle/>
                    <a:p>
                      <a:pPr marL="0" indent="0">
                        <a:buNone/>
                      </a:pPr>
                      <a:r>
                        <a:rPr lang="en-US" sz="1100" dirty="0">
                          <a:solidFill>
                            <a:srgbClr val="F2665B"/>
                          </a:solidFill>
                        </a:rPr>
                        <a:t>10.4x</a:t>
                      </a:r>
                      <a:endParaRPr lang="en-US" sz="1100" dirty="0"/>
                    </a:p>
                  </a:txBody>
                  <a:tcPr marT="36576" marB="36576">
                    <a:lnL w="9525" cap="flat" cmpd="sng" algn="ctr">
                      <a:solidFill>
                        <a:srgbClr val="2A4540"/>
                      </a:solidFill>
                      <a:prstDash val="solid"/>
                      <a:round/>
                      <a:headEnd type="none" w="med" len="med"/>
                      <a:tailEnd type="none" w="med" len="med"/>
                    </a:lnL>
                    <a:lnR w="9525" cap="flat" cmpd="sng" algn="ctr">
                      <a:solidFill>
                        <a:srgbClr val="2A4540"/>
                      </a:solidFill>
                      <a:prstDash val="solid"/>
                      <a:round/>
                      <a:headEnd type="none" w="med" len="med"/>
                      <a:tailEnd type="none" w="med" len="med"/>
                    </a:lnR>
                    <a:lnT w="9525" cap="flat" cmpd="sng" algn="ctr">
                      <a:solidFill>
                        <a:srgbClr val="2A4540"/>
                      </a:solidFill>
                      <a:prstDash val="solid"/>
                      <a:round/>
                      <a:headEnd type="none" w="med" len="med"/>
                      <a:tailEnd type="none" w="med" len="med"/>
                    </a:lnT>
                    <a:lnB w="9525" cap="flat" cmpd="sng" algn="ctr">
                      <a:solidFill>
                        <a:srgbClr val="2A4540"/>
                      </a:solidFill>
                      <a:prstDash val="solid"/>
                      <a:round/>
                      <a:headEnd type="none" w="med" len="med"/>
                      <a:tailEnd type="none" w="med" len="med"/>
                    </a:lnB>
                    <a:solidFill>
                      <a:srgbClr val="172B27"/>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457200" y="3246120"/>
            <a:ext cx="4206240" cy="640080"/>
          </a:xfrm>
          <a:prstGeom prst="rect">
            <a:avLst/>
          </a:prstGeom>
          <a:noFill/>
          <a:ln/>
        </p:spPr>
        <p:txBody>
          <a:bodyPr wrap="square" lIns="0" tIns="0" rIns="0" bIns="0" rtlCol="0" anchor="t"/>
          <a:lstStyle/>
          <a:p>
            <a:pPr marL="0" indent="0">
              <a:buNone/>
            </a:pPr>
            <a:r>
              <a:rPr lang="en-US" sz="1200" dirty="0">
                <a:solidFill>
                  <a:srgbClr val="9DB5AE"/>
                </a:solidFill>
              </a:rPr>
              <a:t>Delhi's ratio falls from 0.56 to 0.005 within three years: a level break, not a real change.</a:t>
            </a:r>
            <a:endParaRPr lang="en-US" sz="1200" dirty="0"/>
          </a:p>
        </p:txBody>
      </p:sp>
      <p:sp>
        <p:nvSpPr>
          <p:cNvPr id="6" name="limit card"/>
          <p:cNvSpPr/>
          <p:nvPr/>
        </p:nvSpPr>
        <p:spPr>
          <a:xfrm>
            <a:off x="4846320" y="1188720"/>
            <a:ext cx="3840480" cy="3474720"/>
          </a:xfrm>
          <a:prstGeom prst="roundRect">
            <a:avLst>
              <a:gd name="adj" fmla="val 2105"/>
            </a:avLst>
          </a:prstGeom>
          <a:solidFill>
            <a:srgbClr val="172B27"/>
          </a:solidFill>
          <a:ln w="9525">
            <a:solidFill>
              <a:srgbClr val="2A4540"/>
            </a:solidFill>
            <a:prstDash val="solid"/>
          </a:ln>
        </p:spPr>
      </p:sp>
      <p:sp>
        <p:nvSpPr>
          <p:cNvPr id="7" name="Text 4"/>
          <p:cNvSpPr txBox="1"/>
          <p:nvPr/>
        </p:nvSpPr>
        <p:spPr>
          <a:xfrm>
            <a:off x="5029200" y="1325880"/>
            <a:ext cx="3474720" cy="320040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F4F1EA"/>
                </a:solidFill>
              </a:rPr>
              <a:t>Assam, Haryana, Nagaland: no verified denominator.</a:t>
            </a:r>
            <a:endParaRPr lang="en-US" sz="1300" dirty="0"/>
          </a:p>
          <a:p>
            <a:pPr marL="342900" indent="-342900">
              <a:spcAft>
                <a:spcPts val="700"/>
              </a:spcAft>
              <a:buSzPct val="100000"/>
              <a:buChar char="•"/>
            </a:pPr>
            <a:r>
              <a:rPr lang="en-US" sz="1300" dirty="0">
                <a:solidFill>
                  <a:srgbClr val="F4F1EA"/>
                </a:solidFill>
              </a:rPr>
              <a:t>J&amp;K series changes in 2019 (Ladakh separated).</a:t>
            </a:r>
            <a:endParaRPr lang="en-US" sz="1300" dirty="0"/>
          </a:p>
          <a:p>
            <a:pPr marL="342900" indent="-342900">
              <a:spcAft>
                <a:spcPts val="700"/>
              </a:spcAft>
              <a:buSzPct val="100000"/>
              <a:buChar char="•"/>
            </a:pPr>
            <a:r>
              <a:rPr lang="en-US" sz="1300" dirty="0">
                <a:solidFill>
                  <a:srgbClr val="F4F1EA"/>
                </a:solidFill>
              </a:rPr>
              <a:t>Short 11-year observational panel.</a:t>
            </a:r>
            <a:endParaRPr lang="en-US" sz="1300" dirty="0"/>
          </a:p>
          <a:p>
            <a:pPr marL="342900" indent="-342900">
              <a:spcAft>
                <a:spcPts val="700"/>
              </a:spcAft>
              <a:buSzPct val="100000"/>
              <a:buChar char="•"/>
            </a:pPr>
            <a:r>
              <a:rPr lang="en-US" sz="1300" dirty="0">
                <a:solidFill>
                  <a:srgbClr val="F4F1EA"/>
                </a:solidFill>
              </a:rPr>
              <a:t>Associations, not causal effects.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8229600" cy="502920"/>
          </a:xfrm>
          <a:prstGeom prst="rect">
            <a:avLst/>
          </a:prstGeom>
          <a:noFill/>
        </p:spPr>
        <p:txBody>
          <a:bodyPr wrap="square" lIns="0" tIns="0" rIns="0" bIns="0" anchor="t">
            <a:spAutoFit/>
          </a:bodyPr>
          <a:lstStyle/>
          <a:p>
            <a:pPr algn="l"/>
            <a:r>
              <a:rPr sz="2400" b="1" i="0">
                <a:solidFill>
                  <a:srgbClr val="F4F1EA"/>
                </a:solidFill>
                <a:latin typeface="Cambria"/>
              </a:rPr>
              <a:t>One fiscal signal survives every test</a:t>
            </a:r>
          </a:p>
        </p:txBody>
      </p:sp>
      <p:sp>
        <p:nvSpPr>
          <p:cNvPr id="3" name="Subtitle"/>
          <p:cNvSpPr txBox="1"/>
          <p:nvPr/>
        </p:nvSpPr>
        <p:spPr>
          <a:xfrm>
            <a:off x="457200" y="777240"/>
            <a:ext cx="8229600" cy="274320"/>
          </a:xfrm>
          <a:prstGeom prst="rect">
            <a:avLst/>
          </a:prstGeom>
          <a:noFill/>
        </p:spPr>
        <p:txBody>
          <a:bodyPr wrap="square" lIns="0" tIns="0" rIns="0" bIns="0" anchor="ctr">
            <a:spAutoFit/>
          </a:bodyPr>
          <a:lstStyle/>
          <a:p>
            <a:pPr algn="l"/>
            <a:r>
              <a:rPr sz="1300" b="0" i="0">
                <a:solidFill>
                  <a:srgbClr val="9DB5AE"/>
                </a:solidFill>
              </a:rPr>
              <a:t>The answer in one slide</a:t>
            </a:r>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37</a:t>
            </a:fld>
            <a:endParaRPr lang="en-US"/>
          </a:p>
        </p:txBody>
      </p:sp>
      <p:sp>
        <p:nvSpPr>
          <p:cNvPr id="26" name="headline card"/>
          <p:cNvSpPr/>
          <p:nvPr/>
        </p:nvSpPr>
        <p:spPr>
          <a:xfrm>
            <a:off x="457200" y="1188720"/>
            <a:ext cx="2743200" cy="3474720"/>
          </a:xfrm>
          <a:prstGeom prst="roundRect">
            <a:avLst>
              <a:gd name="adj" fmla="val 2000"/>
            </a:avLst>
          </a:prstGeom>
          <a:solidFill>
            <a:srgbClr val="12362F"/>
          </a:solidFill>
          <a:ln w="9525">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1371600"/>
            <a:ext cx="2377440" cy="822960"/>
          </a:xfrm>
          <a:prstGeom prst="rect">
            <a:avLst/>
          </a:prstGeom>
          <a:noFill/>
        </p:spPr>
        <p:txBody>
          <a:bodyPr wrap="square" lIns="0" tIns="0" rIns="0" bIns="0" anchor="ctr">
            <a:spAutoFit/>
          </a:bodyPr>
          <a:lstStyle/>
          <a:p>
            <a:pPr algn="l"/>
            <a:r>
              <a:rPr sz="4000" b="1" i="0">
                <a:solidFill>
                  <a:srgbClr val="F5B83D"/>
                </a:solidFill>
                <a:latin typeface="Cambria"/>
              </a:rPr>
              <a:t>−1.223</a:t>
            </a:r>
          </a:p>
        </p:txBody>
      </p:sp>
      <p:sp>
        <p:nvSpPr>
          <p:cNvPr id="28" name="TextBox 27"/>
          <p:cNvSpPr txBox="1"/>
          <p:nvPr/>
        </p:nvSpPr>
        <p:spPr>
          <a:xfrm>
            <a:off x="640080" y="2286000"/>
            <a:ext cx="2377440" cy="640080"/>
          </a:xfrm>
          <a:prstGeom prst="rect">
            <a:avLst/>
          </a:prstGeom>
          <a:noFill/>
        </p:spPr>
        <p:txBody>
          <a:bodyPr wrap="square" lIns="0" tIns="0" rIns="0" bIns="0" anchor="t">
            <a:spAutoFit/>
          </a:bodyPr>
          <a:lstStyle/>
          <a:p>
            <a:pPr algn="l"/>
            <a:r>
              <a:rPr sz="1200" b="1" i="0">
                <a:solidFill>
                  <a:srgbClr val="F4F1EA"/>
                </a:solidFill>
              </a:rPr>
              <a:t>Revenue expenditure / GSDP → log per-capita NSDP</a:t>
            </a:r>
          </a:p>
        </p:txBody>
      </p:sp>
      <p:sp>
        <p:nvSpPr>
          <p:cNvPr id="29" name="TextBox 28"/>
          <p:cNvSpPr txBox="1"/>
          <p:nvPr/>
        </p:nvSpPr>
        <p:spPr>
          <a:xfrm>
            <a:off x="640080" y="3017520"/>
            <a:ext cx="2377440" cy="457200"/>
          </a:xfrm>
          <a:prstGeom prst="rect">
            <a:avLst/>
          </a:prstGeom>
          <a:noFill/>
        </p:spPr>
        <p:txBody>
          <a:bodyPr wrap="square" lIns="0" tIns="0" rIns="0" bIns="0" anchor="t">
            <a:spAutoFit/>
          </a:bodyPr>
          <a:lstStyle/>
          <a:p>
            <a:pPr algn="l"/>
            <a:r>
              <a:rPr sz="1050" b="0" i="0">
                <a:solidFill>
                  <a:srgbClr val="9DB5AE"/>
                </a:solidFill>
              </a:rPr>
              <a:t>Main specification, random effects. SE 0.364 · p = 0.002 · n = 304, 28 states</a:t>
            </a:r>
          </a:p>
        </p:txBody>
      </p:sp>
      <p:sp>
        <p:nvSpPr>
          <p:cNvPr id="30" name="TextBox 29"/>
          <p:cNvSpPr txBox="1"/>
          <p:nvPr/>
        </p:nvSpPr>
        <p:spPr>
          <a:xfrm>
            <a:off x="640080" y="3840480"/>
            <a:ext cx="2377440" cy="640080"/>
          </a:xfrm>
          <a:prstGeom prst="rect">
            <a:avLst/>
          </a:prstGeom>
          <a:noFill/>
        </p:spPr>
        <p:txBody>
          <a:bodyPr wrap="square" lIns="0" tIns="0" rIns="0" bIns="0" anchor="t">
            <a:spAutoFit/>
          </a:bodyPr>
          <a:lstStyle/>
          <a:p>
            <a:pPr algn="l"/>
            <a:r>
              <a:rPr sz="1200" b="1" i="0">
                <a:solidFill>
                  <a:srgbClr val="2DD4A7"/>
                </a:solidFill>
              </a:rPr>
              <a:t>Significant in 7 of 7 robustness variants</a:t>
            </a:r>
          </a:p>
        </p:txBody>
      </p:sp>
      <p:sp>
        <p:nvSpPr>
          <p:cNvPr id="31" name="finding card"/>
          <p:cNvSpPr/>
          <p:nvPr/>
        </p:nvSpPr>
        <p:spPr>
          <a:xfrm>
            <a:off x="3383280" y="1188720"/>
            <a:ext cx="5303520" cy="1097280"/>
          </a:xfrm>
          <a:prstGeom prst="roundRect">
            <a:avLst>
              <a:gd name="adj" fmla="val 5000"/>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finding marker"/>
          <p:cNvSpPr/>
          <p:nvPr/>
        </p:nvSpPr>
        <p:spPr>
          <a:xfrm>
            <a:off x="3520440" y="1325880"/>
            <a:ext cx="384048" cy="384048"/>
          </a:xfrm>
          <a:prstGeom prst="ellipse">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520440" y="1325880"/>
            <a:ext cx="384048" cy="384048"/>
          </a:xfrm>
          <a:prstGeom prst="rect">
            <a:avLst/>
          </a:prstGeom>
          <a:noFill/>
        </p:spPr>
        <p:txBody>
          <a:bodyPr wrap="square" lIns="0" tIns="0" rIns="0" bIns="0" anchor="ctr">
            <a:spAutoFit/>
          </a:bodyPr>
          <a:lstStyle/>
          <a:p>
            <a:pPr algn="ctr"/>
            <a:r>
              <a:rPr sz="1100" b="1" i="0">
                <a:solidFill>
                  <a:srgbClr val="0F1C1A"/>
                </a:solidFill>
              </a:rPr>
              <a:t>01</a:t>
            </a:r>
          </a:p>
        </p:txBody>
      </p:sp>
      <p:sp>
        <p:nvSpPr>
          <p:cNvPr id="34" name="TextBox 33"/>
          <p:cNvSpPr txBox="1"/>
          <p:nvPr/>
        </p:nvSpPr>
        <p:spPr>
          <a:xfrm>
            <a:off x="4069080" y="1280160"/>
            <a:ext cx="4480560" cy="256032"/>
          </a:xfrm>
          <a:prstGeom prst="rect">
            <a:avLst/>
          </a:prstGeom>
          <a:noFill/>
        </p:spPr>
        <p:txBody>
          <a:bodyPr wrap="square" lIns="0" tIns="0" rIns="0" bIns="0" anchor="t">
            <a:spAutoFit/>
          </a:bodyPr>
          <a:lstStyle/>
          <a:p>
            <a:pPr algn="l"/>
            <a:r>
              <a:rPr sz="1250" b="1" i="0">
                <a:solidFill>
                  <a:srgbClr val="F4F1EA"/>
                </a:solidFill>
              </a:rPr>
              <a:t>Income gaps are wide, and not closing</a:t>
            </a:r>
          </a:p>
        </p:txBody>
      </p:sp>
      <p:sp>
        <p:nvSpPr>
          <p:cNvPr id="35" name="TextBox 34"/>
          <p:cNvSpPr txBox="1"/>
          <p:nvPr/>
        </p:nvSpPr>
        <p:spPr>
          <a:xfrm>
            <a:off x="4069080" y="1572768"/>
            <a:ext cx="4480560" cy="685800"/>
          </a:xfrm>
          <a:prstGeom prst="rect">
            <a:avLst/>
          </a:prstGeom>
          <a:noFill/>
        </p:spPr>
        <p:txBody>
          <a:bodyPr wrap="square" lIns="0" tIns="0" rIns="0" bIns="0" anchor="t">
            <a:spAutoFit/>
          </a:bodyPr>
          <a:lstStyle/>
          <a:p>
            <a:pPr algn="l"/>
            <a:r>
              <a:rPr sz="1050" b="0" i="0">
                <a:solidFill>
                  <a:srgbClr val="9DB5AE"/>
                </a:solidFill>
              </a:rPr>
              <a:t>Goa's per-capita income is 10.6× Bihar's in 2021–22. Dispersion rose after 2013–14; the beta-convergence test finds no catch-up (p = 0.81).</a:t>
            </a:r>
          </a:p>
        </p:txBody>
      </p:sp>
      <p:sp>
        <p:nvSpPr>
          <p:cNvPr id="36" name="finding card"/>
          <p:cNvSpPr/>
          <p:nvPr/>
        </p:nvSpPr>
        <p:spPr>
          <a:xfrm>
            <a:off x="3383280" y="2377440"/>
            <a:ext cx="5303520" cy="1097280"/>
          </a:xfrm>
          <a:prstGeom prst="roundRect">
            <a:avLst>
              <a:gd name="adj" fmla="val 5000"/>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finding marker"/>
          <p:cNvSpPr/>
          <p:nvPr/>
        </p:nvSpPr>
        <p:spPr>
          <a:xfrm>
            <a:off x="3520440" y="2514600"/>
            <a:ext cx="384048" cy="384048"/>
          </a:xfrm>
          <a:prstGeom prst="ellipse">
            <a:avLst/>
          </a:prstGeom>
          <a:solidFill>
            <a:srgbClr val="F5B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520440" y="2514600"/>
            <a:ext cx="384048" cy="384048"/>
          </a:xfrm>
          <a:prstGeom prst="rect">
            <a:avLst/>
          </a:prstGeom>
          <a:noFill/>
        </p:spPr>
        <p:txBody>
          <a:bodyPr wrap="square" lIns="0" tIns="0" rIns="0" bIns="0" anchor="ctr">
            <a:spAutoFit/>
          </a:bodyPr>
          <a:lstStyle/>
          <a:p>
            <a:pPr algn="ctr"/>
            <a:r>
              <a:rPr sz="1100" b="1" i="0">
                <a:solidFill>
                  <a:srgbClr val="0F1C1A"/>
                </a:solidFill>
              </a:rPr>
              <a:t>02</a:t>
            </a:r>
          </a:p>
        </p:txBody>
      </p:sp>
      <p:sp>
        <p:nvSpPr>
          <p:cNvPr id="39" name="TextBox 38"/>
          <p:cNvSpPr txBox="1"/>
          <p:nvPr/>
        </p:nvSpPr>
        <p:spPr>
          <a:xfrm>
            <a:off x="4069080" y="2468880"/>
            <a:ext cx="4480560" cy="256032"/>
          </a:xfrm>
          <a:prstGeom prst="rect">
            <a:avLst/>
          </a:prstGeom>
          <a:noFill/>
        </p:spPr>
        <p:txBody>
          <a:bodyPr wrap="square" lIns="0" tIns="0" rIns="0" bIns="0" anchor="t">
            <a:spAutoFit/>
          </a:bodyPr>
          <a:lstStyle/>
          <a:p>
            <a:pPr algn="l"/>
            <a:r>
              <a:rPr sz="1250" b="1" i="0">
                <a:solidFill>
                  <a:srgbClr val="F4F1EA"/>
                </a:solidFill>
              </a:rPr>
              <a:t>Higher revenue-spending ratios go with lower income</a:t>
            </a:r>
          </a:p>
        </p:txBody>
      </p:sp>
      <p:sp>
        <p:nvSpPr>
          <p:cNvPr id="40" name="TextBox 39"/>
          <p:cNvSpPr txBox="1"/>
          <p:nvPr/>
        </p:nvSpPr>
        <p:spPr>
          <a:xfrm>
            <a:off x="4069080" y="2761488"/>
            <a:ext cx="4480560" cy="685800"/>
          </a:xfrm>
          <a:prstGeom prst="rect">
            <a:avLst/>
          </a:prstGeom>
          <a:noFill/>
        </p:spPr>
        <p:txBody>
          <a:bodyPr wrap="square" lIns="0" tIns="0" rIns="0" bIns="0" anchor="t">
            <a:spAutoFit/>
          </a:bodyPr>
          <a:lstStyle/>
          <a:p>
            <a:pPr algn="l"/>
            <a:r>
              <a:rPr sz="1050" b="0" i="0">
                <a:solidFill>
                  <a:srgbClr val="9DB5AE"/>
                </a:solidFill>
              </a:rPr>
              <a:t>The link holds under every estimator and sample cut. The mechanism test shows it is driven by GSDP growth in the denominator, not by spending itself.</a:t>
            </a:r>
          </a:p>
        </p:txBody>
      </p:sp>
      <p:sp>
        <p:nvSpPr>
          <p:cNvPr id="41" name="finding card"/>
          <p:cNvSpPr/>
          <p:nvPr/>
        </p:nvSpPr>
        <p:spPr>
          <a:xfrm>
            <a:off x="3383280" y="3566160"/>
            <a:ext cx="5303520" cy="1097280"/>
          </a:xfrm>
          <a:prstGeom prst="roundRect">
            <a:avLst>
              <a:gd name="adj" fmla="val 5000"/>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finding marker"/>
          <p:cNvSpPr/>
          <p:nvPr/>
        </p:nvSpPr>
        <p:spPr>
          <a:xfrm>
            <a:off x="3520440" y="3703320"/>
            <a:ext cx="384048" cy="384048"/>
          </a:xfrm>
          <a:prstGeom prst="ellipse">
            <a:avLst/>
          </a:prstGeom>
          <a:solidFill>
            <a:srgbClr val="B79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520440" y="3703320"/>
            <a:ext cx="384048" cy="384048"/>
          </a:xfrm>
          <a:prstGeom prst="rect">
            <a:avLst/>
          </a:prstGeom>
          <a:noFill/>
        </p:spPr>
        <p:txBody>
          <a:bodyPr wrap="square" lIns="0" tIns="0" rIns="0" bIns="0" anchor="ctr">
            <a:spAutoFit/>
          </a:bodyPr>
          <a:lstStyle/>
          <a:p>
            <a:pPr algn="ctr"/>
            <a:r>
              <a:rPr sz="1100" b="1" i="0">
                <a:solidFill>
                  <a:srgbClr val="0F1C1A"/>
                </a:solidFill>
              </a:rPr>
              <a:t>03</a:t>
            </a:r>
          </a:p>
        </p:txBody>
      </p:sp>
      <p:sp>
        <p:nvSpPr>
          <p:cNvPr id="44" name="TextBox 43"/>
          <p:cNvSpPr txBox="1"/>
          <p:nvPr/>
        </p:nvSpPr>
        <p:spPr>
          <a:xfrm>
            <a:off x="4069080" y="3657600"/>
            <a:ext cx="4480560" cy="256032"/>
          </a:xfrm>
          <a:prstGeom prst="rect">
            <a:avLst/>
          </a:prstGeom>
          <a:noFill/>
        </p:spPr>
        <p:txBody>
          <a:bodyPr wrap="square" lIns="0" tIns="0" rIns="0" bIns="0" anchor="t">
            <a:spAutoFit/>
          </a:bodyPr>
          <a:lstStyle/>
          <a:p>
            <a:pPr algn="l"/>
            <a:r>
              <a:rPr sz="1250" b="1" i="0">
                <a:solidFill>
                  <a:srgbClr val="F4F1EA"/>
                </a:solidFill>
              </a:rPr>
              <a:t>COVID hit everyone, recovery split states</a:t>
            </a:r>
          </a:p>
        </p:txBody>
      </p:sp>
      <p:sp>
        <p:nvSpPr>
          <p:cNvPr id="45" name="TextBox 44"/>
          <p:cNvSpPr txBox="1"/>
          <p:nvPr/>
        </p:nvSpPr>
        <p:spPr>
          <a:xfrm>
            <a:off x="4069080" y="3950208"/>
            <a:ext cx="4480560" cy="685800"/>
          </a:xfrm>
          <a:prstGeom prst="rect">
            <a:avLst/>
          </a:prstGeom>
          <a:noFill/>
        </p:spPr>
        <p:txBody>
          <a:bodyPr wrap="square" lIns="0" tIns="0" rIns="0" bIns="0" anchor="t">
            <a:spAutoFit/>
          </a:bodyPr>
          <a:lstStyle/>
          <a:p>
            <a:pPr algn="l"/>
            <a:r>
              <a:rPr sz="1050" b="0" i="0">
                <a:solidFill>
                  <a:srgbClr val="9DB5AE"/>
                </a:solidFill>
              </a:rPr>
              <a:t>Median fiscal deficit jumped to 4.3% of GSDP in 2020–21. Odisha ended 11.9% above its pre-COVID level; Uttarakhand 12.6% below.</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icker"/>
          <p:cNvSpPr txBox="1"/>
          <p:nvPr/>
        </p:nvSpPr>
        <p:spPr>
          <a:xfrm>
            <a:off x="457200" y="292608"/>
            <a:ext cx="8229600" cy="228600"/>
          </a:xfrm>
          <a:prstGeom prst="rect">
            <a:avLst/>
          </a:prstGeom>
          <a:noFill/>
        </p:spPr>
        <p:txBody>
          <a:bodyPr wrap="square" lIns="0" rIns="0" tIns="0" bIns="0" anchor="t">
            <a:spAutoFit/>
          </a:bodyPr>
          <a:lstStyle/>
          <a:p>
            <a:pPr algn="l">
              <a:spcAft>
                <a:spcPts val="200"/>
              </a:spcAft>
            </a:pPr>
            <a:r>
              <a:rPr sz="1000" b="1">
                <a:solidFill>
                  <a:srgbClr val="2DD4A7"/>
                </a:solidFill>
              </a:rPr>
              <a:t>CONCLUSION</a:t>
            </a:r>
          </a:p>
        </p:txBody>
      </p:sp>
      <p:sp>
        <p:nvSpPr>
          <p:cNvPr id="3" name="Title"/>
          <p:cNvSpPr txBox="1"/>
          <p:nvPr/>
        </p:nvSpPr>
        <p:spPr>
          <a:xfrm>
            <a:off x="457200" y="530352"/>
            <a:ext cx="8229600" cy="548640"/>
          </a:xfrm>
          <a:prstGeom prst="rect">
            <a:avLst/>
          </a:prstGeom>
          <a:noFill/>
        </p:spPr>
        <p:txBody>
          <a:bodyPr wrap="square" lIns="0" rIns="0" tIns="0" bIns="0" anchor="t">
            <a:spAutoFit/>
          </a:bodyPr>
          <a:lstStyle/>
          <a:p>
            <a:pPr algn="l">
              <a:spcAft>
                <a:spcPts val="200"/>
              </a:spcAft>
            </a:pPr>
            <a:r>
              <a:rPr sz="2200" b="1">
                <a:solidFill>
                  <a:srgbClr val="F4F1EA"/>
                </a:solidFill>
                <a:latin typeface="Cambria"/>
              </a:rPr>
              <a:t>Only spending size tracks income, and growth drives it</a:t>
            </a:r>
          </a:p>
        </p:txBody>
      </p:sp>
      <p:sp>
        <p:nvSpPr>
          <p:cNvPr id="4" name="Answer strip"/>
          <p:cNvSpPr/>
          <p:nvPr/>
        </p:nvSpPr>
        <p:spPr>
          <a:xfrm>
            <a:off x="457200" y="1143000"/>
            <a:ext cx="8229600" cy="566928"/>
          </a:xfrm>
          <a:prstGeom prst="roundRect">
            <a:avLst>
              <a:gd name="adj" fmla="val 6000"/>
            </a:avLst>
          </a:prstGeom>
          <a:solidFill>
            <a:srgbClr val="132421"/>
          </a:solidFill>
          <a:ln w="15875">
            <a:solidFill>
              <a:srgbClr val="2DD4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swer text"/>
          <p:cNvSpPr txBox="1"/>
          <p:nvPr/>
        </p:nvSpPr>
        <p:spPr>
          <a:xfrm>
            <a:off x="621792" y="1143000"/>
            <a:ext cx="7909560" cy="566928"/>
          </a:xfrm>
          <a:prstGeom prst="rect">
            <a:avLst/>
          </a:prstGeom>
          <a:noFill/>
        </p:spPr>
        <p:txBody>
          <a:bodyPr wrap="square" lIns="0" rIns="0" tIns="0" bIns="0" anchor="ctr">
            <a:spAutoFit/>
          </a:bodyPr>
          <a:lstStyle/>
          <a:p>
            <a:pPr algn="l">
              <a:spcAft>
                <a:spcPts val="200"/>
              </a:spcAft>
            </a:pPr>
            <a:r>
              <a:rPr sz="1150" b="1">
                <a:solidFill>
                  <a:srgbClr val="2DD4A7"/>
                </a:solidFill>
              </a:rPr>
              <a:t>Answer to the research question: </a:t>
            </a:r>
            <a:r>
              <a:rPr sz="1150" b="0">
                <a:solidFill>
                  <a:srgbClr val="F4F1EA"/>
                </a:solidFill>
              </a:rPr>
              <a:t>within states, only spending relative to GSDP is robustly associated with income, and negatively. The link reflects fast-growing economies outgrowing their budgets, not spending lowering income.</a:t>
            </a:r>
          </a:p>
        </p:txBody>
      </p:sp>
      <p:sp>
        <p:nvSpPr>
          <p:cNvPr id="6" name="Objectives card"/>
          <p:cNvSpPr/>
          <p:nvPr/>
        </p:nvSpPr>
        <p:spPr>
          <a:xfrm>
            <a:off x="457200" y="1847088"/>
            <a:ext cx="4617720" cy="2514600"/>
          </a:xfrm>
          <a:prstGeom prst="roundRect">
            <a:avLst>
              <a:gd name="adj" fmla="val 6000"/>
            </a:avLst>
          </a:prstGeom>
          <a:solidFill>
            <a:srgbClr val="172B27"/>
          </a:solidFill>
          <a:ln w="12700">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bjectives label"/>
          <p:cNvSpPr txBox="1"/>
          <p:nvPr/>
        </p:nvSpPr>
        <p:spPr>
          <a:xfrm>
            <a:off x="621792" y="1947672"/>
            <a:ext cx="4297680" cy="228600"/>
          </a:xfrm>
          <a:prstGeom prst="rect">
            <a:avLst/>
          </a:prstGeom>
          <a:noFill/>
        </p:spPr>
        <p:txBody>
          <a:bodyPr wrap="square" lIns="0" rIns="0" tIns="0" bIns="0" anchor="t">
            <a:spAutoFit/>
          </a:bodyPr>
          <a:lstStyle/>
          <a:p>
            <a:pPr algn="l">
              <a:spcAft>
                <a:spcPts val="200"/>
              </a:spcAft>
            </a:pPr>
            <a:r>
              <a:rPr sz="950" b="1">
                <a:solidFill>
                  <a:srgbClr val="9DB5AE"/>
                </a:solidFill>
              </a:rPr>
              <a:t>WHAT EACH OBJECTIVE FOUND</a:t>
            </a:r>
          </a:p>
        </p:txBody>
      </p:sp>
      <p:sp>
        <p:nvSpPr>
          <p:cNvPr id="8" name="Obj badge 1"/>
          <p:cNvSpPr/>
          <p:nvPr/>
        </p:nvSpPr>
        <p:spPr>
          <a:xfrm>
            <a:off x="621792" y="2267712"/>
            <a:ext cx="274320" cy="274320"/>
          </a:xfrm>
          <a:prstGeom prst="ellipse">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0F1C1A"/>
                </a:solidFill>
              </a:rPr>
              <a:t>1</a:t>
            </a:r>
          </a:p>
        </p:txBody>
      </p:sp>
      <p:sp>
        <p:nvSpPr>
          <p:cNvPr id="9" name="Obj text 1"/>
          <p:cNvSpPr txBox="1"/>
          <p:nvPr/>
        </p:nvSpPr>
        <p:spPr>
          <a:xfrm>
            <a:off x="1005840" y="2240280"/>
            <a:ext cx="3931920" cy="384048"/>
          </a:xfrm>
          <a:prstGeom prst="rect">
            <a:avLst/>
          </a:prstGeom>
          <a:noFill/>
        </p:spPr>
        <p:txBody>
          <a:bodyPr wrap="square" lIns="0" rIns="0" tIns="0" bIns="0" anchor="ctr">
            <a:spAutoFit/>
          </a:bodyPr>
          <a:lstStyle/>
          <a:p>
            <a:pPr algn="l">
              <a:spcAft>
                <a:spcPts val="200"/>
              </a:spcAft>
            </a:pPr>
            <a:r>
              <a:rPr sz="1050" b="1">
                <a:solidFill>
                  <a:srgbClr val="F4F1EA"/>
                </a:solidFill>
              </a:rPr>
              <a:t>Describe: </a:t>
            </a:r>
            <a:r>
              <a:rPr sz="1050" b="0">
                <a:solidFill>
                  <a:srgbClr val="F4F1EA"/>
                </a:solidFill>
              </a:rPr>
              <a:t>Goa earns 10.6× Bihar; poorer states are not catching up (β = +0.137, p = 0.81)</a:t>
            </a:r>
          </a:p>
        </p:txBody>
      </p:sp>
      <p:sp>
        <p:nvSpPr>
          <p:cNvPr id="10" name="Obj badge 2"/>
          <p:cNvSpPr/>
          <p:nvPr/>
        </p:nvSpPr>
        <p:spPr>
          <a:xfrm>
            <a:off x="621792" y="2683764"/>
            <a:ext cx="274320" cy="274320"/>
          </a:xfrm>
          <a:prstGeom prst="ellipse">
            <a:avLst/>
          </a:prstGeom>
          <a:solidFill>
            <a:srgbClr val="F5B8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0F1C1A"/>
                </a:solidFill>
              </a:rPr>
              <a:t>2</a:t>
            </a:r>
          </a:p>
        </p:txBody>
      </p:sp>
      <p:sp>
        <p:nvSpPr>
          <p:cNvPr id="11" name="Obj text 2"/>
          <p:cNvSpPr txBox="1"/>
          <p:nvPr/>
        </p:nvSpPr>
        <p:spPr>
          <a:xfrm>
            <a:off x="1005840" y="2656332"/>
            <a:ext cx="3931920" cy="384048"/>
          </a:xfrm>
          <a:prstGeom prst="rect">
            <a:avLst/>
          </a:prstGeom>
          <a:noFill/>
        </p:spPr>
        <p:txBody>
          <a:bodyPr wrap="square" lIns="0" rIns="0" tIns="0" bIns="0" anchor="ctr">
            <a:spAutoFit/>
          </a:bodyPr>
          <a:lstStyle/>
          <a:p>
            <a:pPr algn="l">
              <a:spcAft>
                <a:spcPts val="200"/>
              </a:spcAft>
            </a:pPr>
            <a:r>
              <a:rPr sz="1050" b="1">
                <a:solidFill>
                  <a:srgbClr val="F4F1EA"/>
                </a:solidFill>
              </a:rPr>
              <a:t>Estimate: </a:t>
            </a:r>
            <a:r>
              <a:rPr sz="1050" b="0">
                <a:solidFill>
                  <a:srgbClr val="F4F1EA"/>
                </a:solidFill>
              </a:rPr>
              <a:t>Revenue exp./GSDP −1.223 (p = 0.002); fixed and random effects agree</a:t>
            </a:r>
          </a:p>
        </p:txBody>
      </p:sp>
      <p:sp>
        <p:nvSpPr>
          <p:cNvPr id="12" name="Obj badge 3"/>
          <p:cNvSpPr/>
          <p:nvPr/>
        </p:nvSpPr>
        <p:spPr>
          <a:xfrm>
            <a:off x="621792" y="3099816"/>
            <a:ext cx="274320" cy="274320"/>
          </a:xfrm>
          <a:prstGeom prst="ellipse">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0F1C1A"/>
                </a:solidFill>
              </a:rPr>
              <a:t>3</a:t>
            </a:r>
          </a:p>
        </p:txBody>
      </p:sp>
      <p:sp>
        <p:nvSpPr>
          <p:cNvPr id="13" name="Obj text 3"/>
          <p:cNvSpPr txBox="1"/>
          <p:nvPr/>
        </p:nvSpPr>
        <p:spPr>
          <a:xfrm>
            <a:off x="1005840" y="3072384"/>
            <a:ext cx="3931920" cy="384048"/>
          </a:xfrm>
          <a:prstGeom prst="rect">
            <a:avLst/>
          </a:prstGeom>
          <a:noFill/>
        </p:spPr>
        <p:txBody>
          <a:bodyPr wrap="square" lIns="0" rIns="0" tIns="0" bIns="0" anchor="ctr">
            <a:spAutoFit/>
          </a:bodyPr>
          <a:lstStyle/>
          <a:p>
            <a:pPr algn="l">
              <a:spcAft>
                <a:spcPts val="200"/>
              </a:spcAft>
            </a:pPr>
            <a:r>
              <a:rPr sz="1050" b="1">
                <a:solidFill>
                  <a:srgbClr val="F4F1EA"/>
                </a:solidFill>
              </a:rPr>
              <a:t>Test: </a:t>
            </a:r>
            <a:r>
              <a:rPr sz="1050" b="0">
                <a:solidFill>
                  <a:srgbClr val="F4F1EA"/>
                </a:solidFill>
              </a:rPr>
              <a:t>Holds in 7 of 7 variants, and is stronger without special-category states</a:t>
            </a:r>
          </a:p>
        </p:txBody>
      </p:sp>
      <p:sp>
        <p:nvSpPr>
          <p:cNvPr id="14" name="Obj badge 4"/>
          <p:cNvSpPr/>
          <p:nvPr/>
        </p:nvSpPr>
        <p:spPr>
          <a:xfrm>
            <a:off x="621792" y="3515868"/>
            <a:ext cx="274320" cy="274320"/>
          </a:xfrm>
          <a:prstGeom prst="ellipse">
            <a:avLst/>
          </a:prstGeom>
          <a:solidFill>
            <a:srgbClr val="F5B8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0F1C1A"/>
                </a:solidFill>
              </a:rPr>
              <a:t>4</a:t>
            </a:r>
          </a:p>
        </p:txBody>
      </p:sp>
      <p:sp>
        <p:nvSpPr>
          <p:cNvPr id="15" name="Obj text 4"/>
          <p:cNvSpPr txBox="1"/>
          <p:nvPr/>
        </p:nvSpPr>
        <p:spPr>
          <a:xfrm>
            <a:off x="1005840" y="3488436"/>
            <a:ext cx="3931920" cy="384048"/>
          </a:xfrm>
          <a:prstGeom prst="rect">
            <a:avLst/>
          </a:prstGeom>
          <a:noFill/>
        </p:spPr>
        <p:txBody>
          <a:bodyPr wrap="square" lIns="0" rIns="0" tIns="0" bIns="0" anchor="ctr">
            <a:spAutoFit/>
          </a:bodyPr>
          <a:lstStyle/>
          <a:p>
            <a:pPr algn="l">
              <a:spcAft>
                <a:spcPts val="200"/>
              </a:spcAft>
            </a:pPr>
            <a:r>
              <a:rPr sz="1050" b="1">
                <a:solidFill>
                  <a:srgbClr val="F4F1EA"/>
                </a:solidFill>
              </a:rPr>
              <a:t>Identify: </a:t>
            </a:r>
            <a:r>
              <a:rPr sz="1050" b="0">
                <a:solidFill>
                  <a:srgbClr val="F4F1EA"/>
                </a:solidFill>
              </a:rPr>
              <a:t>Income tracks GSDP growth (+0.87), not spending growth (+0.002)</a:t>
            </a:r>
          </a:p>
        </p:txBody>
      </p:sp>
      <p:sp>
        <p:nvSpPr>
          <p:cNvPr id="16" name="Obj badge 5"/>
          <p:cNvSpPr/>
          <p:nvPr/>
        </p:nvSpPr>
        <p:spPr>
          <a:xfrm>
            <a:off x="621792" y="3931920"/>
            <a:ext cx="274320" cy="274320"/>
          </a:xfrm>
          <a:prstGeom prst="ellipse">
            <a:avLst/>
          </a:prstGeom>
          <a:solidFill>
            <a:srgbClr val="2DD4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0F1C1A"/>
                </a:solidFill>
              </a:rPr>
              <a:t>5</a:t>
            </a:r>
          </a:p>
        </p:txBody>
      </p:sp>
      <p:sp>
        <p:nvSpPr>
          <p:cNvPr id="17" name="Obj text 5"/>
          <p:cNvSpPr txBox="1"/>
          <p:nvPr/>
        </p:nvSpPr>
        <p:spPr>
          <a:xfrm>
            <a:off x="1005840" y="3904488"/>
            <a:ext cx="3931920" cy="384048"/>
          </a:xfrm>
          <a:prstGeom prst="rect">
            <a:avLst/>
          </a:prstGeom>
          <a:noFill/>
        </p:spPr>
        <p:txBody>
          <a:bodyPr wrap="square" lIns="0" rIns="0" tIns="0" bIns="0" anchor="ctr">
            <a:spAutoFit/>
          </a:bodyPr>
          <a:lstStyle/>
          <a:p>
            <a:pPr algn="l">
              <a:spcAft>
                <a:spcPts val="200"/>
              </a:spcAft>
            </a:pPr>
            <a:r>
              <a:rPr sz="1050" b="1">
                <a:solidFill>
                  <a:srgbClr val="F4F1EA"/>
                </a:solidFill>
              </a:rPr>
              <a:t>Assess: </a:t>
            </a:r>
            <a:r>
              <a:rPr sz="1050" b="0">
                <a:solidFill>
                  <a:srgbClr val="F4F1EA"/>
                </a:solidFill>
              </a:rPr>
              <a:t>COVID doubled the median deficit; no fiscal variable predicts recovery</a:t>
            </a:r>
          </a:p>
        </p:txBody>
      </p:sp>
      <p:sp>
        <p:nvSpPr>
          <p:cNvPr id="18" name="Hypotheses card"/>
          <p:cNvSpPr/>
          <p:nvPr/>
        </p:nvSpPr>
        <p:spPr>
          <a:xfrm>
            <a:off x="5212080" y="1847088"/>
            <a:ext cx="3474720" cy="2514600"/>
          </a:xfrm>
          <a:prstGeom prst="roundRect">
            <a:avLst>
              <a:gd name="adj" fmla="val 6000"/>
            </a:avLst>
          </a:prstGeom>
          <a:solidFill>
            <a:srgbClr val="172B27"/>
          </a:solidFill>
          <a:ln w="12700">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yp label"/>
          <p:cNvSpPr txBox="1"/>
          <p:nvPr/>
        </p:nvSpPr>
        <p:spPr>
          <a:xfrm>
            <a:off x="5376672" y="1947672"/>
            <a:ext cx="3200400" cy="228600"/>
          </a:xfrm>
          <a:prstGeom prst="rect">
            <a:avLst/>
          </a:prstGeom>
          <a:noFill/>
        </p:spPr>
        <p:txBody>
          <a:bodyPr wrap="square" lIns="0" rIns="0" tIns="0" bIns="0" anchor="t">
            <a:spAutoFit/>
          </a:bodyPr>
          <a:lstStyle/>
          <a:p>
            <a:pPr algn="l">
              <a:spcAft>
                <a:spcPts val="200"/>
              </a:spcAft>
            </a:pPr>
            <a:r>
              <a:rPr sz="950" b="1">
                <a:solidFill>
                  <a:srgbClr val="9DB5AE"/>
                </a:solidFill>
              </a:rPr>
              <a:t>HYPOTHESES</a:t>
            </a:r>
          </a:p>
        </p:txBody>
      </p:sp>
      <p:sp>
        <p:nvSpPr>
          <p:cNvPr id="20" name="Hyp id H1"/>
          <p:cNvSpPr txBox="1"/>
          <p:nvPr/>
        </p:nvSpPr>
        <p:spPr>
          <a:xfrm>
            <a:off x="5376672" y="2240280"/>
            <a:ext cx="365760" cy="384048"/>
          </a:xfrm>
          <a:prstGeom prst="rect">
            <a:avLst/>
          </a:prstGeom>
          <a:noFill/>
        </p:spPr>
        <p:txBody>
          <a:bodyPr wrap="square" lIns="0" rIns="0" tIns="0" bIns="0" anchor="ctr">
            <a:spAutoFit/>
          </a:bodyPr>
          <a:lstStyle/>
          <a:p>
            <a:pPr algn="l">
              <a:spcAft>
                <a:spcPts val="200"/>
              </a:spcAft>
            </a:pPr>
            <a:r>
              <a:rPr sz="1100" b="1">
                <a:solidFill>
                  <a:srgbClr val="9DB5AE"/>
                </a:solidFill>
                <a:latin typeface="Cambria"/>
              </a:rPr>
              <a:t>H1</a:t>
            </a:r>
          </a:p>
        </p:txBody>
      </p:sp>
      <p:sp>
        <p:nvSpPr>
          <p:cNvPr id="21" name="Hyp text H1"/>
          <p:cNvSpPr txBox="1"/>
          <p:nvPr/>
        </p:nvSpPr>
        <p:spPr>
          <a:xfrm>
            <a:off x="5760720" y="2240280"/>
            <a:ext cx="2834640" cy="384048"/>
          </a:xfrm>
          <a:prstGeom prst="rect">
            <a:avLst/>
          </a:prstGeom>
          <a:noFill/>
        </p:spPr>
        <p:txBody>
          <a:bodyPr wrap="square" lIns="0" rIns="0" tIns="0" bIns="0" anchor="ctr">
            <a:spAutoFit/>
          </a:bodyPr>
          <a:lstStyle/>
          <a:p>
            <a:pPr algn="l">
              <a:spcAft>
                <a:spcPts val="0"/>
              </a:spcAft>
            </a:pPr>
            <a:r>
              <a:rPr sz="1050" b="1">
                <a:solidFill>
                  <a:srgbClr val="F4F1EA"/>
                </a:solidFill>
              </a:rPr>
              <a:t>Social spending</a:t>
            </a:r>
          </a:p>
          <a:p>
            <a:pPr algn="l">
              <a:spcAft>
                <a:spcPts val="0"/>
              </a:spcAft>
            </a:pPr>
            <a:r>
              <a:rPr sz="1000" b="0">
                <a:solidFill>
                  <a:srgbClr val="9DB5AE"/>
                </a:solidFill>
              </a:rPr>
              <a:t>Not supported</a:t>
            </a:r>
          </a:p>
        </p:txBody>
      </p:sp>
      <p:sp>
        <p:nvSpPr>
          <p:cNvPr id="22" name="Hyp id H2"/>
          <p:cNvSpPr txBox="1"/>
          <p:nvPr/>
        </p:nvSpPr>
        <p:spPr>
          <a:xfrm>
            <a:off x="5376672" y="2656332"/>
            <a:ext cx="365760" cy="384048"/>
          </a:xfrm>
          <a:prstGeom prst="rect">
            <a:avLst/>
          </a:prstGeom>
          <a:noFill/>
        </p:spPr>
        <p:txBody>
          <a:bodyPr wrap="square" lIns="0" rIns="0" tIns="0" bIns="0" anchor="ctr">
            <a:spAutoFit/>
          </a:bodyPr>
          <a:lstStyle/>
          <a:p>
            <a:pPr algn="l">
              <a:spcAft>
                <a:spcPts val="200"/>
              </a:spcAft>
            </a:pPr>
            <a:r>
              <a:rPr sz="1100" b="1">
                <a:solidFill>
                  <a:srgbClr val="F5B83D"/>
                </a:solidFill>
                <a:latin typeface="Cambria"/>
              </a:rPr>
              <a:t>H2</a:t>
            </a:r>
          </a:p>
        </p:txBody>
      </p:sp>
      <p:sp>
        <p:nvSpPr>
          <p:cNvPr id="23" name="Hyp text H2"/>
          <p:cNvSpPr txBox="1"/>
          <p:nvPr/>
        </p:nvSpPr>
        <p:spPr>
          <a:xfrm>
            <a:off x="5760720" y="2656332"/>
            <a:ext cx="2834640" cy="384048"/>
          </a:xfrm>
          <a:prstGeom prst="rect">
            <a:avLst/>
          </a:prstGeom>
          <a:noFill/>
        </p:spPr>
        <p:txBody>
          <a:bodyPr wrap="square" lIns="0" rIns="0" tIns="0" bIns="0" anchor="ctr">
            <a:spAutoFit/>
          </a:bodyPr>
          <a:lstStyle/>
          <a:p>
            <a:pPr algn="l">
              <a:spcAft>
                <a:spcPts val="0"/>
              </a:spcAft>
            </a:pPr>
            <a:r>
              <a:rPr sz="1050" b="1">
                <a:solidFill>
                  <a:srgbClr val="F4F1EA"/>
                </a:solidFill>
              </a:rPr>
              <a:t>Capital spending</a:t>
            </a:r>
          </a:p>
          <a:p>
            <a:pPr algn="l">
              <a:spcAft>
                <a:spcPts val="0"/>
              </a:spcAft>
            </a:pPr>
            <a:r>
              <a:rPr sz="1000" b="0">
                <a:solidFill>
                  <a:srgbClr val="F5B83D"/>
                </a:solidFill>
              </a:rPr>
              <a:t>Partly: capital share, Spec D</a:t>
            </a:r>
          </a:p>
        </p:txBody>
      </p:sp>
      <p:sp>
        <p:nvSpPr>
          <p:cNvPr id="24" name="Hyp id H3"/>
          <p:cNvSpPr txBox="1"/>
          <p:nvPr/>
        </p:nvSpPr>
        <p:spPr>
          <a:xfrm>
            <a:off x="5376672" y="3072384"/>
            <a:ext cx="365760" cy="384048"/>
          </a:xfrm>
          <a:prstGeom prst="rect">
            <a:avLst/>
          </a:prstGeom>
          <a:noFill/>
        </p:spPr>
        <p:txBody>
          <a:bodyPr wrap="square" lIns="0" rIns="0" tIns="0" bIns="0" anchor="ctr">
            <a:spAutoFit/>
          </a:bodyPr>
          <a:lstStyle/>
          <a:p>
            <a:pPr algn="l">
              <a:spcAft>
                <a:spcPts val="200"/>
              </a:spcAft>
            </a:pPr>
            <a:r>
              <a:rPr sz="1100" b="1">
                <a:solidFill>
                  <a:srgbClr val="2DD4A7"/>
                </a:solidFill>
                <a:latin typeface="Cambria"/>
              </a:rPr>
              <a:t>H3</a:t>
            </a:r>
          </a:p>
        </p:txBody>
      </p:sp>
      <p:sp>
        <p:nvSpPr>
          <p:cNvPr id="25" name="Hyp text H3"/>
          <p:cNvSpPr txBox="1"/>
          <p:nvPr/>
        </p:nvSpPr>
        <p:spPr>
          <a:xfrm>
            <a:off x="5760720" y="3072384"/>
            <a:ext cx="2834640" cy="384048"/>
          </a:xfrm>
          <a:prstGeom prst="rect">
            <a:avLst/>
          </a:prstGeom>
          <a:noFill/>
        </p:spPr>
        <p:txBody>
          <a:bodyPr wrap="square" lIns="0" rIns="0" tIns="0" bIns="0" anchor="ctr">
            <a:spAutoFit/>
          </a:bodyPr>
          <a:lstStyle/>
          <a:p>
            <a:pPr algn="l">
              <a:spcAft>
                <a:spcPts val="0"/>
              </a:spcAft>
            </a:pPr>
            <a:r>
              <a:rPr sz="1050" b="1">
                <a:solidFill>
                  <a:srgbClr val="F4F1EA"/>
                </a:solidFill>
              </a:rPr>
              <a:t>Revenue spending</a:t>
            </a:r>
          </a:p>
          <a:p>
            <a:pPr algn="l">
              <a:spcAft>
                <a:spcPts val="0"/>
              </a:spcAft>
            </a:pPr>
            <a:r>
              <a:rPr sz="1000" b="0">
                <a:solidFill>
                  <a:srgbClr val="2DD4A7"/>
                </a:solidFill>
              </a:rPr>
              <a:t>Supported (negative)</a:t>
            </a:r>
          </a:p>
        </p:txBody>
      </p:sp>
      <p:sp>
        <p:nvSpPr>
          <p:cNvPr id="26" name="Hyp id H4"/>
          <p:cNvSpPr txBox="1"/>
          <p:nvPr/>
        </p:nvSpPr>
        <p:spPr>
          <a:xfrm>
            <a:off x="5376672" y="3488436"/>
            <a:ext cx="365760" cy="384048"/>
          </a:xfrm>
          <a:prstGeom prst="rect">
            <a:avLst/>
          </a:prstGeom>
          <a:noFill/>
        </p:spPr>
        <p:txBody>
          <a:bodyPr wrap="square" lIns="0" rIns="0" tIns="0" bIns="0" anchor="ctr">
            <a:spAutoFit/>
          </a:bodyPr>
          <a:lstStyle/>
          <a:p>
            <a:pPr algn="l">
              <a:spcAft>
                <a:spcPts val="200"/>
              </a:spcAft>
            </a:pPr>
            <a:r>
              <a:rPr sz="1100" b="1">
                <a:solidFill>
                  <a:srgbClr val="9DB5AE"/>
                </a:solidFill>
                <a:latin typeface="Cambria"/>
              </a:rPr>
              <a:t>H4</a:t>
            </a:r>
          </a:p>
        </p:txBody>
      </p:sp>
      <p:sp>
        <p:nvSpPr>
          <p:cNvPr id="27" name="Hyp text H4"/>
          <p:cNvSpPr txBox="1"/>
          <p:nvPr/>
        </p:nvSpPr>
        <p:spPr>
          <a:xfrm>
            <a:off x="5760720" y="3488436"/>
            <a:ext cx="2834640" cy="384048"/>
          </a:xfrm>
          <a:prstGeom prst="rect">
            <a:avLst/>
          </a:prstGeom>
          <a:noFill/>
        </p:spPr>
        <p:txBody>
          <a:bodyPr wrap="square" lIns="0" rIns="0" tIns="0" bIns="0" anchor="ctr">
            <a:spAutoFit/>
          </a:bodyPr>
          <a:lstStyle/>
          <a:p>
            <a:pPr algn="l">
              <a:spcAft>
                <a:spcPts val="0"/>
              </a:spcAft>
            </a:pPr>
            <a:r>
              <a:rPr sz="1050" b="1">
                <a:solidFill>
                  <a:srgbClr val="F4F1EA"/>
                </a:solidFill>
              </a:rPr>
              <a:t>Fiscal deficit</a:t>
            </a:r>
          </a:p>
          <a:p>
            <a:pPr algn="l">
              <a:spcAft>
                <a:spcPts val="0"/>
              </a:spcAft>
            </a:pPr>
            <a:r>
              <a:rPr sz="1000" b="0">
                <a:solidFill>
                  <a:srgbClr val="9DB5AE"/>
                </a:solidFill>
              </a:rPr>
              <a:t>Not supported</a:t>
            </a:r>
          </a:p>
        </p:txBody>
      </p:sp>
      <p:sp>
        <p:nvSpPr>
          <p:cNvPr id="28" name="Hyp id H5"/>
          <p:cNvSpPr txBox="1"/>
          <p:nvPr/>
        </p:nvSpPr>
        <p:spPr>
          <a:xfrm>
            <a:off x="5376672" y="3904488"/>
            <a:ext cx="365760" cy="384048"/>
          </a:xfrm>
          <a:prstGeom prst="rect">
            <a:avLst/>
          </a:prstGeom>
          <a:noFill/>
        </p:spPr>
        <p:txBody>
          <a:bodyPr wrap="square" lIns="0" rIns="0" tIns="0" bIns="0" anchor="ctr">
            <a:spAutoFit/>
          </a:bodyPr>
          <a:lstStyle/>
          <a:p>
            <a:pPr algn="l">
              <a:spcAft>
                <a:spcPts val="200"/>
              </a:spcAft>
            </a:pPr>
            <a:r>
              <a:rPr sz="1100" b="1">
                <a:solidFill>
                  <a:srgbClr val="F2665B"/>
                </a:solidFill>
                <a:latin typeface="Cambria"/>
              </a:rPr>
              <a:t>H5</a:t>
            </a:r>
          </a:p>
        </p:txBody>
      </p:sp>
      <p:sp>
        <p:nvSpPr>
          <p:cNvPr id="29" name="Hyp text H5"/>
          <p:cNvSpPr txBox="1"/>
          <p:nvPr/>
        </p:nvSpPr>
        <p:spPr>
          <a:xfrm>
            <a:off x="5760720" y="3904488"/>
            <a:ext cx="2834640" cy="384048"/>
          </a:xfrm>
          <a:prstGeom prst="rect">
            <a:avLst/>
          </a:prstGeom>
          <a:noFill/>
        </p:spPr>
        <p:txBody>
          <a:bodyPr wrap="square" lIns="0" rIns="0" tIns="0" bIns="0" anchor="ctr">
            <a:spAutoFit/>
          </a:bodyPr>
          <a:lstStyle/>
          <a:p>
            <a:pPr algn="l">
              <a:spcAft>
                <a:spcPts val="0"/>
              </a:spcAft>
            </a:pPr>
            <a:r>
              <a:rPr sz="1050" b="1">
                <a:solidFill>
                  <a:srgbClr val="F4F1EA"/>
                </a:solidFill>
              </a:rPr>
              <a:t>Liabilities</a:t>
            </a:r>
          </a:p>
          <a:p>
            <a:pPr algn="l">
              <a:spcAft>
                <a:spcPts val="0"/>
              </a:spcAft>
            </a:pPr>
            <a:r>
              <a:rPr sz="1000" b="0">
                <a:solidFill>
                  <a:srgbClr val="F2665B"/>
                </a:solidFill>
              </a:rPr>
              <a:t>Not robust to flagged values</a:t>
            </a:r>
          </a:p>
        </p:txBody>
      </p:sp>
      <p:sp>
        <p:nvSpPr>
          <p:cNvPr id="30" name="Policy strip"/>
          <p:cNvSpPr/>
          <p:nvPr/>
        </p:nvSpPr>
        <p:spPr>
          <a:xfrm>
            <a:off x="457200" y="4480560"/>
            <a:ext cx="8229600" cy="329184"/>
          </a:xfrm>
          <a:prstGeom prst="roundRect">
            <a:avLst>
              <a:gd name="adj" fmla="val 6000"/>
            </a:avLst>
          </a:prstGeom>
          <a:solidFill>
            <a:srgbClr val="1324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olicy text"/>
          <p:cNvSpPr txBox="1"/>
          <p:nvPr/>
        </p:nvSpPr>
        <p:spPr>
          <a:xfrm>
            <a:off x="621792" y="4480560"/>
            <a:ext cx="7909560" cy="329184"/>
          </a:xfrm>
          <a:prstGeom prst="rect">
            <a:avLst/>
          </a:prstGeom>
          <a:noFill/>
        </p:spPr>
        <p:txBody>
          <a:bodyPr wrap="square" lIns="0" rIns="0" tIns="0" bIns="0" anchor="ctr">
            <a:spAutoFit/>
          </a:bodyPr>
          <a:lstStyle/>
          <a:p>
            <a:pPr algn="l">
              <a:spcAft>
                <a:spcPts val="200"/>
              </a:spcAft>
            </a:pPr>
            <a:r>
              <a:rPr sz="1050" b="1">
                <a:solidFill>
                  <a:srgbClr val="F5B83D"/>
                </a:solidFill>
              </a:rPr>
              <a:t>Policy reading: </a:t>
            </a:r>
            <a:r>
              <a:rPr sz="1050" b="0">
                <a:solidFill>
                  <a:srgbClr val="F4F1EA"/>
                </a:solidFill>
              </a:rPr>
              <a:t>the negative coefficient is not a case for cutting spending; these are associations, not causal effects.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8229600" cy="502920"/>
          </a:xfrm>
          <a:prstGeom prst="rect">
            <a:avLst/>
          </a:prstGeom>
          <a:noFill/>
        </p:spPr>
        <p:txBody>
          <a:bodyPr wrap="square" lIns="0" tIns="0" rIns="0" bIns="0" anchor="t">
            <a:spAutoFit/>
          </a:bodyPr>
          <a:lstStyle/>
          <a:p>
            <a:pPr algn="l"/>
            <a:r>
              <a:rPr sz="2400" b="1" i="0">
                <a:solidFill>
                  <a:srgbClr val="F4F1EA"/>
                </a:solidFill>
                <a:latin typeface="Cambria"/>
              </a:rPr>
              <a:t>Six interactive animations</a:t>
            </a:r>
          </a:p>
        </p:txBody>
      </p:sp>
      <p:sp>
        <p:nvSpPr>
          <p:cNvPr id="3" name="Subtitle"/>
          <p:cNvSpPr txBox="1"/>
          <p:nvPr/>
        </p:nvSpPr>
        <p:spPr>
          <a:xfrm>
            <a:off x="457200" y="777240"/>
            <a:ext cx="8229600" cy="274320"/>
          </a:xfrm>
          <a:prstGeom prst="rect">
            <a:avLst/>
          </a:prstGeom>
          <a:noFill/>
        </p:spPr>
        <p:txBody>
          <a:bodyPr wrap="square" lIns="0" tIns="0" rIns="0" bIns="0" anchor="ctr">
            <a:spAutoFit/>
          </a:bodyPr>
          <a:lstStyle/>
          <a:p>
            <a:pPr algn="l"/>
            <a:r>
              <a:rPr sz="1300" b="0" i="0">
                <a:solidFill>
                  <a:srgbClr val="9DB5AE"/>
                </a:solidFill>
              </a:rPr>
              <a:t>They play in slideshow mode; click any one to open the interactive Plotly version</a:t>
            </a:r>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9DB5AE"/>
                </a:solidFill>
              </a:defRPr>
            </a:lvl1pPr>
          </a:lstStyle>
          <a:p>
            <a:pPr algn="r"/>
            <a:fld id="{F7021451-1387-4CA6-816F-3879F97B5CBC}" type="slidenum">
              <a:rPr lang="en-US" b="0"/>
              <a:t>39</a:t>
            </a:fld>
            <a:endParaRPr lang="en-US"/>
          </a:p>
        </p:txBody>
      </p:sp>
      <p:sp>
        <p:nvSpPr>
          <p:cNvPr id="26" name="animation card">
            <a:hlinkClick r:id="rId3"/>
          </p:cNvPr>
          <p:cNvSpPr/>
          <p:nvPr/>
        </p:nvSpPr>
        <p:spPr>
          <a:xfrm>
            <a:off x="457200" y="1188720"/>
            <a:ext cx="2651760" cy="1645920"/>
          </a:xfrm>
          <a:prstGeom prst="roundRect">
            <a:avLst>
              <a:gd name="adj" fmla="val 3333"/>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humb panel"/>
          <p:cNvSpPr/>
          <p:nvPr/>
        </p:nvSpPr>
        <p:spPr>
          <a:xfrm>
            <a:off x="548640" y="1280160"/>
            <a:ext cx="246888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Capital spending vs income snapshot" descr="Capital spending vs income snapshot">
            <a:hlinkClick r:id="rId3"/>
          </p:cNvPr>
          <p:cNvPicPr>
            <a:picLocks noChangeAspect="1"/>
          </p:cNvPicPr>
          <p:nvPr/>
        </p:nvPicPr>
        <p:blipFill>
          <a:blip r:embed="rId4"/>
          <a:stretch>
            <a:fillRect/>
          </a:stretch>
        </p:blipFill>
        <p:spPr>
          <a:xfrm>
            <a:off x="1012459" y="1303379"/>
            <a:ext cx="1541241" cy="867962"/>
          </a:xfrm>
          <a:prstGeom prst="rect">
            <a:avLst/>
          </a:prstGeom>
        </p:spPr>
      </p:pic>
      <p:sp>
        <p:nvSpPr>
          <p:cNvPr id="29" name="TextBox 28"/>
          <p:cNvSpPr txBox="1"/>
          <p:nvPr/>
        </p:nvSpPr>
        <p:spPr>
          <a:xfrm>
            <a:off x="594360" y="2286000"/>
            <a:ext cx="2377440" cy="228600"/>
          </a:xfrm>
          <a:prstGeom prst="rect">
            <a:avLst/>
          </a:prstGeom>
          <a:noFill/>
        </p:spPr>
        <p:txBody>
          <a:bodyPr wrap="square" lIns="0" tIns="0" rIns="0" bIns="0" anchor="t">
            <a:spAutoFit/>
          </a:bodyPr>
          <a:lstStyle/>
          <a:p>
            <a:pPr algn="l"/>
            <a:r>
              <a:rPr sz="1150" b="1" i="0" dirty="0">
                <a:solidFill>
                  <a:srgbClr val="2DD4A7"/>
                </a:solidFill>
              </a:rPr>
              <a:t>Capital spending vs income</a:t>
            </a:r>
          </a:p>
        </p:txBody>
      </p:sp>
      <p:sp>
        <p:nvSpPr>
          <p:cNvPr id="30" name="TextBox 29"/>
          <p:cNvSpPr txBox="1"/>
          <p:nvPr/>
        </p:nvSpPr>
        <p:spPr>
          <a:xfrm>
            <a:off x="594360" y="2523744"/>
            <a:ext cx="2377440" cy="274320"/>
          </a:xfrm>
          <a:prstGeom prst="rect">
            <a:avLst/>
          </a:prstGeom>
          <a:noFill/>
        </p:spPr>
        <p:txBody>
          <a:bodyPr wrap="square" lIns="0" tIns="0" rIns="0" bIns="0" anchor="t">
            <a:spAutoFit/>
          </a:bodyPr>
          <a:lstStyle/>
          <a:p>
            <a:pPr algn="l"/>
            <a:r>
              <a:rPr sz="950" b="0" i="0">
                <a:solidFill>
                  <a:srgbClr val="9DB5AE"/>
                </a:solidFill>
              </a:rPr>
              <a:t>Bubbles sized by GSDP, 2011–12 → 2021–22</a:t>
            </a:r>
          </a:p>
        </p:txBody>
      </p:sp>
      <p:sp>
        <p:nvSpPr>
          <p:cNvPr id="31" name="animation card">
            <a:hlinkClick r:id="rId5"/>
          </p:cNvPr>
          <p:cNvSpPr/>
          <p:nvPr/>
        </p:nvSpPr>
        <p:spPr>
          <a:xfrm>
            <a:off x="3246120" y="1188720"/>
            <a:ext cx="2651760" cy="1645920"/>
          </a:xfrm>
          <a:prstGeom prst="roundRect">
            <a:avLst>
              <a:gd name="adj" fmla="val 3333"/>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humb panel"/>
          <p:cNvSpPr/>
          <p:nvPr/>
        </p:nvSpPr>
        <p:spPr>
          <a:xfrm>
            <a:off x="3337560" y="1280160"/>
            <a:ext cx="246888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Social spending vs income snapshot" descr="Social spending vs income snapshot">
            <a:hlinkClick r:id="rId5"/>
          </p:cNvPr>
          <p:cNvPicPr>
            <a:picLocks noChangeAspect="1"/>
          </p:cNvPicPr>
          <p:nvPr/>
        </p:nvPicPr>
        <p:blipFill>
          <a:blip r:embed="rId6"/>
          <a:stretch>
            <a:fillRect/>
          </a:stretch>
        </p:blipFill>
        <p:spPr>
          <a:xfrm>
            <a:off x="3801379" y="1303379"/>
            <a:ext cx="1541241" cy="867962"/>
          </a:xfrm>
          <a:prstGeom prst="rect">
            <a:avLst/>
          </a:prstGeom>
        </p:spPr>
      </p:pic>
      <p:sp>
        <p:nvSpPr>
          <p:cNvPr id="34" name="TextBox 33"/>
          <p:cNvSpPr txBox="1"/>
          <p:nvPr/>
        </p:nvSpPr>
        <p:spPr>
          <a:xfrm>
            <a:off x="3383279" y="2286000"/>
            <a:ext cx="2377440" cy="228600"/>
          </a:xfrm>
          <a:prstGeom prst="rect">
            <a:avLst/>
          </a:prstGeom>
          <a:noFill/>
        </p:spPr>
        <p:txBody>
          <a:bodyPr wrap="square" lIns="0" tIns="0" rIns="0" bIns="0" anchor="t">
            <a:spAutoFit/>
          </a:bodyPr>
          <a:lstStyle/>
          <a:p>
            <a:pPr algn="l"/>
            <a:r>
              <a:rPr sz="1150" b="1" i="0">
                <a:solidFill>
                  <a:srgbClr val="2DD4A7"/>
                </a:solidFill>
              </a:rPr>
              <a:t>Social spending vs income</a:t>
            </a:r>
          </a:p>
        </p:txBody>
      </p:sp>
      <p:sp>
        <p:nvSpPr>
          <p:cNvPr id="35" name="TextBox 34"/>
          <p:cNvSpPr txBox="1"/>
          <p:nvPr/>
        </p:nvSpPr>
        <p:spPr>
          <a:xfrm>
            <a:off x="3383279" y="2523744"/>
            <a:ext cx="2377440" cy="274320"/>
          </a:xfrm>
          <a:prstGeom prst="rect">
            <a:avLst/>
          </a:prstGeom>
          <a:noFill/>
        </p:spPr>
        <p:txBody>
          <a:bodyPr wrap="square" lIns="0" tIns="0" rIns="0" bIns="0" anchor="t">
            <a:spAutoFit/>
          </a:bodyPr>
          <a:lstStyle/>
          <a:p>
            <a:pPr algn="l"/>
            <a:r>
              <a:rPr sz="950" b="0" i="0">
                <a:solidFill>
                  <a:srgbClr val="9DB5AE"/>
                </a:solidFill>
              </a:rPr>
              <a:t>Bubbles sized by GSDP, 2011–12 → 2021–22</a:t>
            </a:r>
          </a:p>
        </p:txBody>
      </p:sp>
      <p:sp>
        <p:nvSpPr>
          <p:cNvPr id="36" name="animation card">
            <a:hlinkClick r:id="rId7"/>
          </p:cNvPr>
          <p:cNvSpPr/>
          <p:nvPr/>
        </p:nvSpPr>
        <p:spPr>
          <a:xfrm>
            <a:off x="6035040" y="1188720"/>
            <a:ext cx="2651760" cy="1645920"/>
          </a:xfrm>
          <a:prstGeom prst="roundRect">
            <a:avLst>
              <a:gd name="adj" fmla="val 3333"/>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humb panel"/>
          <p:cNvSpPr/>
          <p:nvPr/>
        </p:nvSpPr>
        <p:spPr>
          <a:xfrm>
            <a:off x="6126479" y="1280160"/>
            <a:ext cx="246888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Fiscal deficit race snapshot" descr="Fiscal deficit race snapshot">
            <a:hlinkClick r:id="rId7"/>
          </p:cNvPr>
          <p:cNvPicPr>
            <a:picLocks noChangeAspect="1"/>
          </p:cNvPicPr>
          <p:nvPr/>
        </p:nvPicPr>
        <p:blipFill>
          <a:blip r:embed="rId8"/>
          <a:stretch>
            <a:fillRect/>
          </a:stretch>
        </p:blipFill>
        <p:spPr>
          <a:xfrm>
            <a:off x="6498974" y="1298448"/>
            <a:ext cx="1723890" cy="877823"/>
          </a:xfrm>
          <a:prstGeom prst="rect">
            <a:avLst/>
          </a:prstGeom>
        </p:spPr>
      </p:pic>
      <p:sp>
        <p:nvSpPr>
          <p:cNvPr id="39" name="TextBox 38"/>
          <p:cNvSpPr txBox="1"/>
          <p:nvPr/>
        </p:nvSpPr>
        <p:spPr>
          <a:xfrm>
            <a:off x="6172200" y="2286000"/>
            <a:ext cx="2377440" cy="228600"/>
          </a:xfrm>
          <a:prstGeom prst="rect">
            <a:avLst/>
          </a:prstGeom>
          <a:noFill/>
        </p:spPr>
        <p:txBody>
          <a:bodyPr wrap="square" lIns="0" tIns="0" rIns="0" bIns="0" anchor="t">
            <a:spAutoFit/>
          </a:bodyPr>
          <a:lstStyle/>
          <a:p>
            <a:pPr algn="l"/>
            <a:r>
              <a:rPr sz="1150" b="1" i="0">
                <a:solidFill>
                  <a:srgbClr val="2DD4A7"/>
                </a:solidFill>
              </a:rPr>
              <a:t>Fiscal deficit race</a:t>
            </a:r>
          </a:p>
        </p:txBody>
      </p:sp>
      <p:sp>
        <p:nvSpPr>
          <p:cNvPr id="40" name="TextBox 39"/>
          <p:cNvSpPr txBox="1"/>
          <p:nvPr/>
        </p:nvSpPr>
        <p:spPr>
          <a:xfrm>
            <a:off x="6172200" y="2523744"/>
            <a:ext cx="2377440" cy="274320"/>
          </a:xfrm>
          <a:prstGeom prst="rect">
            <a:avLst/>
          </a:prstGeom>
          <a:noFill/>
        </p:spPr>
        <p:txBody>
          <a:bodyPr wrap="square" lIns="0" tIns="0" rIns="0" bIns="0" anchor="t">
            <a:spAutoFit/>
          </a:bodyPr>
          <a:lstStyle/>
          <a:p>
            <a:pPr algn="l"/>
            <a:r>
              <a:rPr sz="950" b="0" i="0">
                <a:solidFill>
                  <a:srgbClr val="9DB5AE"/>
                </a:solidFill>
              </a:rPr>
              <a:t>Top 15 states by deficit / GSDP, year by year</a:t>
            </a:r>
          </a:p>
        </p:txBody>
      </p:sp>
      <p:sp>
        <p:nvSpPr>
          <p:cNvPr id="41" name="animation card">
            <a:hlinkClick r:id="rId9"/>
          </p:cNvPr>
          <p:cNvSpPr/>
          <p:nvPr/>
        </p:nvSpPr>
        <p:spPr>
          <a:xfrm>
            <a:off x="457200" y="2953512"/>
            <a:ext cx="2651760" cy="1645920"/>
          </a:xfrm>
          <a:prstGeom prst="roundRect">
            <a:avLst>
              <a:gd name="adj" fmla="val 3333"/>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humb panel"/>
          <p:cNvSpPr/>
          <p:nvPr/>
        </p:nvSpPr>
        <p:spPr>
          <a:xfrm>
            <a:off x="548640" y="3044952"/>
            <a:ext cx="246888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Liabilities race snapshot" descr="Liabilities race snapshot">
            <a:hlinkClick r:id="rId9"/>
          </p:cNvPr>
          <p:cNvPicPr>
            <a:picLocks noChangeAspect="1"/>
          </p:cNvPicPr>
          <p:nvPr/>
        </p:nvPicPr>
        <p:blipFill>
          <a:blip r:embed="rId10"/>
          <a:stretch>
            <a:fillRect/>
          </a:stretch>
        </p:blipFill>
        <p:spPr>
          <a:xfrm>
            <a:off x="932128" y="3063240"/>
            <a:ext cx="1701901" cy="877823"/>
          </a:xfrm>
          <a:prstGeom prst="rect">
            <a:avLst/>
          </a:prstGeom>
        </p:spPr>
      </p:pic>
      <p:sp>
        <p:nvSpPr>
          <p:cNvPr id="44" name="TextBox 43"/>
          <p:cNvSpPr txBox="1"/>
          <p:nvPr/>
        </p:nvSpPr>
        <p:spPr>
          <a:xfrm>
            <a:off x="594360" y="4050791"/>
            <a:ext cx="2377440" cy="228600"/>
          </a:xfrm>
          <a:prstGeom prst="rect">
            <a:avLst/>
          </a:prstGeom>
          <a:noFill/>
        </p:spPr>
        <p:txBody>
          <a:bodyPr wrap="square" lIns="0" tIns="0" rIns="0" bIns="0" anchor="t">
            <a:spAutoFit/>
          </a:bodyPr>
          <a:lstStyle/>
          <a:p>
            <a:pPr algn="l"/>
            <a:r>
              <a:rPr sz="1150" b="1" i="0">
                <a:solidFill>
                  <a:srgbClr val="2DD4A7"/>
                </a:solidFill>
              </a:rPr>
              <a:t>Liabilities race</a:t>
            </a:r>
          </a:p>
        </p:txBody>
      </p:sp>
      <p:sp>
        <p:nvSpPr>
          <p:cNvPr id="45" name="TextBox 44"/>
          <p:cNvSpPr txBox="1"/>
          <p:nvPr/>
        </p:nvSpPr>
        <p:spPr>
          <a:xfrm>
            <a:off x="594360" y="4288536"/>
            <a:ext cx="2377440" cy="274320"/>
          </a:xfrm>
          <a:prstGeom prst="rect">
            <a:avLst/>
          </a:prstGeom>
          <a:noFill/>
        </p:spPr>
        <p:txBody>
          <a:bodyPr wrap="square" lIns="0" tIns="0" rIns="0" bIns="0" anchor="t">
            <a:spAutoFit/>
          </a:bodyPr>
          <a:lstStyle/>
          <a:p>
            <a:pPr algn="l"/>
            <a:r>
              <a:rPr sz="950" b="0" i="0">
                <a:solidFill>
                  <a:srgbClr val="9DB5AE"/>
                </a:solidFill>
              </a:rPr>
              <a:t>Top 15 states by debt / GSDP, year by year</a:t>
            </a:r>
          </a:p>
        </p:txBody>
      </p:sp>
      <p:sp>
        <p:nvSpPr>
          <p:cNvPr id="46" name="animation card">
            <a:hlinkClick r:id="rId11"/>
          </p:cNvPr>
          <p:cNvSpPr/>
          <p:nvPr/>
        </p:nvSpPr>
        <p:spPr>
          <a:xfrm>
            <a:off x="3246120" y="2953512"/>
            <a:ext cx="2651760" cy="1645920"/>
          </a:xfrm>
          <a:prstGeom prst="roundRect">
            <a:avLst>
              <a:gd name="adj" fmla="val 3333"/>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humb panel"/>
          <p:cNvSpPr/>
          <p:nvPr/>
        </p:nvSpPr>
        <p:spPr>
          <a:xfrm>
            <a:off x="3337560" y="3044952"/>
            <a:ext cx="246888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Capital spending race snapshot" descr="Capital spending race snapshot">
            <a:hlinkClick r:id="rId11"/>
          </p:cNvPr>
          <p:cNvPicPr>
            <a:picLocks noChangeAspect="1"/>
          </p:cNvPicPr>
          <p:nvPr/>
        </p:nvPicPr>
        <p:blipFill>
          <a:blip r:embed="rId12"/>
          <a:stretch>
            <a:fillRect/>
          </a:stretch>
        </p:blipFill>
        <p:spPr>
          <a:xfrm>
            <a:off x="3725368" y="3063240"/>
            <a:ext cx="1693262" cy="877823"/>
          </a:xfrm>
          <a:prstGeom prst="rect">
            <a:avLst/>
          </a:prstGeom>
        </p:spPr>
      </p:pic>
      <p:sp>
        <p:nvSpPr>
          <p:cNvPr id="49" name="TextBox 48"/>
          <p:cNvSpPr txBox="1"/>
          <p:nvPr/>
        </p:nvSpPr>
        <p:spPr>
          <a:xfrm>
            <a:off x="3383279" y="4050791"/>
            <a:ext cx="2377440" cy="228600"/>
          </a:xfrm>
          <a:prstGeom prst="rect">
            <a:avLst/>
          </a:prstGeom>
          <a:noFill/>
        </p:spPr>
        <p:txBody>
          <a:bodyPr wrap="square" lIns="0" tIns="0" rIns="0" bIns="0" anchor="t">
            <a:spAutoFit/>
          </a:bodyPr>
          <a:lstStyle/>
          <a:p>
            <a:pPr algn="l"/>
            <a:r>
              <a:rPr sz="1150" b="1" i="0">
                <a:solidFill>
                  <a:srgbClr val="2DD4A7"/>
                </a:solidFill>
              </a:rPr>
              <a:t>Capital spending race</a:t>
            </a:r>
          </a:p>
        </p:txBody>
      </p:sp>
      <p:sp>
        <p:nvSpPr>
          <p:cNvPr id="50" name="TextBox 49"/>
          <p:cNvSpPr txBox="1"/>
          <p:nvPr/>
        </p:nvSpPr>
        <p:spPr>
          <a:xfrm>
            <a:off x="3383279" y="4288536"/>
            <a:ext cx="2377440" cy="274320"/>
          </a:xfrm>
          <a:prstGeom prst="rect">
            <a:avLst/>
          </a:prstGeom>
          <a:noFill/>
        </p:spPr>
        <p:txBody>
          <a:bodyPr wrap="square" lIns="0" tIns="0" rIns="0" bIns="0" anchor="t">
            <a:spAutoFit/>
          </a:bodyPr>
          <a:lstStyle/>
          <a:p>
            <a:pPr algn="l"/>
            <a:r>
              <a:rPr sz="950" b="0" i="0">
                <a:solidFill>
                  <a:srgbClr val="9DB5AE"/>
                </a:solidFill>
              </a:rPr>
              <a:t>Top 15 states by capital exp. / GSDP</a:t>
            </a:r>
          </a:p>
        </p:txBody>
      </p:sp>
      <p:sp>
        <p:nvSpPr>
          <p:cNvPr id="51" name="animation card">
            <a:hlinkClick r:id="rId13"/>
          </p:cNvPr>
          <p:cNvSpPr/>
          <p:nvPr/>
        </p:nvSpPr>
        <p:spPr>
          <a:xfrm>
            <a:off x="6035040" y="2953512"/>
            <a:ext cx="2651760" cy="1645920"/>
          </a:xfrm>
          <a:prstGeom prst="roundRect">
            <a:avLst>
              <a:gd name="adj" fmla="val 3333"/>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humb panel"/>
          <p:cNvSpPr/>
          <p:nvPr/>
        </p:nvSpPr>
        <p:spPr>
          <a:xfrm>
            <a:off x="6126479" y="3044952"/>
            <a:ext cx="246888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3" name="Social spending race snapshot" descr="Social spending race snapshot">
            <a:hlinkClick r:id="rId13"/>
          </p:cNvPr>
          <p:cNvPicPr>
            <a:picLocks noChangeAspect="1"/>
          </p:cNvPicPr>
          <p:nvPr/>
        </p:nvPicPr>
        <p:blipFill>
          <a:blip r:embed="rId14"/>
          <a:stretch>
            <a:fillRect/>
          </a:stretch>
        </p:blipFill>
        <p:spPr>
          <a:xfrm>
            <a:off x="6514288" y="3063240"/>
            <a:ext cx="1693262" cy="877823"/>
          </a:xfrm>
          <a:prstGeom prst="rect">
            <a:avLst/>
          </a:prstGeom>
        </p:spPr>
      </p:pic>
      <p:sp>
        <p:nvSpPr>
          <p:cNvPr id="54" name="TextBox 53"/>
          <p:cNvSpPr txBox="1"/>
          <p:nvPr/>
        </p:nvSpPr>
        <p:spPr>
          <a:xfrm>
            <a:off x="6172200" y="4050791"/>
            <a:ext cx="2377440" cy="228600"/>
          </a:xfrm>
          <a:prstGeom prst="rect">
            <a:avLst/>
          </a:prstGeom>
          <a:noFill/>
        </p:spPr>
        <p:txBody>
          <a:bodyPr wrap="square" lIns="0" tIns="0" rIns="0" bIns="0" anchor="t">
            <a:spAutoFit/>
          </a:bodyPr>
          <a:lstStyle/>
          <a:p>
            <a:pPr algn="l"/>
            <a:r>
              <a:rPr sz="1150" b="1" i="0">
                <a:solidFill>
                  <a:srgbClr val="2DD4A7"/>
                </a:solidFill>
              </a:rPr>
              <a:t>Social spending race</a:t>
            </a:r>
          </a:p>
        </p:txBody>
      </p:sp>
      <p:sp>
        <p:nvSpPr>
          <p:cNvPr id="55" name="TextBox 54"/>
          <p:cNvSpPr txBox="1"/>
          <p:nvPr/>
        </p:nvSpPr>
        <p:spPr>
          <a:xfrm>
            <a:off x="6172200" y="4288536"/>
            <a:ext cx="2377440" cy="274320"/>
          </a:xfrm>
          <a:prstGeom prst="rect">
            <a:avLst/>
          </a:prstGeom>
          <a:noFill/>
        </p:spPr>
        <p:txBody>
          <a:bodyPr wrap="square" lIns="0" tIns="0" rIns="0" bIns="0" anchor="t">
            <a:spAutoFit/>
          </a:bodyPr>
          <a:lstStyle/>
          <a:p>
            <a:pPr algn="l"/>
            <a:r>
              <a:rPr sz="950" b="0" i="0">
                <a:solidFill>
                  <a:srgbClr val="9DB5AE"/>
                </a:solidFill>
              </a:rPr>
              <a:t>Top 15 states by social exp. / GSDP</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640080"/>
            <a:ext cx="5486400" cy="274320"/>
          </a:xfrm>
          <a:prstGeom prst="rect">
            <a:avLst/>
          </a:prstGeom>
          <a:noFill/>
        </p:spPr>
        <p:txBody>
          <a:bodyPr wrap="square" lIns="0" tIns="0" rIns="0" bIns="0" anchor="t">
            <a:spAutoFit/>
          </a:bodyPr>
          <a:lstStyle/>
          <a:p>
            <a:pPr algn="l"/>
            <a:r>
              <a:rPr sz="900" b="1" i="0">
                <a:solidFill>
                  <a:srgbClr val="2DD4A7"/>
                </a:solidFill>
              </a:rPr>
              <a:t>EXPLORE IT YOURSELF</a:t>
            </a:r>
          </a:p>
        </p:txBody>
      </p:sp>
      <p:sp>
        <p:nvSpPr>
          <p:cNvPr id="3" name="Title"/>
          <p:cNvSpPr txBox="1"/>
          <p:nvPr/>
        </p:nvSpPr>
        <p:spPr>
          <a:xfrm>
            <a:off x="548640" y="1005840"/>
            <a:ext cx="7863840" cy="640080"/>
          </a:xfrm>
          <a:prstGeom prst="rect">
            <a:avLst/>
          </a:prstGeom>
          <a:noFill/>
        </p:spPr>
        <p:txBody>
          <a:bodyPr wrap="square" lIns="0" tIns="0" rIns="0" bIns="0" anchor="t">
            <a:spAutoFit/>
          </a:bodyPr>
          <a:lstStyle/>
          <a:p>
            <a:pPr algn="l"/>
            <a:r>
              <a:rPr sz="3200" b="1" i="0">
                <a:solidFill>
                  <a:srgbClr val="F4F1EA"/>
                </a:solidFill>
                <a:latin typeface="Cambria"/>
              </a:rPr>
              <a:t>Every state has its own story</a:t>
            </a:r>
          </a:p>
        </p:txBody>
      </p:sp>
      <p:sp>
        <p:nvSpPr>
          <p:cNvPr id="4" name="TextBox 3"/>
          <p:cNvSpPr txBox="1"/>
          <p:nvPr/>
        </p:nvSpPr>
        <p:spPr>
          <a:xfrm>
            <a:off x="548640" y="1783080"/>
            <a:ext cx="6949440" cy="731520"/>
          </a:xfrm>
          <a:prstGeom prst="rect">
            <a:avLst/>
          </a:prstGeom>
          <a:noFill/>
        </p:spPr>
        <p:txBody>
          <a:bodyPr wrap="square" lIns="0" tIns="0" rIns="0" bIns="0" anchor="t">
            <a:spAutoFit/>
          </a:bodyPr>
          <a:lstStyle/>
          <a:p>
            <a:pPr algn="l"/>
            <a:r>
              <a:rPr sz="1300" b="0" i="0">
                <a:solidFill>
                  <a:srgbClr val="9DB5AE"/>
                </a:solidFill>
              </a:rPr>
              <a:t>Open the State Explorer to animate the fiscal map across 11 years and click any state for its income trajectory, spending mix, deficit, debt and COVID recovery.</a:t>
            </a:r>
          </a:p>
        </p:txBody>
      </p:sp>
      <p:sp>
        <p:nvSpPr>
          <p:cNvPr id="5" name="link card">
            <a:hlinkClick r:id="rId3"/>
          </p:cNvPr>
          <p:cNvSpPr/>
          <p:nvPr/>
        </p:nvSpPr>
        <p:spPr>
          <a:xfrm>
            <a:off x="548640" y="2834640"/>
            <a:ext cx="2560320" cy="1051560"/>
          </a:xfrm>
          <a:prstGeom prst="roundRect">
            <a:avLst>
              <a:gd name="adj" fmla="val 5217"/>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2971800"/>
            <a:ext cx="2286000" cy="274320"/>
          </a:xfrm>
          <a:prstGeom prst="rect">
            <a:avLst/>
          </a:prstGeom>
          <a:noFill/>
        </p:spPr>
        <p:txBody>
          <a:bodyPr wrap="square" lIns="0" tIns="0" rIns="0" bIns="0" anchor="t">
            <a:spAutoFit/>
          </a:bodyPr>
          <a:lstStyle/>
          <a:p>
            <a:pPr algn="l"/>
            <a:r>
              <a:rPr sz="1200" b="1" i="0">
                <a:solidFill>
                  <a:srgbClr val="F5B83D"/>
                </a:solidFill>
                <a:hlinkClick r:id="rId3"/>
              </a:rPr>
              <a:t>State_Explorer.html</a:t>
            </a:r>
          </a:p>
        </p:txBody>
      </p:sp>
      <p:sp>
        <p:nvSpPr>
          <p:cNvPr id="7" name="TextBox 6"/>
          <p:cNvSpPr txBox="1"/>
          <p:nvPr/>
        </p:nvSpPr>
        <p:spPr>
          <a:xfrm>
            <a:off x="685800" y="3337560"/>
            <a:ext cx="2286000" cy="457200"/>
          </a:xfrm>
          <a:prstGeom prst="rect">
            <a:avLst/>
          </a:prstGeom>
          <a:noFill/>
        </p:spPr>
        <p:txBody>
          <a:bodyPr wrap="square" lIns="0" tIns="0" rIns="0" bIns="0" anchor="t">
            <a:spAutoFit/>
          </a:bodyPr>
          <a:lstStyle/>
          <a:p>
            <a:pPr algn="l"/>
            <a:r>
              <a:rPr sz="1050" b="0" i="0">
                <a:solidFill>
                  <a:srgbClr val="9DB5AE"/>
                </a:solidFill>
              </a:rPr>
              <a:t>Animated map + clickable state profiles</a:t>
            </a:r>
          </a:p>
        </p:txBody>
      </p:sp>
      <p:sp>
        <p:nvSpPr>
          <p:cNvPr id="8" name="link card">
            <a:hlinkClick r:id="rId4"/>
          </p:cNvPr>
          <p:cNvSpPr/>
          <p:nvPr/>
        </p:nvSpPr>
        <p:spPr>
          <a:xfrm>
            <a:off x="3246120" y="2834640"/>
            <a:ext cx="2560320" cy="1051560"/>
          </a:xfrm>
          <a:prstGeom prst="roundRect">
            <a:avLst>
              <a:gd name="adj" fmla="val 5217"/>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83280" y="2971800"/>
            <a:ext cx="2286000" cy="274320"/>
          </a:xfrm>
          <a:prstGeom prst="rect">
            <a:avLst/>
          </a:prstGeom>
          <a:noFill/>
        </p:spPr>
        <p:txBody>
          <a:bodyPr wrap="square" lIns="0" tIns="0" rIns="0" bIns="0" anchor="t">
            <a:spAutoFit/>
          </a:bodyPr>
          <a:lstStyle/>
          <a:p>
            <a:pPr algn="l"/>
            <a:r>
              <a:rPr sz="1200" b="1" i="0">
                <a:solidFill>
                  <a:srgbClr val="F5B83D"/>
                </a:solidFill>
                <a:hlinkClick r:id="rId4"/>
              </a:rPr>
              <a:t>animations/index.html</a:t>
            </a:r>
          </a:p>
        </p:txBody>
      </p:sp>
      <p:sp>
        <p:nvSpPr>
          <p:cNvPr id="10" name="TextBox 9"/>
          <p:cNvSpPr txBox="1"/>
          <p:nvPr/>
        </p:nvSpPr>
        <p:spPr>
          <a:xfrm>
            <a:off x="3383280" y="3337560"/>
            <a:ext cx="2286000" cy="457200"/>
          </a:xfrm>
          <a:prstGeom prst="rect">
            <a:avLst/>
          </a:prstGeom>
          <a:noFill/>
        </p:spPr>
        <p:txBody>
          <a:bodyPr wrap="square" lIns="0" tIns="0" rIns="0" bIns="0" anchor="t">
            <a:spAutoFit/>
          </a:bodyPr>
          <a:lstStyle/>
          <a:p>
            <a:pPr algn="l"/>
            <a:r>
              <a:rPr sz="1050" b="0" i="0">
                <a:solidFill>
                  <a:srgbClr val="9DB5AE"/>
                </a:solidFill>
              </a:rPr>
              <a:t>All six Plotly animations in one place</a:t>
            </a:r>
          </a:p>
        </p:txBody>
      </p:sp>
      <p:sp>
        <p:nvSpPr>
          <p:cNvPr id="11" name="link card">
            <a:hlinkClick r:id="rId5"/>
          </p:cNvPr>
          <p:cNvSpPr/>
          <p:nvPr/>
        </p:nvSpPr>
        <p:spPr>
          <a:xfrm>
            <a:off x="5943600" y="2834640"/>
            <a:ext cx="2560320" cy="1051560"/>
          </a:xfrm>
          <a:prstGeom prst="roundRect">
            <a:avLst>
              <a:gd name="adj" fmla="val 5217"/>
            </a:avLst>
          </a:prstGeom>
          <a:solidFill>
            <a:srgbClr val="172B27"/>
          </a:solidFill>
          <a:ln w="9525">
            <a:solidFill>
              <a:srgbClr val="2A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80760" y="2971800"/>
            <a:ext cx="2286000" cy="274320"/>
          </a:xfrm>
          <a:prstGeom prst="rect">
            <a:avLst/>
          </a:prstGeom>
          <a:noFill/>
        </p:spPr>
        <p:txBody>
          <a:bodyPr wrap="square" lIns="0" tIns="0" rIns="0" bIns="0" anchor="t">
            <a:spAutoFit/>
          </a:bodyPr>
          <a:lstStyle/>
          <a:p>
            <a:pPr algn="l"/>
            <a:r>
              <a:rPr sz="1200" b="1" i="0">
                <a:solidFill>
                  <a:srgbClr val="F5B83D"/>
                </a:solidFill>
                <a:hlinkClick r:id="rId5"/>
              </a:rPr>
              <a:t>Results_Tables.xlsx</a:t>
            </a:r>
          </a:p>
        </p:txBody>
      </p:sp>
      <p:sp>
        <p:nvSpPr>
          <p:cNvPr id="13" name="TextBox 12"/>
          <p:cNvSpPr txBox="1"/>
          <p:nvPr/>
        </p:nvSpPr>
        <p:spPr>
          <a:xfrm>
            <a:off x="6080760" y="3337560"/>
            <a:ext cx="2286000" cy="457200"/>
          </a:xfrm>
          <a:prstGeom prst="rect">
            <a:avLst/>
          </a:prstGeom>
          <a:noFill/>
        </p:spPr>
        <p:txBody>
          <a:bodyPr wrap="square" lIns="0" tIns="0" rIns="0" bIns="0" anchor="t">
            <a:spAutoFit/>
          </a:bodyPr>
          <a:lstStyle/>
          <a:p>
            <a:pPr algn="l"/>
            <a:r>
              <a:rPr sz="1050" b="0" i="0">
                <a:solidFill>
                  <a:srgbClr val="9DB5AE"/>
                </a:solidFill>
              </a:rPr>
              <a:t>All 5 specs, diagnostics and robustness runs</a:t>
            </a:r>
          </a:p>
        </p:txBody>
      </p:sp>
      <p:sp>
        <p:nvSpPr>
          <p:cNvPr id="14" name="TextBox 13"/>
          <p:cNvSpPr txBox="1"/>
          <p:nvPr/>
        </p:nvSpPr>
        <p:spPr>
          <a:xfrm>
            <a:off x="548640" y="4297680"/>
            <a:ext cx="5486400" cy="274320"/>
          </a:xfrm>
          <a:prstGeom prst="rect">
            <a:avLst/>
          </a:prstGeom>
          <a:noFill/>
        </p:spPr>
        <p:txBody>
          <a:bodyPr wrap="square" lIns="0" tIns="0" rIns="0" bIns="0" anchor="t">
            <a:spAutoFit/>
          </a:bodyPr>
          <a:lstStyle/>
          <a:p>
            <a:pPr algn="l"/>
            <a:r>
              <a:rPr sz="1300" b="1" i="0">
                <a:solidFill>
                  <a:srgbClr val="F4F1EA"/>
                </a:solidFill>
              </a:rPr>
              <a:t>Thank you  ·  Questions welcome</a:t>
            </a:r>
          </a:p>
        </p:txBody>
      </p:sp>
    </p:spTree>
  </p:cSld>
  <p:clrMapOvr>
    <a:masterClrMapping/>
  </p:clrMapOvr>
</p:sld>
</file>

<file path=ppt/theme/theme1.xml><?xml version="1.0" encoding="utf-8"?>
<a:theme xmlns:a="http://schemas.openxmlformats.org/drawingml/2006/main" name="Fiscal Ink">
  <a:themeElements>
    <a:clrScheme name="Fiscal Ink">
      <a:dk1>
        <a:srgbClr val="F4F1EA"/>
      </a:dk1>
      <a:lt1>
        <a:srgbClr val="0F1C1A"/>
      </a:lt1>
      <a:dk2>
        <a:srgbClr val="9DB5AE"/>
      </a:dk2>
      <a:lt2>
        <a:srgbClr val="172B27"/>
      </a:lt2>
      <a:accent1>
        <a:srgbClr val="2DD4A7"/>
      </a:accent1>
      <a:accent2>
        <a:srgbClr val="F5B83D"/>
      </a:accent2>
      <a:accent3>
        <a:srgbClr val="F2665B"/>
      </a:accent3>
      <a:accent4>
        <a:srgbClr val="7C8FFF"/>
      </a:accent4>
      <a:accent5>
        <a:srgbClr val="3A5A52"/>
      </a:accent5>
      <a:accent6>
        <a:srgbClr val="C9D6D1"/>
      </a:accent6>
      <a:hlink>
        <a:srgbClr val="2DD4A7"/>
      </a:hlink>
      <a:folHlink>
        <a:srgbClr val="9DB5AE"/>
      </a:folHlink>
    </a:clrScheme>
    <a:fontScheme name="Fiscal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TotalTime>
  <Words>4384</Words>
  <Application>Microsoft Office PowerPoint</Application>
  <PresentationFormat>On-screen Show (16:9)</PresentationFormat>
  <Paragraphs>575</Paragraphs>
  <Slides>40</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Cambria</vt:lpstr>
      <vt:lpstr>Fiscal Ink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Indian States: Fiscal Development Dashboard</dc:title>
  <dc:subject>PptxGenJS Presentation</dc:subject>
  <dc:creator>Nandini Sharma</dc:creator>
  <cp:lastModifiedBy>Akriti Kachroo</cp:lastModifiedBy>
  <cp:revision>3</cp:revision>
  <dcterms:created xsi:type="dcterms:W3CDTF">2026-10-26T19:19:32Z</dcterms:created>
  <dcterms:modified xsi:type="dcterms:W3CDTF">2026-10-27T05:08:52Z</dcterms:modified>
</cp:coreProperties>
</file>